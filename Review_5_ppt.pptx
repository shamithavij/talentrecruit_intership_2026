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9" r:id="rId2"/>
    <p:sldId id="270" r:id="rId3"/>
    <p:sldId id="281" r:id="rId4"/>
    <p:sldId id="282" r:id="rId5"/>
    <p:sldId id="262" r:id="rId6"/>
    <p:sldId id="263" r:id="rId7"/>
    <p:sldId id="264" r:id="rId8"/>
    <p:sldId id="265" r:id="rId9"/>
    <p:sldId id="271" r:id="rId10"/>
    <p:sldId id="272" r:id="rId11"/>
    <p:sldId id="273" r:id="rId12"/>
    <p:sldId id="274" r:id="rId13"/>
    <p:sldId id="283" r:id="rId14"/>
    <p:sldId id="275" r:id="rId15"/>
    <p:sldId id="276" r:id="rId16"/>
    <p:sldId id="284" r:id="rId17"/>
    <p:sldId id="277" r:id="rId18"/>
    <p:sldId id="278" r:id="rId19"/>
    <p:sldId id="279" r:id="rId20"/>
    <p:sldId id="280" r:id="rId21"/>
    <p:sldId id="267" r:id="rId22"/>
    <p:sldId id="268" r:id="rId2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257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-125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22/04/2026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22-04-2026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alentrecruit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mithavij/Talentrecruit_Intership_2026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Taranath</a:t>
            </a:r>
            <a:r>
              <a:rPr lang="en-US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N L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</a:t>
            </a:r>
            <a:r>
              <a:rPr lang="en-US" sz="20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Asif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Md Ziaur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 - 5 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Presentation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6FC0"/>
                </a:solidFill>
                <a:latin typeface="Times New Roman"/>
                <a:cs typeface="Times New Roman"/>
              </a:rPr>
              <a:t> CLIENT</a:t>
            </a:r>
            <a:r>
              <a:rPr lang="en-US" sz="2400" spc="-140" dirty="0" smtClean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 smtClean="0">
                <a:solidFill>
                  <a:srgbClr val="006FC0"/>
                </a:solidFill>
                <a:latin typeface="Times New Roman"/>
                <a:cs typeface="Times New Roman"/>
              </a:rPr>
              <a:t>SUCCESS</a:t>
            </a:r>
            <a:r>
              <a:rPr lang="en-US" sz="2400" spc="-30" dirty="0" smtClean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 smtClean="0">
                <a:solidFill>
                  <a:srgbClr val="006FC0"/>
                </a:solidFill>
                <a:latin typeface="Times New Roman"/>
                <a:cs typeface="Times New Roman"/>
              </a:rPr>
              <a:t>INTERN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/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=""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=""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SHAMITHA</a:t>
                      </a:r>
                      <a:r>
                        <a:rPr lang="en-US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VIJAYAKUMAR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20221CSE0280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8CSE08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066724582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6294043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7575" y="406780"/>
            <a:ext cx="579437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About</a:t>
            </a:r>
            <a:r>
              <a:rPr sz="3200" b="1" spc="-8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Company</a:t>
            </a:r>
            <a:r>
              <a:rPr sz="3200" b="1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6FC0"/>
                </a:solidFill>
                <a:latin typeface="Times New Roman"/>
                <a:cs typeface="Times New Roman"/>
              </a:rPr>
              <a:t>or</a:t>
            </a:r>
            <a:r>
              <a:rPr sz="3200" b="1" spc="-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Organization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066800"/>
            <a:ext cx="10333990" cy="410747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935" indent="-229235">
              <a:lnSpc>
                <a:spcPts val="2230"/>
              </a:lnSpc>
              <a:spcBef>
                <a:spcPts val="125"/>
              </a:spcBef>
              <a:buFont typeface="Arial MT"/>
              <a:buChar char="•"/>
              <a:tabLst>
                <a:tab pos="241935" algn="l"/>
              </a:tabLst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Talent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</a:t>
            </a:r>
            <a:r>
              <a:rPr sz="2000" spc="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</a:t>
            </a:r>
            <a:r>
              <a:rPr sz="2000" spc="4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advanced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sz="2000" spc="8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4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Onboarding</a:t>
            </a:r>
            <a:r>
              <a:rPr sz="2000" spc="1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platform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designed</a:t>
            </a:r>
            <a:r>
              <a:rPr sz="2000" spc="4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114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simplify,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ts val="1880"/>
              </a:lnSpc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automate,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enhance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entire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hiring</a:t>
            </a:r>
            <a:r>
              <a:rPr sz="2000" spc="114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lifecycle.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It</a:t>
            </a:r>
            <a:r>
              <a:rPr sz="2000" spc="3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leverages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cutting-edge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technologies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 marR="123189">
              <a:lnSpc>
                <a:spcPct val="69800"/>
              </a:lnSpc>
              <a:spcBef>
                <a:spcPts val="430"/>
              </a:spcBef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such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Machine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Learning</a:t>
            </a:r>
            <a:r>
              <a:rPr sz="2000" spc="2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Artificial</a:t>
            </a:r>
            <a:r>
              <a:rPr sz="2000" spc="2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Intelligence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help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organizations</a:t>
            </a:r>
            <a:r>
              <a:rPr sz="2000" spc="12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attract,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screen,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evaluate,</a:t>
            </a:r>
            <a:r>
              <a:rPr sz="2000" spc="2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3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hire</a:t>
            </a:r>
            <a:r>
              <a:rPr sz="2000" spc="9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1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right</a:t>
            </a:r>
            <a:r>
              <a:rPr sz="2000" spc="-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talent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efficiently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3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accurately.</a:t>
            </a:r>
            <a:endParaRPr lang="en-US" sz="2000" spc="-10" dirty="0" smtClean="0">
              <a:latin typeface="Times New Roman" pitchFamily="18" charset="0"/>
              <a:cs typeface="Times New Roman" pitchFamily="18" charset="0"/>
            </a:endParaRPr>
          </a:p>
          <a:p>
            <a:pPr marL="241300" marR="123189">
              <a:lnSpc>
                <a:spcPct val="69800"/>
              </a:lnSpc>
              <a:spcBef>
                <a:spcPts val="430"/>
              </a:spcBef>
            </a:pP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935" indent="-229235">
              <a:lnSpc>
                <a:spcPts val="2230"/>
              </a:lnSpc>
              <a:spcBef>
                <a:spcPts val="275"/>
              </a:spcBef>
              <a:buFont typeface="Arial MT"/>
              <a:buChar char="•"/>
              <a:tabLst>
                <a:tab pos="241935" algn="l"/>
              </a:tabLst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One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1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its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key</a:t>
            </a:r>
            <a:r>
              <a:rPr sz="2000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highlights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spc="12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mtClean="0">
                <a:latin typeface="Times New Roman" pitchFamily="18" charset="0"/>
                <a:cs typeface="Times New Roman" pitchFamily="18" charset="0"/>
              </a:rPr>
              <a:t>ERIKA</a:t>
            </a:r>
            <a:r>
              <a:rPr sz="2000" b="1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sz="2000" b="1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b="1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mtClean="0">
                <a:latin typeface="Times New Roman" pitchFamily="18" charset="0"/>
                <a:cs typeface="Times New Roman" pitchFamily="18" charset="0"/>
              </a:rPr>
              <a:t>24×7</a:t>
            </a:r>
            <a:r>
              <a:rPr sz="2000" b="1" spc="114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mtClean="0">
                <a:latin typeface="Times New Roman" pitchFamily="18" charset="0"/>
                <a:cs typeface="Times New Roman" pitchFamily="18" charset="0"/>
              </a:rPr>
              <a:t>Robotic</a:t>
            </a:r>
            <a:r>
              <a:rPr sz="2000" b="1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mtClean="0">
                <a:latin typeface="Times New Roman" pitchFamily="18" charset="0"/>
                <a:cs typeface="Times New Roman" pitchFamily="18" charset="0"/>
              </a:rPr>
              <a:t>Recruiter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which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automates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ts val="1880"/>
              </a:lnSpc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sz="2000" spc="9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engagement,</a:t>
            </a:r>
            <a:r>
              <a:rPr sz="2000" spc="11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interview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scheduling,</a:t>
            </a:r>
            <a:r>
              <a:rPr sz="2000" spc="11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follow-ups,</a:t>
            </a:r>
            <a:r>
              <a:rPr sz="2000" spc="11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11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communication,</a:t>
            </a:r>
            <a:r>
              <a:rPr sz="2000" spc="12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ensuring</a:t>
            </a:r>
            <a:r>
              <a:rPr sz="2000" spc="1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0" smtClean="0">
                <a:latin typeface="Times New Roman" pitchFamily="18" charset="0"/>
                <a:cs typeface="Times New Roman" pitchFamily="18" charset="0"/>
              </a:rPr>
              <a:t>a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ts val="1839"/>
              </a:lnSpc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seamless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responsive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sz="2000" spc="3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experience</a:t>
            </a:r>
            <a:r>
              <a:rPr sz="2000" spc="5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000" spc="8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both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recruiters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candidates.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 marR="870585">
              <a:lnSpc>
                <a:spcPct val="72800"/>
              </a:lnSpc>
              <a:spcBef>
                <a:spcPts val="310"/>
              </a:spcBef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ERIKA</a:t>
            </a:r>
            <a:r>
              <a:rPr sz="2000" spc="9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reduces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manual</a:t>
            </a:r>
            <a:r>
              <a:rPr sz="2000" spc="3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effort,</a:t>
            </a:r>
            <a:r>
              <a:rPr sz="2000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improves</a:t>
            </a:r>
            <a:r>
              <a:rPr sz="2000" spc="1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turnaround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time,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enhances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candidate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satisfaction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through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continuous</a:t>
            </a:r>
            <a:r>
              <a:rPr sz="2000" spc="4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availability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intelligent</a:t>
            </a:r>
            <a:r>
              <a:rPr sz="2000" spc="8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interaction.</a:t>
            </a:r>
            <a:endParaRPr lang="en-US" sz="2000" spc="-10" dirty="0" smtClean="0">
              <a:latin typeface="Times New Roman" pitchFamily="18" charset="0"/>
              <a:cs typeface="Times New Roman" pitchFamily="18" charset="0"/>
            </a:endParaRPr>
          </a:p>
          <a:p>
            <a:pPr marL="241300" marR="870585">
              <a:lnSpc>
                <a:spcPct val="72800"/>
              </a:lnSpc>
              <a:spcBef>
                <a:spcPts val="310"/>
              </a:spcBef>
            </a:pP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935" indent="-229235">
              <a:lnSpc>
                <a:spcPts val="2230"/>
              </a:lnSpc>
              <a:spcBef>
                <a:spcPts val="275"/>
              </a:spcBef>
              <a:buFont typeface="Arial MT"/>
              <a:buChar char="•"/>
              <a:tabLst>
                <a:tab pos="241935" algn="l"/>
              </a:tabLst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Talent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</a:t>
            </a:r>
            <a:r>
              <a:rPr sz="2000" spc="-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enables</a:t>
            </a:r>
            <a:r>
              <a:rPr sz="2000" spc="3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recruiters</a:t>
            </a:r>
            <a:r>
              <a:rPr sz="2000" spc="2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10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manage</a:t>
            </a:r>
            <a:r>
              <a:rPr sz="2000" spc="2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sz="2000" spc="3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postings,</a:t>
            </a:r>
            <a:r>
              <a:rPr sz="2000" spc="3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track</a:t>
            </a:r>
            <a:r>
              <a:rPr sz="2000" spc="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applications,</a:t>
            </a:r>
            <a:r>
              <a:rPr sz="2000" spc="3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shortlist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ts val="1839"/>
              </a:lnSpc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candidates,</a:t>
            </a:r>
            <a:r>
              <a:rPr sz="2000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conduct</a:t>
            </a:r>
            <a:r>
              <a:rPr sz="2000" spc="12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assessments,</a:t>
            </a:r>
            <a:r>
              <a:rPr sz="2000" spc="8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schedule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interviews,</a:t>
            </a:r>
            <a:r>
              <a:rPr sz="2000" spc="9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8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complete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onboarding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ts val="1839"/>
              </a:lnSpc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processes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within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9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single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integrated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platform.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Its</a:t>
            </a:r>
            <a:r>
              <a:rPr sz="2000" spc="1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AI-driven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analytics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smart</a:t>
            </a:r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marL="241300" marR="215900">
              <a:lnSpc>
                <a:spcPct val="69800"/>
              </a:lnSpc>
              <a:spcBef>
                <a:spcPts val="425"/>
              </a:spcBef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recommendations</a:t>
            </a:r>
            <a:r>
              <a:rPr sz="2000" spc="13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help</a:t>
            </a:r>
            <a:r>
              <a:rPr sz="2000" spc="6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recruiters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make</a:t>
            </a:r>
            <a:r>
              <a:rPr sz="2000" spc="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data-driven</a:t>
            </a:r>
            <a:r>
              <a:rPr sz="2000" spc="7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hiring</a:t>
            </a:r>
            <a:r>
              <a:rPr sz="2000" spc="3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decisions,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minimize</a:t>
            </a:r>
            <a:r>
              <a:rPr sz="2000" spc="14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bias,</a:t>
            </a:r>
            <a:r>
              <a:rPr sz="2000" spc="7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25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improve</a:t>
            </a:r>
            <a:r>
              <a:rPr sz="2000" spc="8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overall</a:t>
            </a:r>
            <a:r>
              <a:rPr sz="2000" spc="-1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hiring</a:t>
            </a:r>
            <a:r>
              <a:rPr sz="2000" spc="6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smtClean="0">
                <a:latin typeface="Times New Roman" pitchFamily="18" charset="0"/>
                <a:cs typeface="Times New Roman" pitchFamily="18" charset="0"/>
              </a:rPr>
              <a:t>quality.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9175" y="643445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8660" y="0"/>
            <a:ext cx="10515600" cy="1026627"/>
          </a:xfrm>
          <a:prstGeom prst="rect">
            <a:avLst/>
          </a:prstGeom>
        </p:spPr>
        <p:txBody>
          <a:bodyPr vert="horz" wrap="square" lIns="0" tIns="529018" rIns="0" bIns="0" rtlCol="0">
            <a:spAutoFit/>
          </a:bodyPr>
          <a:lstStyle/>
          <a:p>
            <a:pPr marL="380365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006FC0"/>
                </a:solidFill>
                <a:latin typeface="Times New Roman" pitchFamily="18" charset="0"/>
                <a:cs typeface="Times New Roman" pitchFamily="18" charset="0"/>
              </a:rPr>
              <a:t>Our</a:t>
            </a:r>
            <a:r>
              <a:rPr sz="3200" b="1" spc="-210" dirty="0">
                <a:solidFill>
                  <a:srgbClr val="006F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b="1" spc="-25" dirty="0">
                <a:solidFill>
                  <a:srgbClr val="006FC0"/>
                </a:solidFill>
                <a:latin typeface="Times New Roman" pitchFamily="18" charset="0"/>
                <a:cs typeface="Times New Roman" pitchFamily="18" charset="0"/>
              </a:rPr>
              <a:t>Clients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5" y="6434454"/>
            <a:ext cx="744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27-02-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79175" y="643445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2545" y="1236345"/>
            <a:ext cx="8562975" cy="4352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100965" indent="-96520">
              <a:lnSpc>
                <a:spcPct val="100000"/>
              </a:lnSpc>
              <a:spcBef>
                <a:spcPts val="125"/>
              </a:spcBef>
              <a:buSzPct val="95000"/>
              <a:tabLst>
                <a:tab pos="1009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Artificial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Intelligence</a:t>
            </a:r>
            <a:r>
              <a:rPr lang="en-US"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(AI)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intelligent</a:t>
            </a:r>
            <a:r>
              <a:rPr lang="en-US" sz="2000" spc="-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z="2000" spc="-8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automation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Machine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Learning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(ML)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resume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screening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-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-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ranking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7155">
              <a:lnSpc>
                <a:spcPct val="100000"/>
              </a:lnSpc>
              <a:buSzPct val="95000"/>
              <a:tabLst>
                <a:tab pos="1009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Natural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Processing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(NLP)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interaction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Applicant</a:t>
            </a:r>
            <a:r>
              <a:rPr lang="en-US" sz="2000" spc="-9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Tracking</a:t>
            </a:r>
            <a:r>
              <a:rPr lang="en-US" sz="2000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(ATS)</a:t>
            </a:r>
            <a:r>
              <a:rPr lang="en-US" sz="2000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architecture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(Software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en-US" sz="20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Service)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cloud-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based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platform</a:t>
            </a:r>
            <a:r>
              <a:rPr lang="en-US" sz="20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model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7155">
              <a:lnSpc>
                <a:spcPct val="100000"/>
              </a:lnSpc>
              <a:buSzPct val="95000"/>
              <a:tabLst>
                <a:tab pos="1009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Database</a:t>
            </a:r>
            <a:r>
              <a:rPr lang="en-US" sz="2000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Management</a:t>
            </a:r>
            <a:r>
              <a:rPr lang="en-US" sz="2000" spc="-8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Systems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storage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REST</a:t>
            </a:r>
            <a:r>
              <a:rPr lang="en-US" sz="2000" spc="-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APIs</a:t>
            </a:r>
            <a:r>
              <a:rPr lang="en-US" sz="2000" spc="-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integration</a:t>
            </a:r>
            <a:r>
              <a:rPr lang="en-US" sz="2000" spc="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portals and</a:t>
            </a:r>
            <a:r>
              <a:rPr lang="en-US" sz="2000" spc="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tools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spc="-11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Technology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(ERIKA</a:t>
            </a:r>
            <a:r>
              <a:rPr lang="en-US" sz="2000" spc="-1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Robotic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Recruiter)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7155">
              <a:lnSpc>
                <a:spcPct val="100000"/>
              </a:lnSpc>
              <a:buSzPct val="95000"/>
              <a:tabLst>
                <a:tab pos="1009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z="2000" spc="-1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Analytics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Reporting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Dashboards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Workflow</a:t>
            </a:r>
            <a:r>
              <a:rPr lang="en-US" sz="2000" spc="-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Automation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Systems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65868212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Team</a:t>
            </a:r>
            <a:r>
              <a:rPr lang="en-US" sz="2000" b="1" spc="1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Structure,</a:t>
            </a:r>
            <a:r>
              <a:rPr lang="en-US" sz="2000" b="1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Project,</a:t>
            </a:r>
            <a:r>
              <a:rPr lang="en-US" sz="2000" b="1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Reporting</a:t>
            </a:r>
            <a:r>
              <a:rPr lang="en-US" sz="2000" b="1" spc="11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sz="2000" b="1" spc="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Technology</a:t>
            </a:r>
            <a:r>
              <a:rPr lang="en-US" sz="2000" b="1" spc="1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spc="-10" dirty="0" smtClean="0">
                <a:latin typeface="Times New Roman" pitchFamily="18" charset="0"/>
                <a:cs typeface="Times New Roman" pitchFamily="18" charset="0"/>
              </a:rPr>
              <a:t>Understanding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20"/>
              </a:spcBef>
              <a:buSzPct val="93548"/>
              <a:tabLst>
                <a:tab pos="8382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Our</a:t>
            </a:r>
            <a:r>
              <a:rPr lang="en-US" sz="2000" spc="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team</a:t>
            </a:r>
            <a:r>
              <a:rPr lang="en-US" sz="2000" spc="1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consists</a:t>
            </a:r>
            <a:r>
              <a:rPr lang="en-US" sz="2000" spc="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z="2000" spc="11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sz="2000" spc="1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members,</a:t>
            </a:r>
            <a:r>
              <a:rPr lang="en-US" sz="2000" spc="11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guided</a:t>
            </a:r>
            <a:r>
              <a:rPr lang="en-US" sz="2000" spc="1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sz="2000" spc="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our</a:t>
            </a:r>
            <a:r>
              <a:rPr lang="en-US" sz="2000" spc="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Reporting</a:t>
            </a:r>
            <a:r>
              <a:rPr lang="en-US" sz="2000" spc="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Manager,</a:t>
            </a:r>
            <a:r>
              <a:rPr lang="en-US" sz="2000" spc="9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Mr.</a:t>
            </a:r>
            <a:r>
              <a:rPr lang="en-US" sz="2000" b="1" spc="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Ashish</a:t>
            </a:r>
            <a:r>
              <a:rPr lang="en-US" sz="2000" b="1" spc="1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spc="-10" dirty="0" err="1" smtClean="0">
                <a:latin typeface="Times New Roman" pitchFamily="18" charset="0"/>
                <a:cs typeface="Times New Roman" pitchFamily="18" charset="0"/>
              </a:rPr>
              <a:t>Meridatta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SzPct val="93548"/>
              <a:tabLst>
                <a:tab pos="8382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Currently,</a:t>
            </a:r>
            <a:r>
              <a:rPr lang="en-US" sz="2000" spc="9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</a:t>
            </a:r>
            <a:r>
              <a:rPr lang="en-US" sz="2000" spc="1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000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training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phase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company’s</a:t>
            </a:r>
            <a:r>
              <a:rPr lang="en-US" sz="2000" spc="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ATS</a:t>
            </a:r>
            <a:r>
              <a:rPr lang="en-US" sz="2000" b="1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(Applicant</a:t>
            </a:r>
            <a:r>
              <a:rPr lang="en-US" sz="2000" b="1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Tracking</a:t>
            </a:r>
            <a:r>
              <a:rPr lang="en-US" sz="2000" b="1" spc="9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System)</a:t>
            </a:r>
            <a:r>
              <a:rPr lang="en-US" sz="2000" b="1" spc="75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000" b="1" spc="-10" dirty="0" smtClean="0">
                <a:latin typeface="Times New Roman" pitchFamily="18" charset="0"/>
                <a:cs typeface="Times New Roman" pitchFamily="18" charset="0"/>
              </a:rPr>
              <a:t>product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0"/>
              </a:spcBef>
              <a:buSzPct val="93548"/>
              <a:tabLst>
                <a:tab pos="8382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</a:t>
            </a:r>
            <a:r>
              <a:rPr lang="en-US" sz="2000" spc="1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</a:t>
            </a:r>
            <a:r>
              <a:rPr lang="en-US" sz="2000" spc="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learning</a:t>
            </a:r>
            <a:r>
              <a:rPr lang="en-US" sz="2000" spc="1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each</a:t>
            </a:r>
            <a:r>
              <a:rPr lang="en-US" sz="2000" spc="1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technology</a:t>
            </a:r>
            <a:r>
              <a:rPr lang="en-US" sz="2000" spc="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supports</a:t>
            </a:r>
            <a:r>
              <a:rPr lang="en-US" sz="2000" spc="1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000" spc="1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process: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Technology</a:t>
            </a:r>
            <a:r>
              <a:rPr lang="en-US" sz="2000" b="1" spc="9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spc="-10" dirty="0" smtClean="0">
                <a:latin typeface="Times New Roman" pitchFamily="18" charset="0"/>
                <a:cs typeface="Times New Roman" pitchFamily="18" charset="0"/>
              </a:rPr>
              <a:t>Understanding: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0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AI</a:t>
            </a:r>
            <a:r>
              <a:rPr lang="en-US" sz="2000" b="1" spc="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sz="2000" b="1" spc="1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ML:</a:t>
            </a:r>
            <a:r>
              <a:rPr lang="en-US" sz="2000" b="1" spc="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Helps</a:t>
            </a:r>
            <a:r>
              <a:rPr lang="en-US" sz="2000" spc="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resume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screening</a:t>
            </a:r>
            <a:r>
              <a:rPr lang="en-US" sz="2000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1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ranking.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20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NLP:</a:t>
            </a:r>
            <a:r>
              <a:rPr lang="en-US" sz="2000" b="1" spc="8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Enables</a:t>
            </a:r>
            <a:r>
              <a:rPr lang="en-US" sz="2000" spc="1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spc="1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interaction.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0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ATS</a:t>
            </a:r>
            <a:r>
              <a:rPr lang="en-US" sz="2000" b="1" spc="9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Workflow:</a:t>
            </a:r>
            <a:r>
              <a:rPr lang="en-US" sz="2000" b="1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Helps</a:t>
            </a:r>
            <a:r>
              <a:rPr lang="en-US" sz="2000" spc="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track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candidates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across</a:t>
            </a:r>
            <a:r>
              <a:rPr lang="en-US" sz="2000" spc="1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hiring</a:t>
            </a:r>
            <a:r>
              <a:rPr lang="en-US" sz="2000" spc="1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stages.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Databases:</a:t>
            </a:r>
            <a:r>
              <a:rPr lang="en-US" sz="2000" b="1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Store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manage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1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data.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15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APIs:</a:t>
            </a:r>
            <a:r>
              <a:rPr lang="en-US" sz="2000" b="1" spc="1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Integrate</a:t>
            </a:r>
            <a:r>
              <a:rPr lang="en-US" sz="2000" spc="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z="2000" spc="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portals</a:t>
            </a:r>
            <a:r>
              <a:rPr lang="en-US" sz="2000" spc="1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en-US" sz="2000" spc="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tools.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SzPct val="93548"/>
              <a:buFont typeface="Arial MT"/>
              <a:buChar char="•"/>
              <a:tabLst>
                <a:tab pos="8382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Dashboards</a:t>
            </a:r>
            <a:r>
              <a:rPr lang="en-US" sz="2000" b="1" spc="1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sz="2000" b="1" spc="1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Analytics:</a:t>
            </a:r>
            <a:r>
              <a:rPr lang="en-US" sz="2000" b="1" spc="1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Provide</a:t>
            </a:r>
            <a:r>
              <a:rPr lang="en-US" sz="2000" spc="1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z="2000" spc="1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performance</a:t>
            </a:r>
            <a:r>
              <a:rPr lang="en-US" sz="2000" spc="1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insights.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15"/>
              </a:spcBef>
              <a:buSzPct val="93548"/>
              <a:buNone/>
              <a:tabLst>
                <a:tab pos="8382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en-US" sz="2000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training</a:t>
            </a:r>
            <a:r>
              <a:rPr lang="en-US" sz="2000" spc="1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helps</a:t>
            </a:r>
            <a:r>
              <a:rPr lang="en-US" sz="2000" spc="1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</a:t>
            </a:r>
            <a:r>
              <a:rPr lang="en-US" sz="2000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understand</a:t>
            </a:r>
            <a:r>
              <a:rPr lang="en-US" sz="2000" spc="1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</a:t>
            </a:r>
            <a:r>
              <a:rPr lang="en-US" sz="2000" spc="1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technology</a:t>
            </a:r>
            <a:r>
              <a:rPr lang="en-US" sz="2000" spc="1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solves</a:t>
            </a:r>
            <a:r>
              <a:rPr lang="en-US" sz="2000" spc="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real</a:t>
            </a:r>
            <a:r>
              <a:rPr lang="en-US" sz="2000" spc="1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z="2000" spc="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challenges.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83820" indent="-78105">
              <a:lnSpc>
                <a:spcPct val="100000"/>
              </a:lnSpc>
              <a:spcBef>
                <a:spcPts val="95"/>
              </a:spcBef>
              <a:buSzPct val="93548"/>
              <a:buNone/>
              <a:tabLst>
                <a:tab pos="8382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</a:t>
            </a:r>
            <a:r>
              <a:rPr lang="en-US" sz="2000" spc="110" dirty="0" smtClean="0">
                <a:latin typeface="Times New Roman" pitchFamily="18" charset="0"/>
                <a:cs typeface="Times New Roman" pitchFamily="18" charset="0"/>
              </a:rPr>
              <a:t> are now being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assigned</a:t>
            </a:r>
            <a:r>
              <a:rPr lang="en-US" sz="2000" spc="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000" spc="114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live</a:t>
            </a:r>
            <a:r>
              <a:rPr lang="en-US" sz="2000" spc="1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projects</a:t>
            </a:r>
            <a:r>
              <a:rPr lang="en-US" sz="2000" spc="1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practical</a:t>
            </a:r>
            <a:r>
              <a:rPr lang="en-US" sz="2000" spc="1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client</a:t>
            </a:r>
            <a:r>
              <a:rPr lang="en-US" sz="2000" spc="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exposure.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51069660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During the initial days of my internship at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TalentRecruit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Software Private Limited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adapting to a new work environment and getting comfortable with new teammates was slightly challenging. Understanding the various concepts, workflows, and features of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TalentRecruit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product also took some time, as it is a comprehensive recruitment platform.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Another initial challenge was managing daily travel through heavy traffic, which was tiring in the beginning. However, with time, support from the team, and regular exposure, I have adjusted well to both the work culture and the product.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Overall,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TalentRecruit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is a good organization with a strong and growing product. I am now comfortable with the environment and looking forward to learning more and gaining valuable experience in the coming days.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20615699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marL="100965" indent="-96520">
              <a:lnSpc>
                <a:spcPct val="100000"/>
              </a:lnSpc>
              <a:spcBef>
                <a:spcPts val="125"/>
              </a:spcBef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understand</a:t>
            </a:r>
            <a:r>
              <a:rPr lang="en-US" spc="-1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30" dirty="0" smtClean="0">
                <a:latin typeface="Times New Roman" pitchFamily="18" charset="0"/>
                <a:cs typeface="Times New Roman" pitchFamily="18" charset="0"/>
              </a:rPr>
              <a:t>ATS</a:t>
            </a:r>
            <a:r>
              <a:rPr lang="en-US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architecture</a:t>
            </a:r>
            <a:r>
              <a:rPr lang="en-US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workflows.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7155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support</a:t>
            </a:r>
            <a:r>
              <a:rPr lang="en-US" spc="-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AI-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based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resume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parsing</a:t>
            </a:r>
            <a:r>
              <a:rPr lang="en-US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shortlisting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processes.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assist</a:t>
            </a:r>
            <a:r>
              <a:rPr lang="en-US" spc="-2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database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validation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management.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ensure</a:t>
            </a: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accurate</a:t>
            </a: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workflow</a:t>
            </a:r>
            <a:r>
              <a:rPr lang="en-US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automation</a:t>
            </a:r>
            <a:r>
              <a:rPr lang="en-US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across</a:t>
            </a:r>
            <a:r>
              <a:rPr lang="en-US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hiring</a:t>
            </a:r>
            <a:r>
              <a:rPr lang="en-US" spc="-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stages.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7155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support</a:t>
            </a:r>
            <a:r>
              <a:rPr lang="en-US" spc="-1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API-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based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integrations</a:t>
            </a:r>
            <a:r>
              <a:rPr lang="en-US" spc="-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portals</a:t>
            </a:r>
            <a:r>
              <a:rPr lang="en-US" spc="-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en-US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tools.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analyze</a:t>
            </a:r>
            <a:r>
              <a:rPr lang="en-US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recruitment</a:t>
            </a:r>
            <a:r>
              <a:rPr lang="en-US" spc="-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dashboards</a:t>
            </a:r>
            <a:r>
              <a:rPr lang="en-US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reports.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6520">
              <a:lnSpc>
                <a:spcPct val="100000"/>
              </a:lnSpc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pc="1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help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identifying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resolving</a:t>
            </a:r>
            <a:r>
              <a:rPr lang="en-US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en-US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25" dirty="0" smtClean="0">
                <a:latin typeface="Times New Roman" pitchFamily="18" charset="0"/>
                <a:cs typeface="Times New Roman" pitchFamily="18" charset="0"/>
              </a:rPr>
              <a:t>system-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level</a:t>
            </a:r>
            <a:r>
              <a:rPr lang="en-US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issues.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00965" indent="-97155">
              <a:lnSpc>
                <a:spcPct val="100000"/>
              </a:lnSpc>
              <a:spcBef>
                <a:spcPts val="5"/>
              </a:spcBef>
              <a:buSzPct val="95000"/>
              <a:tabLst>
                <a:tab pos="100965" algn="l"/>
              </a:tabLst>
            </a:pP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improve</a:t>
            </a: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overall</a:t>
            </a:r>
            <a:r>
              <a:rPr lang="en-US" spc="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spc="-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efficiency</a:t>
            </a:r>
            <a:r>
              <a:rPr lang="en-US" spc="-9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pc="-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pc="-10" dirty="0" smtClean="0">
                <a:latin typeface="Times New Roman" pitchFamily="18" charset="0"/>
                <a:cs typeface="Times New Roman" pitchFamily="18" charset="0"/>
              </a:rPr>
              <a:t>consistency.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51633474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Study of Applicant Tracking Systems (ATS) in modern recruitment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 of AI &amp; ML for resume screening and candidate ranking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NLP-based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automated candidate interaction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-based recruitment platforms for scalability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Workflow automation in hiring lifecycle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REST API integrations with external job portals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 analytics for data-driven hiring decisions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Limitations of traditional hiring systems (manual &amp; time-consuming)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97292774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Development and use of an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AI-powered Applicant Tracking System (ATS)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Centralized platform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managing end-to-end recruitment lifecycle </a:t>
            </a: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Automated resume screening and candidate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shortlisting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using AI/ML </a:t>
            </a: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-based candidate engagement (ERIKA)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continuous communication </a:t>
            </a: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Workflow automation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job creation, interviews,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onboarding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Integration with job portals and external tools via APIs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Real-time dashboards and analytics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data-driven hiring decisions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55247703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7823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Recruitment processes are often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manual, fragmented, and time-consuming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Candidate data is scattered, leading to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poor tracking and data inconsistency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Handling large volumes of applications results in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slow and inefficient screening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Lack of automation causes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delays in communication and interview scheduling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Limited integration with external platforms reduces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overall system efficiency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Organizations lack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real-time insights and analytics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effective decision-making.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Therefore, there is a need for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centralized and automated recruitment system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improve efficiency, accuracy, and candidate experience.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4505980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Web-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based</a:t>
            </a:r>
            <a:r>
              <a:rPr lang="en-US" sz="2000" spc="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ATS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platform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97230" lvl="1" indent="-227329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723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infrastructure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7865" algn="l"/>
              </a:tabLst>
            </a:pP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Database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candidate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data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API</a:t>
            </a:r>
            <a:r>
              <a:rPr lang="en-US" sz="2000" spc="-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integrations</a:t>
            </a:r>
            <a:r>
              <a:rPr lang="en-US" sz="2000" spc="-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with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job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portals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communication</a:t>
            </a:r>
            <a:r>
              <a:rPr lang="en-US" sz="20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tools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Power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BI</a:t>
            </a:r>
            <a:r>
              <a:rPr lang="en-US" sz="2000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Tableau</a:t>
            </a:r>
            <a:r>
              <a:rPr lang="en-US" sz="2000" spc="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API</a:t>
            </a:r>
            <a:r>
              <a:rPr lang="en-US" sz="2000" spc="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connectivity\</a:t>
            </a:r>
          </a:p>
          <a:p>
            <a:pPr marL="697865" lvl="1" indent="-227965">
              <a:lnSpc>
                <a:spcPts val="2755"/>
              </a:lnSpc>
              <a:spcBef>
                <a:spcPts val="280"/>
              </a:spcBef>
              <a:buFont typeface="Arial MT"/>
              <a:buChar char="•"/>
              <a:tabLst>
                <a:tab pos="6978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</a:t>
            </a:r>
            <a:r>
              <a:rPr lang="en-US" sz="2000" spc="-4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en-US" sz="2000" spc="-6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Advanced</a:t>
            </a:r>
            <a:r>
              <a:rPr lang="en-US" sz="2000" spc="-4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Analytics</a:t>
            </a:r>
            <a:r>
              <a:rPr lang="en-US" sz="2000" spc="-9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via</a:t>
            </a:r>
            <a:r>
              <a:rPr lang="en-US" sz="2000" spc="-1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REST</a:t>
            </a:r>
            <a:r>
              <a:rPr lang="en-US" sz="2000" spc="-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APIs</a:t>
            </a:r>
            <a:r>
              <a:rPr lang="en-US" sz="2000" spc="-3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enabling</a:t>
            </a:r>
            <a:r>
              <a:rPr lang="en-US" sz="2000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real</a:t>
            </a:r>
            <a:r>
              <a:rPr lang="en-US" sz="2000" spc="-8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data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synchronization.</a:t>
            </a:r>
          </a:p>
          <a:p>
            <a:pPr marL="2413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Security</a:t>
            </a:r>
            <a:r>
              <a:rPr lang="en-US" sz="2000" spc="13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aspects: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97230" lvl="1" indent="-227329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7230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Role</a:t>
            </a:r>
            <a:r>
              <a:rPr lang="en-US" sz="2000" spc="-7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based</a:t>
            </a:r>
            <a:r>
              <a:rPr lang="en-US" sz="2000" spc="-7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2000" spc="-10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(RBAC)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97865" lvl="1" indent="-22796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7865" algn="l"/>
              </a:tabLst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Securing</a:t>
            </a:r>
            <a:r>
              <a:rPr lang="en-US" sz="2000" spc="-2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2000" spc="-1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Sharing</a:t>
            </a:r>
            <a:r>
              <a:rPr lang="en-US" sz="2000" spc="-85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across</a:t>
            </a:r>
            <a:r>
              <a:rPr lang="en-US" sz="2000" spc="-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20" dirty="0" smtClean="0">
                <a:latin typeface="Times New Roman" pitchFamily="18" charset="0"/>
                <a:cs typeface="Times New Roman" pitchFamily="18" charset="0"/>
              </a:rPr>
              <a:t>different</a:t>
            </a:r>
            <a:r>
              <a:rPr lang="en-US" sz="2000" spc="-6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spc="-10" dirty="0" smtClean="0">
                <a:latin typeface="Times New Roman" pitchFamily="18" charset="0"/>
                <a:cs typeface="Times New Roman" pitchFamily="18" charset="0"/>
              </a:rPr>
              <a:t>clients.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699135">
              <a:lnSpc>
                <a:spcPts val="2755"/>
              </a:lnSpc>
            </a:pPr>
            <a:endParaRPr lang="en-US" sz="2000" spc="-10" dirty="0" smtClean="0">
              <a:latin typeface="Times New Roman" pitchFamily="18" charset="0"/>
              <a:cs typeface="Times New Roman" pitchFamily="18" charset="0"/>
            </a:endParaRPr>
          </a:p>
          <a:p>
            <a:pPr marL="699135">
              <a:lnSpc>
                <a:spcPts val="2755"/>
              </a:lnSpc>
            </a:pPr>
            <a:endParaRPr lang="en-US" sz="2000" spc="-10" dirty="0" smtClean="0">
              <a:latin typeface="Times New Roman" pitchFamily="18" charset="0"/>
              <a:cs typeface="Times New Roman" pitchFamily="18" charset="0"/>
            </a:endParaRPr>
          </a:p>
          <a:p>
            <a:pPr marL="699135">
              <a:lnSpc>
                <a:spcPts val="2755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12869604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6AFC79C-A3F8-33A1-2D03-D161DD44078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2BE2297-DC8B-48E6-B6D6-34773F9A5984}" type="datetime1">
              <a:rPr lang="en-IN" sz="1200" smtClean="0">
                <a:solidFill>
                  <a:schemeClr val="bg1"/>
                </a:solidFill>
              </a:rPr>
              <a:pPr/>
              <a:t>22-04-2026</a:t>
            </a:fld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0922EF17-FFCB-3AA2-1D62-B0B9AFD799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591800" y="6356350"/>
            <a:ext cx="762000" cy="365125"/>
          </a:xfrm>
          <a:prstGeom prst="rect">
            <a:avLst/>
          </a:prstGeom>
        </p:spPr>
        <p:txBody>
          <a:bodyPr/>
          <a:lstStyle/>
          <a:p>
            <a:fld id="{F32F6845-8F47-4AB8-B9CE-96D88E741707}" type="slidenum">
              <a:rPr lang="en-IN" sz="1200" smtClean="0">
                <a:solidFill>
                  <a:schemeClr val="bg1"/>
                </a:solidFill>
              </a:rPr>
              <a:pPr/>
              <a:t>13</a:t>
            </a:fld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" name="AutoShape 4" descr="Generated image">
            <a:extLst>
              <a:ext uri="{FF2B5EF4-FFF2-40B4-BE49-F238E27FC236}">
                <a16:creationId xmlns:a16="http://schemas.microsoft.com/office/drawing/2014/main" xmlns="" id="{F63F632D-C9B3-4A65-D746-DE41F93305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D7D98D4-A66B-754D-4898-3F2BFD55D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16" y="136526"/>
            <a:ext cx="8603226" cy="564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09661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Reduces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manual effort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through automation of recruitment workflows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Improves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candidate screening accuracy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using AI/ML techniques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Enables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faster hiring process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by streamlining all recruitment stages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Provides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centralized data management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better tracking and consistency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Enhances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candidate experience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through continuous engagement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real-time analytics and reporting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data-driven decisions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Ensures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seamless integration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with job portals and external tools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Improves overall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efficiency, scalability, and system reliability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246652179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34195" y="1184274"/>
            <a:ext cx="8666136" cy="4500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36543255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1" y="369737"/>
            <a:ext cx="10233660" cy="529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Implementation of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centralized Applicant Tracking System (ATS)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manage the recruitment lifecycle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Job Creation &amp; Configuration: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Defining job roles, skills, and hiring criteria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Candidate Sourcing: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Integration with job portals, referrals, and internal databases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Resume Screening: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AI-based filtering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shortlisting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candidates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Interview Management: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Scheduling interviews and collecting feedback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Candidate Tracking: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Monitoring candidate status across all hiring stages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Offer Management: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Generating and managing offer letters with approval workflows </a:t>
            </a:r>
          </a:p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Onboarding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Process: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Managing document submission and joining formalities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Dashboard &amp; Analytics: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Real-time tracking of recruitment performance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20261749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Performed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functional testing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 recruitment workflow modules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Tested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job creation and candidate application process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Verified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candidate status transitions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across hiring stages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Validated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 accuracy and consistency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 candidate records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Tested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API integrations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with job portals and external tools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Ensured proper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role-based access control (RBAC)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Identified and reported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system-level issues and bugs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Supported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User Acceptance Testing (UAT)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with real-time scenarios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50805115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Successfully gained hands-on experience in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Applicant Tracking System (ATS)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Understood real-time implementation of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AI-driven recruitment workflows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Learned end-to-end hiring process from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job creation to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onboarding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Improved knowledge of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workflow automation, APIs, and data management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Developed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problem-solving, communication, and teamwork skills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Gained exposure to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client requirements and industry practices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Internship helped bridge the gap between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academic learning and real-world application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07239903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TalentRecruit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Official Website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https://www.talentrecruit.com/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Documentation 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Applicant Tracking Systems (ATS)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Research articles 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Artificial Intelligence &amp; Machine Learning in Recruitment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Study materials 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Natural Language Processing (NLP)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chatbot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systems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REST API documentation and integration guides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(Software as a Service) architecture resources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Articles 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Recruitment Analytics and Dashboard Reporting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Internal training materials and knowledge shared during internship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349398676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https://github.com/shamithavij/Talentrecruit_Intership_2026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562137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9754658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696605960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7248</TotalTime>
  <Words>1438</Words>
  <Application>Microsoft Office PowerPoint</Application>
  <PresentationFormat>Custom</PresentationFormat>
  <Paragraphs>200</Paragraphs>
  <Slides>23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Content</vt:lpstr>
      <vt:lpstr>About Company or Organization</vt:lpstr>
      <vt:lpstr>Our Clients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Slide 13</vt:lpstr>
      <vt:lpstr>Advantages of Proposed System/Work</vt:lpstr>
      <vt:lpstr>System Design</vt:lpstr>
      <vt:lpstr>Slide 16</vt:lpstr>
      <vt:lpstr>System Implementation</vt:lpstr>
      <vt:lpstr>System Testing</vt:lpstr>
      <vt:lpstr>Conclusion</vt:lpstr>
      <vt:lpstr>References</vt:lpstr>
      <vt:lpstr>Github Link</vt:lpstr>
      <vt:lpstr>Slide 22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Samitha vijaykumar</cp:lastModifiedBy>
  <cp:revision>730</cp:revision>
  <dcterms:created xsi:type="dcterms:W3CDTF">2022-10-14T07:18:17Z</dcterms:created>
  <dcterms:modified xsi:type="dcterms:W3CDTF">2026-04-22T06:26:25Z</dcterms:modified>
</cp:coreProperties>
</file>