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89" r:id="rId13"/>
    <p:sldId id="268" r:id="rId14"/>
    <p:sldId id="281" r:id="rId15"/>
    <p:sldId id="290" r:id="rId16"/>
    <p:sldId id="282" r:id="rId17"/>
    <p:sldId id="291" r:id="rId18"/>
    <p:sldId id="284" r:id="rId19"/>
    <p:sldId id="285" r:id="rId20"/>
    <p:sldId id="286" r:id="rId21"/>
    <p:sldId id="287" r:id="rId22"/>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95" d="100"/>
          <a:sy n="95" d="100"/>
        </p:scale>
        <p:origin x="-178" y="-77"/>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4471C4"/>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defRPr sz="1200" b="0" i="0">
                <a:solidFill>
                  <a:schemeClr val="bg1"/>
                </a:solidFill>
                <a:latin typeface="Calibri"/>
                <a:cs typeface="Calibri"/>
              </a:defRPr>
            </a:lvl1pPr>
          </a:lstStyle>
          <a:p>
            <a:pPr marL="12700">
              <a:lnSpc>
                <a:spcPts val="1240"/>
              </a:lnSpc>
            </a:pPr>
            <a:r>
              <a:rPr spc="-10" dirty="0"/>
              <a:t>27-02-</a:t>
            </a:r>
            <a:r>
              <a:rPr spc="-20" dirty="0"/>
              <a:t>2026</a:t>
            </a:r>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5570">
              <a:lnSpc>
                <a:spcPts val="1240"/>
              </a:lnSpc>
            </a:pPr>
            <a:fld id="{81D60167-4931-47E6-BA6A-407CBD079E47}" type="slidenum">
              <a:rPr spc="-50" dirty="0"/>
              <a:pPr marL="115570">
                <a:lnSpc>
                  <a:spcPts val="1240"/>
                </a:lnSpc>
              </a:pPr>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defRPr sz="1200" b="0" i="0">
                <a:solidFill>
                  <a:schemeClr val="bg1"/>
                </a:solidFill>
                <a:latin typeface="Calibri"/>
                <a:cs typeface="Calibri"/>
              </a:defRPr>
            </a:lvl1pPr>
          </a:lstStyle>
          <a:p>
            <a:pPr marL="12700">
              <a:lnSpc>
                <a:spcPts val="1240"/>
              </a:lnSpc>
            </a:pPr>
            <a:r>
              <a:rPr spc="-10" dirty="0"/>
              <a:t>27-02-</a:t>
            </a:r>
            <a:r>
              <a:rPr spc="-20" dirty="0"/>
              <a:t>2026</a:t>
            </a:r>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5570">
              <a:lnSpc>
                <a:spcPts val="1240"/>
              </a:lnSpc>
            </a:pPr>
            <a:fld id="{81D60167-4931-47E6-BA6A-407CBD079E47}" type="slidenum">
              <a:rPr spc="-50" dirty="0"/>
              <a:pPr marL="115570">
                <a:lnSpc>
                  <a:spcPts val="1240"/>
                </a:lnSpc>
              </a:pPr>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defRPr sz="1200" b="0" i="0">
                <a:solidFill>
                  <a:schemeClr val="bg1"/>
                </a:solidFill>
                <a:latin typeface="Calibri"/>
                <a:cs typeface="Calibri"/>
              </a:defRPr>
            </a:lvl1pPr>
          </a:lstStyle>
          <a:p>
            <a:pPr marL="12700">
              <a:lnSpc>
                <a:spcPts val="1240"/>
              </a:lnSpc>
            </a:pPr>
            <a:r>
              <a:rPr spc="-10" dirty="0"/>
              <a:t>27-02-</a:t>
            </a:r>
            <a:r>
              <a:rPr spc="-20" dirty="0"/>
              <a:t>2026</a:t>
            </a:r>
          </a:p>
        </p:txBody>
      </p:sp>
      <p:sp>
        <p:nvSpPr>
          <p:cNvPr id="7" name="Holder 7"/>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5570">
              <a:lnSpc>
                <a:spcPts val="1240"/>
              </a:lnSpc>
            </a:pPr>
            <a:fld id="{81D60167-4931-47E6-BA6A-407CBD079E47}" type="slidenum">
              <a:rPr spc="-50" dirty="0"/>
              <a:pPr marL="115570">
                <a:lnSpc>
                  <a:spcPts val="1240"/>
                </a:lnSpc>
              </a:pPr>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defRPr sz="1200" b="0" i="0">
                <a:solidFill>
                  <a:schemeClr val="bg1"/>
                </a:solidFill>
                <a:latin typeface="Calibri"/>
                <a:cs typeface="Calibri"/>
              </a:defRPr>
            </a:lvl1pPr>
          </a:lstStyle>
          <a:p>
            <a:pPr marL="12700">
              <a:lnSpc>
                <a:spcPts val="1240"/>
              </a:lnSpc>
            </a:pPr>
            <a:r>
              <a:rPr spc="-10" dirty="0"/>
              <a:t>27-02-</a:t>
            </a:r>
            <a:r>
              <a:rPr spc="-20" dirty="0"/>
              <a:t>2026</a:t>
            </a:r>
          </a:p>
        </p:txBody>
      </p:sp>
      <p:sp>
        <p:nvSpPr>
          <p:cNvPr id="5" name="Holder 5"/>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5570">
              <a:lnSpc>
                <a:spcPts val="1240"/>
              </a:lnSpc>
            </a:pPr>
            <a:fld id="{81D60167-4931-47E6-BA6A-407CBD079E47}" type="slidenum">
              <a:rPr spc="-50" dirty="0"/>
              <a:pPr marL="115570">
                <a:lnSpc>
                  <a:spcPts val="1240"/>
                </a:lnSpc>
              </a:pPr>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defRPr sz="1200" b="0" i="0">
                <a:solidFill>
                  <a:schemeClr val="bg1"/>
                </a:solidFill>
                <a:latin typeface="Calibri"/>
                <a:cs typeface="Calibri"/>
              </a:defRPr>
            </a:lvl1pPr>
          </a:lstStyle>
          <a:p>
            <a:pPr marL="12700">
              <a:lnSpc>
                <a:spcPts val="1240"/>
              </a:lnSpc>
            </a:pPr>
            <a:r>
              <a:rPr spc="-10" dirty="0"/>
              <a:t>27-02-</a:t>
            </a:r>
            <a:r>
              <a:rPr spc="-20" dirty="0"/>
              <a:t>2026</a:t>
            </a:r>
          </a:p>
        </p:txBody>
      </p:sp>
      <p:sp>
        <p:nvSpPr>
          <p:cNvPr id="4" name="Holder 4"/>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5570">
              <a:lnSpc>
                <a:spcPts val="1240"/>
              </a:lnSpc>
            </a:pPr>
            <a:fld id="{81D60167-4931-47E6-BA6A-407CBD079E47}" type="slidenum">
              <a:rPr spc="-50" dirty="0"/>
              <a:pPr marL="115570">
                <a:lnSpc>
                  <a:spcPts val="1240"/>
                </a:lnSpc>
              </a:pPr>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5846063"/>
            <a:ext cx="12192000" cy="1011935"/>
          </a:xfrm>
          <a:prstGeom prst="rect">
            <a:avLst/>
          </a:prstGeom>
        </p:spPr>
      </p:pic>
      <p:sp>
        <p:nvSpPr>
          <p:cNvPr id="2" name="Holder 2"/>
          <p:cNvSpPr>
            <a:spLocks noGrp="1"/>
          </p:cNvSpPr>
          <p:nvPr>
            <p:ph type="title"/>
          </p:nvPr>
        </p:nvSpPr>
        <p:spPr>
          <a:xfrm>
            <a:off x="549592" y="96774"/>
            <a:ext cx="10254932" cy="1213548"/>
          </a:xfrm>
          <a:prstGeom prst="rect">
            <a:avLst/>
          </a:prstGeom>
        </p:spPr>
        <p:txBody>
          <a:bodyPr wrap="square" lIns="0" tIns="0" rIns="0" bIns="0">
            <a:spAutoFit/>
          </a:bodyPr>
          <a:lstStyle>
            <a:lvl1pPr>
              <a:defRPr sz="4400" b="0" i="0">
                <a:solidFill>
                  <a:srgbClr val="4471C4"/>
                </a:solidFill>
                <a:latin typeface="Calibri Light"/>
                <a:cs typeface="Calibri Light"/>
              </a:defRPr>
            </a:lvl1pPr>
          </a:lstStyle>
          <a:p>
            <a:endParaRPr/>
          </a:p>
        </p:txBody>
      </p:sp>
      <p:sp>
        <p:nvSpPr>
          <p:cNvPr id="3" name="Holder 3"/>
          <p:cNvSpPr>
            <a:spLocks noGrp="1"/>
          </p:cNvSpPr>
          <p:nvPr>
            <p:ph type="body" idx="1"/>
          </p:nvPr>
        </p:nvSpPr>
        <p:spPr>
          <a:xfrm>
            <a:off x="805497" y="2167191"/>
            <a:ext cx="6302375" cy="195072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7575" y="6472554"/>
            <a:ext cx="744219" cy="177800"/>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12700">
              <a:lnSpc>
                <a:spcPts val="1240"/>
              </a:lnSpc>
            </a:pPr>
            <a:r>
              <a:rPr spc="-10" dirty="0"/>
              <a:t>27-02-</a:t>
            </a:r>
            <a:r>
              <a:rPr spc="-20" dirty="0"/>
              <a:t>2026</a:t>
            </a:r>
          </a:p>
        </p:txBody>
      </p:sp>
      <p:sp>
        <p:nvSpPr>
          <p:cNvPr id="6" name="Holder 6"/>
          <p:cNvSpPr>
            <a:spLocks noGrp="1"/>
          </p:cNvSpPr>
          <p:nvPr>
            <p:ph type="sldNum" sz="quarter" idx="7"/>
          </p:nvPr>
        </p:nvSpPr>
        <p:spPr>
          <a:xfrm>
            <a:off x="11076051" y="6472554"/>
            <a:ext cx="244093" cy="177800"/>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115570">
              <a:lnSpc>
                <a:spcPts val="1240"/>
              </a:lnSpc>
            </a:pPr>
            <a:fld id="{81D60167-4931-47E6-BA6A-407CBD079E47}" type="slidenum">
              <a:rPr spc="-50" dirty="0"/>
              <a:pPr marL="115570">
                <a:lnSpc>
                  <a:spcPts val="1240"/>
                </a:lnSpc>
              </a:pPr>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shamithavij/Talentrecruit_Intership_2026"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5267" y="2136203"/>
            <a:ext cx="10585133" cy="3157916"/>
          </a:xfrm>
          <a:prstGeom prst="rect">
            <a:avLst/>
          </a:prstGeom>
        </p:spPr>
        <p:txBody>
          <a:bodyPr vert="horz" wrap="square" lIns="0" tIns="15875" rIns="0" bIns="0" rtlCol="0">
            <a:spAutoFit/>
          </a:bodyPr>
          <a:lstStyle/>
          <a:p>
            <a:pPr marR="5080" algn="r">
              <a:lnSpc>
                <a:spcPct val="100000"/>
              </a:lnSpc>
              <a:spcBef>
                <a:spcPts val="125"/>
              </a:spcBef>
            </a:pPr>
            <a:r>
              <a:rPr sz="2000" b="1" dirty="0">
                <a:solidFill>
                  <a:srgbClr val="17365D"/>
                </a:solidFill>
                <a:latin typeface="Cambria"/>
                <a:cs typeface="Cambria"/>
              </a:rPr>
              <a:t>Under</a:t>
            </a:r>
            <a:r>
              <a:rPr sz="2000" b="1" spc="-20" dirty="0">
                <a:solidFill>
                  <a:srgbClr val="17365D"/>
                </a:solidFill>
                <a:latin typeface="Cambria"/>
                <a:cs typeface="Cambria"/>
              </a:rPr>
              <a:t> </a:t>
            </a:r>
            <a:r>
              <a:rPr sz="2000" b="1" dirty="0">
                <a:solidFill>
                  <a:srgbClr val="17365D"/>
                </a:solidFill>
                <a:latin typeface="Cambria"/>
                <a:cs typeface="Cambria"/>
              </a:rPr>
              <a:t>the</a:t>
            </a:r>
            <a:r>
              <a:rPr sz="2000" b="1" spc="-70" dirty="0">
                <a:solidFill>
                  <a:srgbClr val="17365D"/>
                </a:solidFill>
                <a:latin typeface="Cambria"/>
                <a:cs typeface="Cambria"/>
              </a:rPr>
              <a:t> </a:t>
            </a:r>
            <a:r>
              <a:rPr sz="2000" b="1" dirty="0">
                <a:solidFill>
                  <a:srgbClr val="17365D"/>
                </a:solidFill>
                <a:latin typeface="Cambria"/>
                <a:cs typeface="Cambria"/>
              </a:rPr>
              <a:t>Supervision</a:t>
            </a:r>
            <a:r>
              <a:rPr sz="2000" b="1" spc="-70" dirty="0">
                <a:solidFill>
                  <a:srgbClr val="17365D"/>
                </a:solidFill>
                <a:latin typeface="Cambria"/>
                <a:cs typeface="Cambria"/>
              </a:rPr>
              <a:t> </a:t>
            </a:r>
            <a:r>
              <a:rPr sz="2000" b="1" spc="-25" dirty="0">
                <a:solidFill>
                  <a:srgbClr val="17365D"/>
                </a:solidFill>
                <a:latin typeface="Cambria"/>
                <a:cs typeface="Cambria"/>
              </a:rPr>
              <a:t>of,</a:t>
            </a:r>
            <a:endParaRPr sz="2000">
              <a:latin typeface="Cambria"/>
              <a:cs typeface="Cambria"/>
            </a:endParaRPr>
          </a:p>
          <a:p>
            <a:pPr>
              <a:lnSpc>
                <a:spcPct val="100000"/>
              </a:lnSpc>
              <a:spcBef>
                <a:spcPts val="710"/>
              </a:spcBef>
            </a:pPr>
            <a:endParaRPr sz="2000">
              <a:latin typeface="Cambria"/>
              <a:cs typeface="Cambria"/>
            </a:endParaRPr>
          </a:p>
          <a:p>
            <a:pPr marL="6386195" lvl="0">
              <a:spcBef>
                <a:spcPts val="5"/>
              </a:spcBef>
            </a:pPr>
            <a:r>
              <a:rPr sz="1700" b="1" spc="-45" smtClean="0">
                <a:solidFill>
                  <a:srgbClr val="17365D"/>
                </a:solidFill>
                <a:latin typeface="Cambria"/>
                <a:cs typeface="Cambria"/>
              </a:rPr>
              <a:t>Dr.</a:t>
            </a:r>
            <a:r>
              <a:rPr lang="en-US" b="1" dirty="0" smtClean="0">
                <a:solidFill>
                  <a:srgbClr val="17365D"/>
                </a:solidFill>
                <a:latin typeface="Cambria" panose="02040503050406030204" pitchFamily="18" charset="0"/>
                <a:ea typeface="Cambria" panose="02040503050406030204" pitchFamily="18" charset="0"/>
                <a:cs typeface="Verdana"/>
                <a:sym typeface="Verdana"/>
              </a:rPr>
              <a:t> </a:t>
            </a:r>
            <a:r>
              <a:rPr lang="en-US" b="1" dirty="0" err="1" smtClean="0">
                <a:solidFill>
                  <a:srgbClr val="17365D"/>
                </a:solidFill>
                <a:latin typeface="Cambria" panose="02040503050406030204" pitchFamily="18" charset="0"/>
                <a:ea typeface="Cambria" panose="02040503050406030204" pitchFamily="18" charset="0"/>
                <a:cs typeface="Verdana"/>
                <a:sym typeface="Verdana"/>
              </a:rPr>
              <a:t>Taranath</a:t>
            </a:r>
            <a:r>
              <a:rPr lang="en-US" b="1" dirty="0" smtClean="0">
                <a:solidFill>
                  <a:srgbClr val="17365D"/>
                </a:solidFill>
                <a:latin typeface="Cambria" panose="02040503050406030204" pitchFamily="18" charset="0"/>
                <a:ea typeface="Cambria" panose="02040503050406030204" pitchFamily="18" charset="0"/>
                <a:cs typeface="Verdana"/>
                <a:sym typeface="Verdana"/>
              </a:rPr>
              <a:t> N L </a:t>
            </a:r>
            <a:endParaRPr lang="en-US" dirty="0" smtClean="0">
              <a:latin typeface="Cambria" panose="02040503050406030204" pitchFamily="18" charset="0"/>
              <a:ea typeface="Cambria" panose="02040503050406030204" pitchFamily="18" charset="0"/>
            </a:endParaRPr>
          </a:p>
          <a:p>
            <a:pPr marL="6386195">
              <a:lnSpc>
                <a:spcPct val="100000"/>
              </a:lnSpc>
              <a:spcBef>
                <a:spcPts val="340"/>
              </a:spcBef>
            </a:pPr>
            <a:r>
              <a:rPr lang="en-US" sz="1700" b="1" spc="-10" dirty="0" smtClean="0">
                <a:solidFill>
                  <a:srgbClr val="17365D"/>
                </a:solidFill>
                <a:latin typeface="Cambria"/>
                <a:cs typeface="Cambria"/>
              </a:rPr>
              <a:t>Associate </a:t>
            </a:r>
            <a:r>
              <a:rPr sz="1700" b="1" spc="-10" smtClean="0">
                <a:solidFill>
                  <a:srgbClr val="17365D"/>
                </a:solidFill>
                <a:latin typeface="Cambria"/>
                <a:cs typeface="Cambria"/>
              </a:rPr>
              <a:t>Professor,</a:t>
            </a:r>
            <a:endParaRPr sz="1700" smtClean="0">
              <a:latin typeface="Cambria"/>
              <a:cs typeface="Cambria"/>
            </a:endParaRPr>
          </a:p>
          <a:p>
            <a:pPr marL="6386195" marR="1696085">
              <a:lnSpc>
                <a:spcPts val="2400"/>
              </a:lnSpc>
              <a:spcBef>
                <a:spcPts val="70"/>
              </a:spcBef>
            </a:pPr>
            <a:r>
              <a:rPr sz="1700" b="1" spc="-10" smtClean="0">
                <a:solidFill>
                  <a:srgbClr val="17365D"/>
                </a:solidFill>
                <a:latin typeface="Cambria"/>
                <a:cs typeface="Cambria"/>
              </a:rPr>
              <a:t>Presidency</a:t>
            </a:r>
            <a:r>
              <a:rPr sz="1700" b="1" spc="5" smtClean="0">
                <a:solidFill>
                  <a:srgbClr val="17365D"/>
                </a:solidFill>
                <a:latin typeface="Cambria"/>
                <a:cs typeface="Cambria"/>
              </a:rPr>
              <a:t> </a:t>
            </a:r>
            <a:r>
              <a:rPr sz="1700" b="1" smtClean="0">
                <a:solidFill>
                  <a:srgbClr val="17365D"/>
                </a:solidFill>
                <a:latin typeface="Cambria"/>
                <a:cs typeface="Cambria"/>
              </a:rPr>
              <a:t>School</a:t>
            </a:r>
            <a:r>
              <a:rPr sz="1700" b="1" spc="15" smtClean="0">
                <a:solidFill>
                  <a:srgbClr val="17365D"/>
                </a:solidFill>
                <a:latin typeface="Cambria"/>
                <a:cs typeface="Cambria"/>
              </a:rPr>
              <a:t> </a:t>
            </a:r>
            <a:r>
              <a:rPr sz="1700" b="1" smtClean="0">
                <a:solidFill>
                  <a:srgbClr val="17365D"/>
                </a:solidFill>
                <a:latin typeface="Cambria"/>
                <a:cs typeface="Cambria"/>
              </a:rPr>
              <a:t>of</a:t>
            </a:r>
            <a:r>
              <a:rPr sz="1700" b="1" spc="-15" smtClean="0">
                <a:solidFill>
                  <a:srgbClr val="17365D"/>
                </a:solidFill>
                <a:latin typeface="Cambria"/>
                <a:cs typeface="Cambria"/>
              </a:rPr>
              <a:t> </a:t>
            </a:r>
            <a:r>
              <a:rPr sz="1700" b="1" spc="-25" smtClean="0">
                <a:solidFill>
                  <a:srgbClr val="17365D"/>
                </a:solidFill>
                <a:latin typeface="Cambria"/>
                <a:cs typeface="Cambria"/>
              </a:rPr>
              <a:t>CSE </a:t>
            </a:r>
            <a:r>
              <a:rPr sz="1700" b="1" spc="-10" smtClean="0">
                <a:solidFill>
                  <a:srgbClr val="17365D"/>
                </a:solidFill>
                <a:latin typeface="Cambria"/>
                <a:cs typeface="Cambria"/>
              </a:rPr>
              <a:t>Presidency</a:t>
            </a:r>
            <a:r>
              <a:rPr sz="1700" b="1" smtClean="0">
                <a:solidFill>
                  <a:srgbClr val="17365D"/>
                </a:solidFill>
                <a:latin typeface="Cambria"/>
                <a:cs typeface="Cambria"/>
              </a:rPr>
              <a:t> </a:t>
            </a:r>
            <a:r>
              <a:rPr sz="1700" b="1" spc="-10" smtClean="0">
                <a:solidFill>
                  <a:srgbClr val="17365D"/>
                </a:solidFill>
                <a:latin typeface="Cambria"/>
                <a:cs typeface="Cambria"/>
              </a:rPr>
              <a:t>University</a:t>
            </a:r>
            <a:endParaRPr sz="1700" smtClean="0">
              <a:latin typeface="Cambria"/>
              <a:cs typeface="Cambria"/>
            </a:endParaRPr>
          </a:p>
          <a:p>
            <a:pPr lvl="0">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B.Tech</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CSE</a:t>
            </a:r>
          </a:p>
          <a:p>
            <a:pPr lvl="0">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HoD</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a:t>
            </a:r>
            <a:r>
              <a:rPr lang="en-IN" sz="2000" b="1" dirty="0" smtClean="0">
                <a:solidFill>
                  <a:srgbClr val="0070C0"/>
                </a:solidFill>
              </a:rPr>
              <a:t>Dr. </a:t>
            </a:r>
            <a:r>
              <a:rPr lang="en-IN" sz="2000" b="1" dirty="0" err="1" smtClean="0">
                <a:solidFill>
                  <a:srgbClr val="0070C0"/>
                </a:solidFill>
              </a:rPr>
              <a:t>Asif</a:t>
            </a:r>
            <a:r>
              <a:rPr lang="en-IN" sz="2000" b="1" dirty="0" smtClean="0">
                <a:solidFill>
                  <a:srgbClr val="0070C0"/>
                </a:solidFill>
              </a:rPr>
              <a:t> Mohammed</a:t>
            </a:r>
            <a:endParaRPr lang="en-US" sz="2000" b="1" dirty="0" smtClean="0">
              <a:solidFill>
                <a:srgbClr val="0070C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Dr.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Balakrishnan</a:t>
            </a:r>
            <a:endParaRPr lang="en-US" sz="2000" b="1" dirty="0" smtClean="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smtClean="0">
                <a:solidFill>
                  <a:srgbClr val="0070C0"/>
                </a:solidFill>
                <a:latin typeface="Cambria" panose="02040503050406030204" pitchFamily="18" charset="0"/>
                <a:ea typeface="Cambria" panose="02040503050406030204" pitchFamily="18" charset="0"/>
                <a:cs typeface="Verdana"/>
                <a:sym typeface="Verdana"/>
              </a:rPr>
              <a:t>Dr. </a:t>
            </a:r>
            <a:r>
              <a:rPr lang="en-US" sz="2000" b="1" dirty="0" err="1" smtClean="0">
                <a:solidFill>
                  <a:srgbClr val="0070C0"/>
                </a:solidFill>
                <a:latin typeface="Cambria" panose="02040503050406030204" pitchFamily="18" charset="0"/>
                <a:ea typeface="Cambria" panose="02040503050406030204" pitchFamily="18" charset="0"/>
                <a:cs typeface="Verdana"/>
                <a:sym typeface="Verdana"/>
              </a:rPr>
              <a:t>Md</a:t>
            </a:r>
            <a:r>
              <a:rPr lang="en-US" sz="2000" b="1" dirty="0" smtClean="0">
                <a:solidFill>
                  <a:srgbClr val="0070C0"/>
                </a:solidFill>
                <a:latin typeface="Cambria" panose="02040503050406030204" pitchFamily="18" charset="0"/>
                <a:ea typeface="Cambria" panose="02040503050406030204" pitchFamily="18" charset="0"/>
                <a:cs typeface="Verdana"/>
                <a:sym typeface="Verdana"/>
              </a:rPr>
              <a:t> </a:t>
            </a:r>
            <a:r>
              <a:rPr lang="en-US" sz="2000" b="1" dirty="0" err="1" smtClean="0">
                <a:solidFill>
                  <a:srgbClr val="0070C0"/>
                </a:solidFill>
                <a:latin typeface="Cambria" panose="02040503050406030204" pitchFamily="18" charset="0"/>
                <a:ea typeface="Cambria" panose="02040503050406030204" pitchFamily="18" charset="0"/>
                <a:cs typeface="Verdana"/>
                <a:sym typeface="Verdana"/>
              </a:rPr>
              <a:t>Ziaur</a:t>
            </a:r>
            <a:r>
              <a:rPr lang="en-US" sz="2000" b="1" dirty="0" smtClean="0">
                <a:solidFill>
                  <a:srgbClr val="0070C0"/>
                </a:solidFill>
                <a:latin typeface="Cambria" panose="02040503050406030204" pitchFamily="18" charset="0"/>
                <a:ea typeface="Cambria" panose="02040503050406030204" pitchFamily="18" charset="0"/>
                <a:cs typeface="Verdana"/>
                <a:sym typeface="Verdana"/>
              </a:rPr>
              <a:t> </a:t>
            </a:r>
            <a:r>
              <a:rPr lang="en-US" sz="2000" b="1" dirty="0" err="1" smtClean="0">
                <a:solidFill>
                  <a:srgbClr val="0070C0"/>
                </a:solidFill>
                <a:latin typeface="Cambria" panose="02040503050406030204" pitchFamily="18" charset="0"/>
                <a:ea typeface="Cambria" panose="02040503050406030204" pitchFamily="18" charset="0"/>
                <a:cs typeface="Verdana"/>
                <a:sym typeface="Verdana"/>
              </a:rPr>
              <a:t>Rahman</a:t>
            </a:r>
            <a:endParaRPr lang="en-US" sz="2000" b="1" dirty="0">
              <a:solidFill>
                <a:srgbClr val="0070C0"/>
              </a:solidFill>
              <a:latin typeface="Cambria" panose="02040503050406030204" pitchFamily="18" charset="0"/>
              <a:ea typeface="Cambria" panose="02040503050406030204" pitchFamily="18" charset="0"/>
              <a:cs typeface="Verdana"/>
              <a:sym typeface="Verdana"/>
            </a:endParaRPr>
          </a:p>
        </p:txBody>
      </p:sp>
      <p:sp>
        <p:nvSpPr>
          <p:cNvPr id="3" name="object 3" descr="$PPTXTitle"/>
          <p:cNvSpPr txBox="1">
            <a:spLocks noGrp="1"/>
          </p:cNvSpPr>
          <p:nvPr>
            <p:ph type="title"/>
          </p:nvPr>
        </p:nvSpPr>
        <p:spPr>
          <a:xfrm>
            <a:off x="4130040" y="126364"/>
            <a:ext cx="3939540" cy="1184275"/>
          </a:xfrm>
          <a:prstGeom prst="rect">
            <a:avLst/>
          </a:prstGeom>
        </p:spPr>
        <p:txBody>
          <a:bodyPr vert="horz" wrap="square" lIns="0" tIns="16510" rIns="0" bIns="0" rtlCol="0">
            <a:spAutoFit/>
          </a:bodyPr>
          <a:lstStyle/>
          <a:p>
            <a:pPr algn="ctr">
              <a:lnSpc>
                <a:spcPct val="100000"/>
              </a:lnSpc>
              <a:spcBef>
                <a:spcPts val="130"/>
              </a:spcBef>
            </a:pPr>
            <a:r>
              <a:rPr sz="2750" b="1" dirty="0">
                <a:solidFill>
                  <a:srgbClr val="2E5496"/>
                </a:solidFill>
                <a:latin typeface="Times New Roman"/>
                <a:cs typeface="Times New Roman"/>
              </a:rPr>
              <a:t>CSE7302</a:t>
            </a:r>
            <a:r>
              <a:rPr sz="2750" b="1" spc="90" dirty="0">
                <a:solidFill>
                  <a:srgbClr val="2E5496"/>
                </a:solidFill>
                <a:latin typeface="Times New Roman"/>
                <a:cs typeface="Times New Roman"/>
              </a:rPr>
              <a:t> </a:t>
            </a:r>
            <a:r>
              <a:rPr sz="2750" b="1" dirty="0">
                <a:solidFill>
                  <a:srgbClr val="2E5496"/>
                </a:solidFill>
                <a:latin typeface="Times New Roman"/>
                <a:cs typeface="Times New Roman"/>
              </a:rPr>
              <a:t>-</a:t>
            </a:r>
            <a:r>
              <a:rPr sz="2750" b="1" spc="110" dirty="0">
                <a:solidFill>
                  <a:srgbClr val="2E5496"/>
                </a:solidFill>
                <a:latin typeface="Times New Roman"/>
                <a:cs typeface="Times New Roman"/>
              </a:rPr>
              <a:t> </a:t>
            </a:r>
            <a:r>
              <a:rPr sz="2750" b="1" spc="-10" dirty="0">
                <a:solidFill>
                  <a:srgbClr val="2E5496"/>
                </a:solidFill>
                <a:latin typeface="Times New Roman"/>
                <a:cs typeface="Times New Roman"/>
              </a:rPr>
              <a:t>INTERNSHIP</a:t>
            </a:r>
            <a:endParaRPr sz="2750">
              <a:latin typeface="Times New Roman"/>
              <a:cs typeface="Times New Roman"/>
            </a:endParaRPr>
          </a:p>
          <a:p>
            <a:pPr marL="29209" marR="18415" indent="-5715" algn="ctr">
              <a:lnSpc>
                <a:spcPts val="2860"/>
              </a:lnSpc>
              <a:spcBef>
                <a:spcPts val="165"/>
              </a:spcBef>
            </a:pPr>
            <a:r>
              <a:rPr sz="2400" b="1" spc="-10" dirty="0">
                <a:solidFill>
                  <a:srgbClr val="006FC0"/>
                </a:solidFill>
                <a:latin typeface="Times New Roman"/>
                <a:cs typeface="Times New Roman"/>
              </a:rPr>
              <a:t>Review-</a:t>
            </a:r>
            <a:r>
              <a:rPr sz="2400" b="1" dirty="0">
                <a:solidFill>
                  <a:srgbClr val="006FC0"/>
                </a:solidFill>
                <a:latin typeface="Times New Roman"/>
                <a:cs typeface="Times New Roman"/>
              </a:rPr>
              <a:t>III</a:t>
            </a:r>
            <a:r>
              <a:rPr sz="2400" b="1" spc="30" dirty="0">
                <a:solidFill>
                  <a:srgbClr val="006FC0"/>
                </a:solidFill>
                <a:latin typeface="Times New Roman"/>
                <a:cs typeface="Times New Roman"/>
              </a:rPr>
              <a:t> </a:t>
            </a:r>
            <a:r>
              <a:rPr sz="2400" b="1" spc="-10" dirty="0">
                <a:solidFill>
                  <a:srgbClr val="006FC0"/>
                </a:solidFill>
                <a:latin typeface="Times New Roman"/>
                <a:cs typeface="Times New Roman"/>
              </a:rPr>
              <a:t>Presentation </a:t>
            </a:r>
            <a:r>
              <a:rPr sz="2400" b="1" dirty="0">
                <a:solidFill>
                  <a:srgbClr val="006FC0"/>
                </a:solidFill>
                <a:latin typeface="Times New Roman"/>
                <a:cs typeface="Times New Roman"/>
              </a:rPr>
              <a:t>CLIENT</a:t>
            </a:r>
            <a:r>
              <a:rPr sz="2400" b="1" spc="-140" dirty="0">
                <a:solidFill>
                  <a:srgbClr val="006FC0"/>
                </a:solidFill>
                <a:latin typeface="Times New Roman"/>
                <a:cs typeface="Times New Roman"/>
              </a:rPr>
              <a:t> </a:t>
            </a:r>
            <a:r>
              <a:rPr sz="2400" b="1" dirty="0">
                <a:solidFill>
                  <a:srgbClr val="006FC0"/>
                </a:solidFill>
                <a:latin typeface="Times New Roman"/>
                <a:cs typeface="Times New Roman"/>
              </a:rPr>
              <a:t>SUCCESS</a:t>
            </a:r>
            <a:r>
              <a:rPr sz="2400" b="1" spc="-30" dirty="0">
                <a:solidFill>
                  <a:srgbClr val="006FC0"/>
                </a:solidFill>
                <a:latin typeface="Times New Roman"/>
                <a:cs typeface="Times New Roman"/>
              </a:rPr>
              <a:t> </a:t>
            </a:r>
            <a:r>
              <a:rPr sz="2400" b="1" spc="-10" dirty="0">
                <a:solidFill>
                  <a:srgbClr val="006FC0"/>
                </a:solidFill>
                <a:latin typeface="Times New Roman"/>
                <a:cs typeface="Times New Roman"/>
              </a:rPr>
              <a:t>INTERN</a:t>
            </a:r>
            <a:endParaRPr sz="2400">
              <a:latin typeface="Times New Roman"/>
              <a:cs typeface="Times New Roman"/>
            </a:endParaRPr>
          </a:p>
        </p:txBody>
      </p:sp>
      <p:graphicFrame>
        <p:nvGraphicFramePr>
          <p:cNvPr id="4" name="object 4"/>
          <p:cNvGraphicFramePr>
            <a:graphicFrameLocks noGrp="1"/>
          </p:cNvGraphicFramePr>
          <p:nvPr/>
        </p:nvGraphicFramePr>
        <p:xfrm>
          <a:off x="595553" y="1905507"/>
          <a:ext cx="5321935" cy="1462405"/>
        </p:xfrm>
        <a:graphic>
          <a:graphicData uri="http://schemas.openxmlformats.org/drawingml/2006/table">
            <a:tbl>
              <a:tblPr firstRow="1" bandRow="1">
                <a:tableStyleId>{2D5ABB26-0587-4C30-8999-92F81FD0307C}</a:tableStyleId>
              </a:tblPr>
              <a:tblGrid>
                <a:gridCol w="1371600"/>
                <a:gridCol w="3950335"/>
              </a:tblGrid>
              <a:tr h="365125">
                <a:tc gridSpan="2">
                  <a:txBody>
                    <a:bodyPr/>
                    <a:lstStyle/>
                    <a:p>
                      <a:pPr marL="635" algn="ctr">
                        <a:lnSpc>
                          <a:spcPct val="100000"/>
                        </a:lnSpc>
                        <a:spcBef>
                          <a:spcPts val="305"/>
                        </a:spcBef>
                      </a:pPr>
                      <a:r>
                        <a:rPr sz="1800" b="1" dirty="0">
                          <a:solidFill>
                            <a:srgbClr val="FFFFFF"/>
                          </a:solidFill>
                          <a:latin typeface="Cambria"/>
                          <a:cs typeface="Cambria"/>
                        </a:rPr>
                        <a:t>Student</a:t>
                      </a:r>
                      <a:r>
                        <a:rPr sz="1800" b="1" spc="-55" dirty="0">
                          <a:solidFill>
                            <a:srgbClr val="FFFFFF"/>
                          </a:solidFill>
                          <a:latin typeface="Cambria"/>
                          <a:cs typeface="Cambria"/>
                        </a:rPr>
                        <a:t> </a:t>
                      </a:r>
                      <a:r>
                        <a:rPr sz="1800" b="1" spc="-10" dirty="0">
                          <a:solidFill>
                            <a:srgbClr val="FFFFFF"/>
                          </a:solidFill>
                          <a:latin typeface="Cambria"/>
                          <a:cs typeface="Cambria"/>
                        </a:rPr>
                        <a:t>Details</a:t>
                      </a:r>
                      <a:endParaRPr sz="1800">
                        <a:latin typeface="Cambria"/>
                        <a:cs typeface="Cambria"/>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hMerge="1">
                  <a:txBody>
                    <a:bodyPr/>
                    <a:lstStyle/>
                    <a:p>
                      <a:endParaRPr/>
                    </a:p>
                  </a:txBody>
                  <a:tcPr marL="0" marR="0" marT="0" marB="0"/>
                </a:tc>
              </a:tr>
              <a:tr h="365760">
                <a:tc>
                  <a:txBody>
                    <a:bodyPr/>
                    <a:lstStyle/>
                    <a:p>
                      <a:pPr marL="91440">
                        <a:lnSpc>
                          <a:spcPct val="100000"/>
                        </a:lnSpc>
                        <a:spcBef>
                          <a:spcPts val="310"/>
                        </a:spcBef>
                      </a:pPr>
                      <a:r>
                        <a:rPr sz="1800" b="1" spc="-20" dirty="0">
                          <a:latin typeface="Cambria"/>
                          <a:cs typeface="Cambria"/>
                        </a:rPr>
                        <a:t>Name</a:t>
                      </a:r>
                      <a:endParaRPr sz="1800">
                        <a:latin typeface="Cambria"/>
                        <a:cs typeface="Cambria"/>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SHAMITHA</a:t>
                      </a:r>
                      <a:r>
                        <a:rPr lang="en-US" baseline="0" dirty="0" smtClean="0">
                          <a:latin typeface="Cambria" panose="02040503050406030204" pitchFamily="18" charset="0"/>
                          <a:ea typeface="Cambria" panose="02040503050406030204" pitchFamily="18" charset="0"/>
                          <a:cs typeface="Times New Roman" panose="02020603050405020304" pitchFamily="18" charset="0"/>
                        </a:rPr>
                        <a:t> VIJAYAKUMAR</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r>
              <a:tr h="365760">
                <a:tc>
                  <a:txBody>
                    <a:bodyPr/>
                    <a:lstStyle/>
                    <a:p>
                      <a:pPr marL="91440">
                        <a:lnSpc>
                          <a:spcPct val="100000"/>
                        </a:lnSpc>
                        <a:spcBef>
                          <a:spcPts val="315"/>
                        </a:spcBef>
                      </a:pPr>
                      <a:r>
                        <a:rPr sz="1800" b="1" dirty="0">
                          <a:latin typeface="Cambria"/>
                          <a:cs typeface="Cambria"/>
                        </a:rPr>
                        <a:t>Roll</a:t>
                      </a:r>
                      <a:r>
                        <a:rPr sz="1800" b="1" spc="-50" dirty="0">
                          <a:latin typeface="Cambria"/>
                          <a:cs typeface="Cambria"/>
                        </a:rPr>
                        <a:t> </a:t>
                      </a:r>
                      <a:r>
                        <a:rPr sz="1800" b="1" spc="-25" dirty="0">
                          <a:latin typeface="Cambria"/>
                          <a:cs typeface="Cambria"/>
                        </a:rPr>
                        <a:t>No</a:t>
                      </a:r>
                      <a:endParaRPr sz="1800">
                        <a:latin typeface="Cambria"/>
                        <a:cs typeface="Cambria"/>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20221CSE0280</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365760">
                <a:tc>
                  <a:txBody>
                    <a:bodyPr/>
                    <a:lstStyle/>
                    <a:p>
                      <a:pPr marL="91440">
                        <a:lnSpc>
                          <a:spcPct val="100000"/>
                        </a:lnSpc>
                        <a:spcBef>
                          <a:spcPts val="320"/>
                        </a:spcBef>
                      </a:pPr>
                      <a:r>
                        <a:rPr sz="1800" b="1" spc="-10" dirty="0">
                          <a:latin typeface="Cambria"/>
                          <a:cs typeface="Cambria"/>
                        </a:rPr>
                        <a:t>Section</a:t>
                      </a:r>
                      <a:endParaRPr sz="1800">
                        <a:latin typeface="Cambria"/>
                        <a:cs typeface="Cambria"/>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8CSE08</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92175" y="118046"/>
            <a:ext cx="1903095" cy="701040"/>
          </a:xfrm>
          <a:prstGeom prst="rect">
            <a:avLst/>
          </a:prstGeom>
        </p:spPr>
        <p:txBody>
          <a:bodyPr vert="horz" wrap="square" lIns="0" tIns="16510" rIns="0" bIns="0" rtlCol="0">
            <a:spAutoFit/>
          </a:bodyPr>
          <a:lstStyle/>
          <a:p>
            <a:pPr marL="12700">
              <a:lnSpc>
                <a:spcPct val="100000"/>
              </a:lnSpc>
              <a:spcBef>
                <a:spcPts val="130"/>
              </a:spcBef>
            </a:pPr>
            <a:r>
              <a:rPr spc="-10" dirty="0">
                <a:solidFill>
                  <a:srgbClr val="000000"/>
                </a:solidFill>
                <a:latin typeface="Cambria"/>
                <a:cs typeface="Cambria"/>
              </a:rPr>
              <a:t>Content</a:t>
            </a:r>
          </a:p>
        </p:txBody>
      </p:sp>
      <p:sp>
        <p:nvSpPr>
          <p:cNvPr id="3" name="object 3"/>
          <p:cNvSpPr txBox="1"/>
          <p:nvPr/>
        </p:nvSpPr>
        <p:spPr>
          <a:xfrm>
            <a:off x="800734" y="1060386"/>
            <a:ext cx="3042285" cy="4606290"/>
          </a:xfrm>
          <a:prstGeom prst="rect">
            <a:avLst/>
          </a:prstGeom>
        </p:spPr>
        <p:txBody>
          <a:bodyPr vert="horz" wrap="square" lIns="0" tIns="12700" rIns="0" bIns="0" rtlCol="0">
            <a:spAutoFit/>
          </a:bodyPr>
          <a:lstStyle/>
          <a:p>
            <a:pPr marL="354965" indent="-342265">
              <a:lnSpc>
                <a:spcPct val="100000"/>
              </a:lnSpc>
              <a:spcBef>
                <a:spcPts val="100"/>
              </a:spcBef>
              <a:buFont typeface="Wingdings"/>
              <a:buChar char=""/>
              <a:tabLst>
                <a:tab pos="354965" algn="l"/>
              </a:tabLst>
            </a:pPr>
            <a:r>
              <a:rPr sz="1200" b="1" dirty="0">
                <a:solidFill>
                  <a:srgbClr val="006FC0"/>
                </a:solidFill>
                <a:latin typeface="Times New Roman"/>
                <a:cs typeface="Times New Roman"/>
              </a:rPr>
              <a:t>About</a:t>
            </a:r>
            <a:r>
              <a:rPr sz="1200" b="1" spc="-15" dirty="0">
                <a:solidFill>
                  <a:srgbClr val="006FC0"/>
                </a:solidFill>
                <a:latin typeface="Times New Roman"/>
                <a:cs typeface="Times New Roman"/>
              </a:rPr>
              <a:t> </a:t>
            </a:r>
            <a:r>
              <a:rPr sz="1200" b="1" dirty="0">
                <a:solidFill>
                  <a:srgbClr val="006FC0"/>
                </a:solidFill>
                <a:latin typeface="Times New Roman"/>
                <a:cs typeface="Times New Roman"/>
              </a:rPr>
              <a:t>Company</a:t>
            </a:r>
            <a:r>
              <a:rPr sz="1200" b="1" spc="-60" dirty="0">
                <a:solidFill>
                  <a:srgbClr val="006FC0"/>
                </a:solidFill>
                <a:latin typeface="Times New Roman"/>
                <a:cs typeface="Times New Roman"/>
              </a:rPr>
              <a:t> </a:t>
            </a:r>
            <a:r>
              <a:rPr sz="1200" b="1" dirty="0">
                <a:solidFill>
                  <a:srgbClr val="006FC0"/>
                </a:solidFill>
                <a:latin typeface="Times New Roman"/>
                <a:cs typeface="Times New Roman"/>
              </a:rPr>
              <a:t>or</a:t>
            </a:r>
            <a:r>
              <a:rPr sz="1200" b="1" spc="-35" dirty="0">
                <a:solidFill>
                  <a:srgbClr val="006FC0"/>
                </a:solidFill>
                <a:latin typeface="Times New Roman"/>
                <a:cs typeface="Times New Roman"/>
              </a:rPr>
              <a:t> </a:t>
            </a:r>
            <a:r>
              <a:rPr sz="1200" b="1" spc="-10" dirty="0">
                <a:solidFill>
                  <a:srgbClr val="006FC0"/>
                </a:solidFill>
                <a:latin typeface="Times New Roman"/>
                <a:cs typeface="Times New Roman"/>
              </a:rPr>
              <a:t>Organization</a:t>
            </a:r>
            <a:endParaRPr sz="1200">
              <a:latin typeface="Times New Roman"/>
              <a:cs typeface="Times New Roman"/>
            </a:endParaRPr>
          </a:p>
          <a:p>
            <a:pPr>
              <a:lnSpc>
                <a:spcPct val="100000"/>
              </a:lnSpc>
              <a:spcBef>
                <a:spcPts val="3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spc="-10" dirty="0">
                <a:solidFill>
                  <a:srgbClr val="2E5496"/>
                </a:solidFill>
                <a:latin typeface="Times New Roman"/>
                <a:cs typeface="Times New Roman"/>
              </a:rPr>
              <a:t>Working</a:t>
            </a:r>
            <a:r>
              <a:rPr sz="1200" b="1" spc="-5" dirty="0">
                <a:solidFill>
                  <a:srgbClr val="2E5496"/>
                </a:solidFill>
                <a:latin typeface="Times New Roman"/>
                <a:cs typeface="Times New Roman"/>
              </a:rPr>
              <a:t> </a:t>
            </a:r>
            <a:r>
              <a:rPr sz="1200" b="1" dirty="0">
                <a:solidFill>
                  <a:srgbClr val="2E5496"/>
                </a:solidFill>
                <a:latin typeface="Times New Roman"/>
                <a:cs typeface="Times New Roman"/>
              </a:rPr>
              <a:t>domain</a:t>
            </a:r>
            <a:r>
              <a:rPr sz="1200" b="1" spc="-60" dirty="0">
                <a:solidFill>
                  <a:srgbClr val="2E5496"/>
                </a:solidFill>
                <a:latin typeface="Times New Roman"/>
                <a:cs typeface="Times New Roman"/>
              </a:rPr>
              <a:t> </a:t>
            </a:r>
            <a:r>
              <a:rPr sz="1200" b="1" dirty="0">
                <a:solidFill>
                  <a:srgbClr val="2E5496"/>
                </a:solidFill>
                <a:latin typeface="Times New Roman"/>
                <a:cs typeface="Times New Roman"/>
              </a:rPr>
              <a:t>or</a:t>
            </a:r>
            <a:r>
              <a:rPr sz="1200" b="1" spc="-45" dirty="0">
                <a:solidFill>
                  <a:srgbClr val="2E5496"/>
                </a:solidFill>
                <a:latin typeface="Times New Roman"/>
                <a:cs typeface="Times New Roman"/>
              </a:rPr>
              <a:t> </a:t>
            </a:r>
            <a:r>
              <a:rPr sz="1200" b="1" dirty="0">
                <a:solidFill>
                  <a:srgbClr val="2E5496"/>
                </a:solidFill>
                <a:latin typeface="Times New Roman"/>
                <a:cs typeface="Times New Roman"/>
              </a:rPr>
              <a:t>the</a:t>
            </a:r>
            <a:r>
              <a:rPr sz="1200" b="1" spc="-10" dirty="0">
                <a:solidFill>
                  <a:srgbClr val="2E5496"/>
                </a:solidFill>
                <a:latin typeface="Times New Roman"/>
                <a:cs typeface="Times New Roman"/>
              </a:rPr>
              <a:t> technology</a:t>
            </a:r>
            <a:endParaRPr sz="1200">
              <a:latin typeface="Times New Roman"/>
              <a:cs typeface="Times New Roman"/>
            </a:endParaRPr>
          </a:p>
          <a:p>
            <a:pPr>
              <a:lnSpc>
                <a:spcPct val="100000"/>
              </a:lnSpc>
              <a:spcBef>
                <a:spcPts val="110"/>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About</a:t>
            </a:r>
            <a:r>
              <a:rPr sz="1200" b="1" spc="-10" dirty="0">
                <a:solidFill>
                  <a:srgbClr val="2E5496"/>
                </a:solidFill>
                <a:latin typeface="Times New Roman"/>
                <a:cs typeface="Times New Roman"/>
              </a:rPr>
              <a:t> </a:t>
            </a:r>
            <a:r>
              <a:rPr sz="1200" b="1" dirty="0">
                <a:solidFill>
                  <a:srgbClr val="2E5496"/>
                </a:solidFill>
                <a:latin typeface="Times New Roman"/>
                <a:cs typeface="Times New Roman"/>
              </a:rPr>
              <a:t>your</a:t>
            </a:r>
            <a:r>
              <a:rPr sz="1200" b="1" spc="-45" dirty="0">
                <a:solidFill>
                  <a:srgbClr val="2E5496"/>
                </a:solidFill>
                <a:latin typeface="Times New Roman"/>
                <a:cs typeface="Times New Roman"/>
              </a:rPr>
              <a:t> </a:t>
            </a:r>
            <a:r>
              <a:rPr sz="1200" b="1" dirty="0">
                <a:solidFill>
                  <a:srgbClr val="2E5496"/>
                </a:solidFill>
                <a:latin typeface="Times New Roman"/>
                <a:cs typeface="Times New Roman"/>
              </a:rPr>
              <a:t>team</a:t>
            </a:r>
            <a:r>
              <a:rPr sz="1200" b="1" spc="-50" dirty="0">
                <a:solidFill>
                  <a:srgbClr val="2E5496"/>
                </a:solidFill>
                <a:latin typeface="Times New Roman"/>
                <a:cs typeface="Times New Roman"/>
              </a:rPr>
              <a:t> </a:t>
            </a:r>
            <a:r>
              <a:rPr sz="1200" b="1" dirty="0">
                <a:solidFill>
                  <a:srgbClr val="2E5496"/>
                </a:solidFill>
                <a:latin typeface="Times New Roman"/>
                <a:cs typeface="Times New Roman"/>
              </a:rPr>
              <a:t>and</a:t>
            </a:r>
            <a:r>
              <a:rPr sz="1200" b="1" spc="-30" dirty="0">
                <a:solidFill>
                  <a:srgbClr val="2E5496"/>
                </a:solidFill>
                <a:latin typeface="Times New Roman"/>
                <a:cs typeface="Times New Roman"/>
              </a:rPr>
              <a:t> </a:t>
            </a:r>
            <a:r>
              <a:rPr sz="1200" b="1" dirty="0">
                <a:solidFill>
                  <a:srgbClr val="2E5496"/>
                </a:solidFill>
                <a:latin typeface="Times New Roman"/>
                <a:cs typeface="Times New Roman"/>
              </a:rPr>
              <a:t>reporting</a:t>
            </a:r>
            <a:r>
              <a:rPr sz="1200" b="1" spc="-30" dirty="0">
                <a:solidFill>
                  <a:srgbClr val="2E5496"/>
                </a:solidFill>
                <a:latin typeface="Times New Roman"/>
                <a:cs typeface="Times New Roman"/>
              </a:rPr>
              <a:t> </a:t>
            </a:r>
            <a:r>
              <a:rPr sz="1200" b="1" spc="-10" dirty="0">
                <a:solidFill>
                  <a:srgbClr val="2E5496"/>
                </a:solidFill>
                <a:latin typeface="Times New Roman"/>
                <a:cs typeface="Times New Roman"/>
              </a:rPr>
              <a:t>Manager</a:t>
            </a:r>
            <a:endParaRPr sz="1200">
              <a:latin typeface="Times New Roman"/>
              <a:cs typeface="Times New Roman"/>
            </a:endParaRPr>
          </a:p>
          <a:p>
            <a:pPr>
              <a:lnSpc>
                <a:spcPct val="100000"/>
              </a:lnSpc>
              <a:spcBef>
                <a:spcPts val="3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Challenges</a:t>
            </a:r>
            <a:r>
              <a:rPr sz="1200" b="1" spc="-55" dirty="0">
                <a:solidFill>
                  <a:srgbClr val="2E5496"/>
                </a:solidFill>
                <a:latin typeface="Times New Roman"/>
                <a:cs typeface="Times New Roman"/>
              </a:rPr>
              <a:t> </a:t>
            </a:r>
            <a:r>
              <a:rPr sz="1200" b="1" dirty="0">
                <a:solidFill>
                  <a:srgbClr val="2E5496"/>
                </a:solidFill>
                <a:latin typeface="Times New Roman"/>
                <a:cs typeface="Times New Roman"/>
              </a:rPr>
              <a:t>Faced</a:t>
            </a:r>
            <a:r>
              <a:rPr sz="1200" b="1" spc="5" dirty="0">
                <a:solidFill>
                  <a:srgbClr val="2E5496"/>
                </a:solidFill>
                <a:latin typeface="Times New Roman"/>
                <a:cs typeface="Times New Roman"/>
              </a:rPr>
              <a:t> </a:t>
            </a:r>
            <a:r>
              <a:rPr sz="1200" b="1" dirty="0">
                <a:solidFill>
                  <a:srgbClr val="2E5496"/>
                </a:solidFill>
                <a:latin typeface="Times New Roman"/>
                <a:cs typeface="Times New Roman"/>
              </a:rPr>
              <a:t>in</a:t>
            </a:r>
            <a:r>
              <a:rPr sz="1200" b="1" spc="-45" dirty="0">
                <a:solidFill>
                  <a:srgbClr val="2E5496"/>
                </a:solidFill>
                <a:latin typeface="Times New Roman"/>
                <a:cs typeface="Times New Roman"/>
              </a:rPr>
              <a:t> </a:t>
            </a:r>
            <a:r>
              <a:rPr sz="1200" b="1" spc="-10" dirty="0">
                <a:solidFill>
                  <a:srgbClr val="2E5496"/>
                </a:solidFill>
                <a:latin typeface="Times New Roman"/>
                <a:cs typeface="Times New Roman"/>
              </a:rPr>
              <a:t>Internship</a:t>
            </a:r>
            <a:endParaRPr sz="1200">
              <a:latin typeface="Times New Roman"/>
              <a:cs typeface="Times New Roman"/>
            </a:endParaRPr>
          </a:p>
          <a:p>
            <a:pPr>
              <a:lnSpc>
                <a:spcPct val="100000"/>
              </a:lnSpc>
              <a:spcBef>
                <a:spcPts val="3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Objectives</a:t>
            </a:r>
            <a:r>
              <a:rPr sz="1200" b="1" spc="-45" dirty="0">
                <a:solidFill>
                  <a:srgbClr val="2E5496"/>
                </a:solidFill>
                <a:latin typeface="Times New Roman"/>
                <a:cs typeface="Times New Roman"/>
              </a:rPr>
              <a:t> </a:t>
            </a:r>
            <a:r>
              <a:rPr sz="1200" b="1" dirty="0">
                <a:solidFill>
                  <a:srgbClr val="2E5496"/>
                </a:solidFill>
                <a:latin typeface="Times New Roman"/>
                <a:cs typeface="Times New Roman"/>
              </a:rPr>
              <a:t>of</a:t>
            </a:r>
            <a:r>
              <a:rPr sz="1200" b="1" spc="-25" dirty="0">
                <a:solidFill>
                  <a:srgbClr val="2E5496"/>
                </a:solidFill>
                <a:latin typeface="Times New Roman"/>
                <a:cs typeface="Times New Roman"/>
              </a:rPr>
              <a:t> </a:t>
            </a:r>
            <a:r>
              <a:rPr sz="1200" b="1" dirty="0">
                <a:solidFill>
                  <a:srgbClr val="2E5496"/>
                </a:solidFill>
                <a:latin typeface="Times New Roman"/>
                <a:cs typeface="Times New Roman"/>
              </a:rPr>
              <a:t>the</a:t>
            </a:r>
            <a:r>
              <a:rPr sz="1200" b="1" spc="-20" dirty="0">
                <a:solidFill>
                  <a:srgbClr val="2E5496"/>
                </a:solidFill>
                <a:latin typeface="Times New Roman"/>
                <a:cs typeface="Times New Roman"/>
              </a:rPr>
              <a:t> work</a:t>
            </a:r>
            <a:endParaRPr sz="1200">
              <a:latin typeface="Times New Roman"/>
              <a:cs typeface="Times New Roman"/>
            </a:endParaRPr>
          </a:p>
          <a:p>
            <a:pPr>
              <a:lnSpc>
                <a:spcPct val="100000"/>
              </a:lnSpc>
              <a:spcBef>
                <a:spcPts val="105"/>
              </a:spcBef>
              <a:buFont typeface="Wingdings"/>
              <a:buChar char=""/>
            </a:pPr>
            <a:endParaRPr sz="1200">
              <a:latin typeface="Times New Roman"/>
              <a:cs typeface="Times New Roman"/>
            </a:endParaRPr>
          </a:p>
          <a:p>
            <a:pPr marL="354965" indent="-342265">
              <a:lnSpc>
                <a:spcPct val="100000"/>
              </a:lnSpc>
              <a:spcBef>
                <a:spcPts val="5"/>
              </a:spcBef>
              <a:buFont typeface="Wingdings"/>
              <a:buChar char=""/>
              <a:tabLst>
                <a:tab pos="354965" algn="l"/>
              </a:tabLst>
            </a:pPr>
            <a:r>
              <a:rPr sz="1200" b="1" dirty="0">
                <a:solidFill>
                  <a:srgbClr val="2E5496"/>
                </a:solidFill>
                <a:latin typeface="Times New Roman"/>
                <a:cs typeface="Times New Roman"/>
              </a:rPr>
              <a:t>Proposed</a:t>
            </a:r>
            <a:r>
              <a:rPr sz="1200" b="1" spc="-75" dirty="0">
                <a:solidFill>
                  <a:srgbClr val="2E5496"/>
                </a:solidFill>
                <a:latin typeface="Times New Roman"/>
                <a:cs typeface="Times New Roman"/>
              </a:rPr>
              <a:t> </a:t>
            </a:r>
            <a:r>
              <a:rPr sz="1200" b="1" spc="-10" dirty="0">
                <a:solidFill>
                  <a:srgbClr val="2E5496"/>
                </a:solidFill>
                <a:latin typeface="Times New Roman"/>
                <a:cs typeface="Times New Roman"/>
              </a:rPr>
              <a:t>System</a:t>
            </a:r>
            <a:endParaRPr sz="1200">
              <a:latin typeface="Times New Roman"/>
              <a:cs typeface="Times New Roman"/>
            </a:endParaRPr>
          </a:p>
          <a:p>
            <a:pPr>
              <a:lnSpc>
                <a:spcPct val="100000"/>
              </a:lnSpc>
              <a:spcBef>
                <a:spcPts val="30"/>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Problem</a:t>
            </a:r>
            <a:r>
              <a:rPr sz="1200" b="1" spc="-60" dirty="0">
                <a:solidFill>
                  <a:srgbClr val="2E5496"/>
                </a:solidFill>
                <a:latin typeface="Times New Roman"/>
                <a:cs typeface="Times New Roman"/>
              </a:rPr>
              <a:t> </a:t>
            </a:r>
            <a:r>
              <a:rPr sz="1200" b="1" spc="-10" dirty="0">
                <a:solidFill>
                  <a:srgbClr val="2E5496"/>
                </a:solidFill>
                <a:latin typeface="Times New Roman"/>
                <a:cs typeface="Times New Roman"/>
              </a:rPr>
              <a:t>Statement</a:t>
            </a:r>
            <a:endParaRPr sz="1200">
              <a:latin typeface="Times New Roman"/>
              <a:cs typeface="Times New Roman"/>
            </a:endParaRPr>
          </a:p>
          <a:p>
            <a:pPr>
              <a:lnSpc>
                <a:spcPct val="100000"/>
              </a:lnSpc>
              <a:spcBef>
                <a:spcPts val="110"/>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System</a:t>
            </a:r>
            <a:r>
              <a:rPr sz="1200" b="1" spc="-40" dirty="0">
                <a:solidFill>
                  <a:srgbClr val="2E5496"/>
                </a:solidFill>
                <a:latin typeface="Times New Roman"/>
                <a:cs typeface="Times New Roman"/>
              </a:rPr>
              <a:t> </a:t>
            </a:r>
            <a:r>
              <a:rPr sz="1200" b="1" spc="-10" dirty="0">
                <a:solidFill>
                  <a:srgbClr val="2E5496"/>
                </a:solidFill>
                <a:latin typeface="Times New Roman"/>
                <a:cs typeface="Times New Roman"/>
              </a:rPr>
              <a:t>Requirements</a:t>
            </a:r>
            <a:endParaRPr sz="1200">
              <a:latin typeface="Times New Roman"/>
              <a:cs typeface="Times New Roman"/>
            </a:endParaRPr>
          </a:p>
          <a:p>
            <a:pPr>
              <a:lnSpc>
                <a:spcPct val="100000"/>
              </a:lnSpc>
              <a:spcBef>
                <a:spcPts val="3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Advantages</a:t>
            </a:r>
            <a:r>
              <a:rPr sz="1200" b="1" spc="-75" dirty="0">
                <a:solidFill>
                  <a:srgbClr val="2E5496"/>
                </a:solidFill>
                <a:latin typeface="Times New Roman"/>
                <a:cs typeface="Times New Roman"/>
              </a:rPr>
              <a:t> </a:t>
            </a:r>
            <a:r>
              <a:rPr sz="1200" b="1" dirty="0">
                <a:solidFill>
                  <a:srgbClr val="2E5496"/>
                </a:solidFill>
                <a:latin typeface="Times New Roman"/>
                <a:cs typeface="Times New Roman"/>
              </a:rPr>
              <a:t>of</a:t>
            </a:r>
            <a:r>
              <a:rPr sz="1200" b="1" spc="-25" dirty="0">
                <a:solidFill>
                  <a:srgbClr val="2E5496"/>
                </a:solidFill>
                <a:latin typeface="Times New Roman"/>
                <a:cs typeface="Times New Roman"/>
              </a:rPr>
              <a:t> </a:t>
            </a:r>
            <a:r>
              <a:rPr sz="1200" b="1" dirty="0">
                <a:solidFill>
                  <a:srgbClr val="2E5496"/>
                </a:solidFill>
                <a:latin typeface="Times New Roman"/>
                <a:cs typeface="Times New Roman"/>
              </a:rPr>
              <a:t>proposed</a:t>
            </a:r>
            <a:r>
              <a:rPr sz="1200" b="1" spc="-40" dirty="0">
                <a:solidFill>
                  <a:srgbClr val="2E5496"/>
                </a:solidFill>
                <a:latin typeface="Times New Roman"/>
                <a:cs typeface="Times New Roman"/>
              </a:rPr>
              <a:t> </a:t>
            </a:r>
            <a:r>
              <a:rPr sz="1200" b="1" spc="-10" dirty="0">
                <a:solidFill>
                  <a:srgbClr val="2E5496"/>
                </a:solidFill>
                <a:latin typeface="Times New Roman"/>
                <a:cs typeface="Times New Roman"/>
              </a:rPr>
              <a:t>System</a:t>
            </a:r>
            <a:endParaRPr sz="1200">
              <a:latin typeface="Times New Roman"/>
              <a:cs typeface="Times New Roman"/>
            </a:endParaRPr>
          </a:p>
          <a:p>
            <a:pPr>
              <a:lnSpc>
                <a:spcPct val="100000"/>
              </a:lnSpc>
              <a:spcBef>
                <a:spcPts val="3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System</a:t>
            </a:r>
            <a:r>
              <a:rPr sz="1200" b="1" spc="-40" dirty="0">
                <a:solidFill>
                  <a:srgbClr val="2E5496"/>
                </a:solidFill>
                <a:latin typeface="Times New Roman"/>
                <a:cs typeface="Times New Roman"/>
              </a:rPr>
              <a:t> </a:t>
            </a:r>
            <a:r>
              <a:rPr sz="1200" b="1" spc="-10" dirty="0">
                <a:solidFill>
                  <a:srgbClr val="2E5496"/>
                </a:solidFill>
                <a:latin typeface="Times New Roman"/>
                <a:cs typeface="Times New Roman"/>
              </a:rPr>
              <a:t>Design</a:t>
            </a:r>
            <a:endParaRPr sz="1200">
              <a:latin typeface="Times New Roman"/>
              <a:cs typeface="Times New Roman"/>
            </a:endParaRPr>
          </a:p>
          <a:p>
            <a:pPr>
              <a:lnSpc>
                <a:spcPct val="100000"/>
              </a:lnSpc>
              <a:spcBef>
                <a:spcPts val="10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System</a:t>
            </a:r>
            <a:r>
              <a:rPr sz="1200" b="1" spc="-35" dirty="0">
                <a:solidFill>
                  <a:srgbClr val="2E5496"/>
                </a:solidFill>
                <a:latin typeface="Times New Roman"/>
                <a:cs typeface="Times New Roman"/>
              </a:rPr>
              <a:t> </a:t>
            </a:r>
            <a:r>
              <a:rPr sz="1200" b="1" spc="-10" dirty="0">
                <a:solidFill>
                  <a:srgbClr val="2E5496"/>
                </a:solidFill>
                <a:latin typeface="Times New Roman"/>
                <a:cs typeface="Times New Roman"/>
              </a:rPr>
              <a:t>Implementation</a:t>
            </a:r>
            <a:endParaRPr sz="1200">
              <a:latin typeface="Times New Roman"/>
              <a:cs typeface="Times New Roman"/>
            </a:endParaRPr>
          </a:p>
          <a:p>
            <a:pPr>
              <a:lnSpc>
                <a:spcPct val="100000"/>
              </a:lnSpc>
              <a:spcBef>
                <a:spcPts val="35"/>
              </a:spcBef>
              <a:buFont typeface="Wingdings"/>
              <a:buChar char=""/>
            </a:pPr>
            <a:endParaRPr sz="1200">
              <a:latin typeface="Times New Roman"/>
              <a:cs typeface="Times New Roman"/>
            </a:endParaRPr>
          </a:p>
          <a:p>
            <a:pPr marL="354965" indent="-342265">
              <a:lnSpc>
                <a:spcPct val="100000"/>
              </a:lnSpc>
              <a:buFont typeface="Wingdings"/>
              <a:buChar char=""/>
              <a:tabLst>
                <a:tab pos="354965" algn="l"/>
              </a:tabLst>
            </a:pPr>
            <a:r>
              <a:rPr sz="1200" b="1" dirty="0">
                <a:solidFill>
                  <a:srgbClr val="2E5496"/>
                </a:solidFill>
                <a:latin typeface="Times New Roman"/>
                <a:cs typeface="Times New Roman"/>
              </a:rPr>
              <a:t>Internship</a:t>
            </a:r>
            <a:r>
              <a:rPr sz="1200" b="1" spc="-55" dirty="0">
                <a:solidFill>
                  <a:srgbClr val="2E5496"/>
                </a:solidFill>
                <a:latin typeface="Times New Roman"/>
                <a:cs typeface="Times New Roman"/>
              </a:rPr>
              <a:t> </a:t>
            </a:r>
            <a:r>
              <a:rPr sz="1200" b="1" spc="-10" dirty="0">
                <a:solidFill>
                  <a:srgbClr val="2E5496"/>
                </a:solidFill>
                <a:latin typeface="Times New Roman"/>
                <a:cs typeface="Times New Roman"/>
              </a:rPr>
              <a:t>Roadmap</a:t>
            </a:r>
            <a:endParaRPr sz="1200">
              <a:latin typeface="Times New Roman"/>
              <a:cs typeface="Times New Roman"/>
            </a:endParaRPr>
          </a:p>
          <a:p>
            <a:pPr>
              <a:lnSpc>
                <a:spcPct val="100000"/>
              </a:lnSpc>
              <a:spcBef>
                <a:spcPts val="110"/>
              </a:spcBef>
              <a:buFont typeface="Wingdings"/>
              <a:buChar char=""/>
            </a:pPr>
            <a:endParaRPr sz="1200">
              <a:latin typeface="Times New Roman"/>
              <a:cs typeface="Times New Roman"/>
            </a:endParaRPr>
          </a:p>
          <a:p>
            <a:pPr marL="354965" indent="-342265">
              <a:lnSpc>
                <a:spcPct val="100000"/>
              </a:lnSpc>
              <a:spcBef>
                <a:spcPts val="5"/>
              </a:spcBef>
              <a:buFont typeface="Wingdings"/>
              <a:buChar char=""/>
              <a:tabLst>
                <a:tab pos="354965" algn="l"/>
              </a:tabLst>
            </a:pPr>
            <a:r>
              <a:rPr sz="1200" b="1" dirty="0">
                <a:solidFill>
                  <a:srgbClr val="2E5496"/>
                </a:solidFill>
                <a:latin typeface="Times New Roman"/>
                <a:cs typeface="Times New Roman"/>
              </a:rPr>
              <a:t>Github</a:t>
            </a:r>
            <a:r>
              <a:rPr sz="1200" b="1" spc="-50" dirty="0">
                <a:solidFill>
                  <a:srgbClr val="2E5496"/>
                </a:solidFill>
                <a:latin typeface="Times New Roman"/>
                <a:cs typeface="Times New Roman"/>
              </a:rPr>
              <a:t> </a:t>
            </a:r>
            <a:r>
              <a:rPr sz="1200" b="1" spc="-20" dirty="0">
                <a:solidFill>
                  <a:srgbClr val="2E5496"/>
                </a:solidFill>
                <a:latin typeface="Times New Roman"/>
                <a:cs typeface="Times New Roman"/>
              </a:rPr>
              <a:t>Link</a:t>
            </a:r>
            <a:endParaRPr sz="12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575" y="406780"/>
            <a:ext cx="5794375" cy="518159"/>
          </a:xfrm>
          <a:prstGeom prst="rect">
            <a:avLst/>
          </a:prstGeom>
        </p:spPr>
        <p:txBody>
          <a:bodyPr vert="horz" wrap="square" lIns="0" tIns="16510" rIns="0" bIns="0" rtlCol="0">
            <a:spAutoFit/>
          </a:bodyPr>
          <a:lstStyle/>
          <a:p>
            <a:pPr marL="12700">
              <a:lnSpc>
                <a:spcPct val="100000"/>
              </a:lnSpc>
              <a:spcBef>
                <a:spcPts val="130"/>
              </a:spcBef>
            </a:pPr>
            <a:r>
              <a:rPr sz="3200" b="1" dirty="0">
                <a:solidFill>
                  <a:srgbClr val="006FC0"/>
                </a:solidFill>
                <a:latin typeface="Times New Roman"/>
                <a:cs typeface="Times New Roman"/>
              </a:rPr>
              <a:t>About</a:t>
            </a:r>
            <a:r>
              <a:rPr sz="3200" b="1" spc="-80" dirty="0">
                <a:solidFill>
                  <a:srgbClr val="006FC0"/>
                </a:solidFill>
                <a:latin typeface="Times New Roman"/>
                <a:cs typeface="Times New Roman"/>
              </a:rPr>
              <a:t> </a:t>
            </a:r>
            <a:r>
              <a:rPr sz="3200" b="1" dirty="0">
                <a:solidFill>
                  <a:srgbClr val="006FC0"/>
                </a:solidFill>
                <a:latin typeface="Times New Roman"/>
                <a:cs typeface="Times New Roman"/>
              </a:rPr>
              <a:t>Company</a:t>
            </a:r>
            <a:r>
              <a:rPr sz="3200" b="1" spc="-20" dirty="0">
                <a:solidFill>
                  <a:srgbClr val="006FC0"/>
                </a:solidFill>
                <a:latin typeface="Times New Roman"/>
                <a:cs typeface="Times New Roman"/>
              </a:rPr>
              <a:t> </a:t>
            </a:r>
            <a:r>
              <a:rPr sz="3200" b="1" dirty="0">
                <a:solidFill>
                  <a:srgbClr val="006FC0"/>
                </a:solidFill>
                <a:latin typeface="Times New Roman"/>
                <a:cs typeface="Times New Roman"/>
              </a:rPr>
              <a:t>or</a:t>
            </a:r>
            <a:r>
              <a:rPr sz="3200" b="1" spc="-70" dirty="0">
                <a:solidFill>
                  <a:srgbClr val="006FC0"/>
                </a:solidFill>
                <a:latin typeface="Times New Roman"/>
                <a:cs typeface="Times New Roman"/>
              </a:rPr>
              <a:t> </a:t>
            </a:r>
            <a:r>
              <a:rPr sz="3200" b="1" spc="-10" dirty="0">
                <a:solidFill>
                  <a:srgbClr val="006FC0"/>
                </a:solidFill>
                <a:latin typeface="Times New Roman"/>
                <a:cs typeface="Times New Roman"/>
              </a:rPr>
              <a:t>Organization</a:t>
            </a:r>
            <a:endParaRPr sz="3200">
              <a:latin typeface="Times New Roman"/>
              <a:cs typeface="Times New Roman"/>
            </a:endParaRPr>
          </a:p>
        </p:txBody>
      </p:sp>
      <p:sp>
        <p:nvSpPr>
          <p:cNvPr id="3" name="object 3"/>
          <p:cNvSpPr txBox="1"/>
          <p:nvPr/>
        </p:nvSpPr>
        <p:spPr>
          <a:xfrm>
            <a:off x="914400" y="1066800"/>
            <a:ext cx="10333990" cy="4565352"/>
          </a:xfrm>
          <a:prstGeom prst="rect">
            <a:avLst/>
          </a:prstGeom>
        </p:spPr>
        <p:txBody>
          <a:bodyPr vert="horz" wrap="square" lIns="0" tIns="15875" rIns="0" bIns="0" rtlCol="0">
            <a:spAutoFit/>
          </a:bodyPr>
          <a:lstStyle/>
          <a:p>
            <a:pPr marL="241935" indent="-229235">
              <a:lnSpc>
                <a:spcPts val="2230"/>
              </a:lnSpc>
              <a:spcBef>
                <a:spcPts val="125"/>
              </a:spcBef>
              <a:buFont typeface="Arial MT"/>
              <a:buChar char="•"/>
              <a:tabLst>
                <a:tab pos="241935" algn="l"/>
              </a:tabLst>
            </a:pPr>
            <a:r>
              <a:rPr sz="2200" smtClean="0">
                <a:latin typeface="Times New Roman" pitchFamily="18" charset="0"/>
                <a:cs typeface="Times New Roman" pitchFamily="18" charset="0"/>
              </a:rPr>
              <a:t>Talent</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Recruit</a:t>
            </a:r>
            <a:r>
              <a:rPr sz="2200" spc="5" smtClean="0">
                <a:latin typeface="Times New Roman" pitchFamily="18" charset="0"/>
                <a:cs typeface="Times New Roman" pitchFamily="18" charset="0"/>
              </a:rPr>
              <a:t> </a:t>
            </a:r>
            <a:r>
              <a:rPr sz="2200" smtClean="0">
                <a:latin typeface="Times New Roman" pitchFamily="18" charset="0"/>
                <a:cs typeface="Times New Roman" pitchFamily="18" charset="0"/>
              </a:rPr>
              <a:t>is</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an</a:t>
            </a:r>
            <a:r>
              <a:rPr sz="2200" spc="45" smtClean="0">
                <a:latin typeface="Times New Roman" pitchFamily="18" charset="0"/>
                <a:cs typeface="Times New Roman" pitchFamily="18" charset="0"/>
              </a:rPr>
              <a:t> </a:t>
            </a:r>
            <a:r>
              <a:rPr sz="2200" smtClean="0">
                <a:latin typeface="Times New Roman" pitchFamily="18" charset="0"/>
                <a:cs typeface="Times New Roman" pitchFamily="18" charset="0"/>
              </a:rPr>
              <a:t>advanced</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Recruitment</a:t>
            </a:r>
            <a:r>
              <a:rPr sz="2200" spc="8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45" smtClean="0">
                <a:latin typeface="Times New Roman" pitchFamily="18" charset="0"/>
                <a:cs typeface="Times New Roman" pitchFamily="18" charset="0"/>
              </a:rPr>
              <a:t> </a:t>
            </a:r>
            <a:r>
              <a:rPr sz="2200" smtClean="0">
                <a:latin typeface="Times New Roman" pitchFamily="18" charset="0"/>
                <a:cs typeface="Times New Roman" pitchFamily="18" charset="0"/>
              </a:rPr>
              <a:t>Onboarding</a:t>
            </a:r>
            <a:r>
              <a:rPr sz="2200" spc="10" smtClean="0">
                <a:latin typeface="Times New Roman" pitchFamily="18" charset="0"/>
                <a:cs typeface="Times New Roman" pitchFamily="18" charset="0"/>
              </a:rPr>
              <a:t> </a:t>
            </a:r>
            <a:r>
              <a:rPr sz="2200" smtClean="0">
                <a:latin typeface="Times New Roman" pitchFamily="18" charset="0"/>
                <a:cs typeface="Times New Roman" pitchFamily="18" charset="0"/>
              </a:rPr>
              <a:t>platform</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designed</a:t>
            </a:r>
            <a:r>
              <a:rPr sz="2200" spc="45" smtClean="0">
                <a:latin typeface="Times New Roman" pitchFamily="18" charset="0"/>
                <a:cs typeface="Times New Roman" pitchFamily="18" charset="0"/>
              </a:rPr>
              <a:t> </a:t>
            </a:r>
            <a:r>
              <a:rPr sz="2200" smtClean="0">
                <a:latin typeface="Times New Roman" pitchFamily="18" charset="0"/>
                <a:cs typeface="Times New Roman" pitchFamily="18" charset="0"/>
              </a:rPr>
              <a:t>to</a:t>
            </a:r>
            <a:r>
              <a:rPr sz="2200" spc="114" smtClean="0">
                <a:latin typeface="Times New Roman" pitchFamily="18" charset="0"/>
                <a:cs typeface="Times New Roman" pitchFamily="18" charset="0"/>
              </a:rPr>
              <a:t> </a:t>
            </a:r>
            <a:r>
              <a:rPr sz="2200" spc="-10" smtClean="0">
                <a:latin typeface="Times New Roman" pitchFamily="18" charset="0"/>
                <a:cs typeface="Times New Roman" pitchFamily="18" charset="0"/>
              </a:rPr>
              <a:t>simplify,</a:t>
            </a:r>
            <a:endParaRPr sz="2200" smtClean="0">
              <a:latin typeface="Times New Roman" pitchFamily="18" charset="0"/>
              <a:cs typeface="Times New Roman" pitchFamily="18" charset="0"/>
            </a:endParaRPr>
          </a:p>
          <a:p>
            <a:pPr marL="241300">
              <a:lnSpc>
                <a:spcPts val="1880"/>
              </a:lnSpc>
            </a:pPr>
            <a:r>
              <a:rPr sz="2200" smtClean="0">
                <a:latin typeface="Times New Roman" pitchFamily="18" charset="0"/>
                <a:cs typeface="Times New Roman" pitchFamily="18" charset="0"/>
              </a:rPr>
              <a:t>automate,</a:t>
            </a:r>
            <a:r>
              <a:rPr sz="2200" spc="6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75" smtClean="0">
                <a:latin typeface="Times New Roman" pitchFamily="18" charset="0"/>
                <a:cs typeface="Times New Roman" pitchFamily="18" charset="0"/>
              </a:rPr>
              <a:t> </a:t>
            </a:r>
            <a:r>
              <a:rPr sz="2200" smtClean="0">
                <a:latin typeface="Times New Roman" pitchFamily="18" charset="0"/>
                <a:cs typeface="Times New Roman" pitchFamily="18" charset="0"/>
              </a:rPr>
              <a:t>enhance</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the</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entire</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hiring</a:t>
            </a:r>
            <a:r>
              <a:rPr sz="2200" spc="114" smtClean="0">
                <a:latin typeface="Times New Roman" pitchFamily="18" charset="0"/>
                <a:cs typeface="Times New Roman" pitchFamily="18" charset="0"/>
              </a:rPr>
              <a:t> </a:t>
            </a:r>
            <a:r>
              <a:rPr sz="2200" smtClean="0">
                <a:latin typeface="Times New Roman" pitchFamily="18" charset="0"/>
                <a:cs typeface="Times New Roman" pitchFamily="18" charset="0"/>
              </a:rPr>
              <a:t>lifecycle.</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It</a:t>
            </a:r>
            <a:r>
              <a:rPr sz="2200" spc="30" smtClean="0">
                <a:latin typeface="Times New Roman" pitchFamily="18" charset="0"/>
                <a:cs typeface="Times New Roman" pitchFamily="18" charset="0"/>
              </a:rPr>
              <a:t> </a:t>
            </a:r>
            <a:r>
              <a:rPr sz="2200" smtClean="0">
                <a:latin typeface="Times New Roman" pitchFamily="18" charset="0"/>
                <a:cs typeface="Times New Roman" pitchFamily="18" charset="0"/>
              </a:rPr>
              <a:t>leverages</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cutting-edge</a:t>
            </a:r>
            <a:r>
              <a:rPr sz="2200" spc="55" smtClean="0">
                <a:latin typeface="Times New Roman" pitchFamily="18" charset="0"/>
                <a:cs typeface="Times New Roman" pitchFamily="18" charset="0"/>
              </a:rPr>
              <a:t> </a:t>
            </a:r>
            <a:r>
              <a:rPr sz="2200" spc="-10" smtClean="0">
                <a:latin typeface="Times New Roman" pitchFamily="18" charset="0"/>
                <a:cs typeface="Times New Roman" pitchFamily="18" charset="0"/>
              </a:rPr>
              <a:t>technologies</a:t>
            </a:r>
            <a:endParaRPr sz="2200" smtClean="0">
              <a:latin typeface="Times New Roman" pitchFamily="18" charset="0"/>
              <a:cs typeface="Times New Roman" pitchFamily="18" charset="0"/>
            </a:endParaRPr>
          </a:p>
          <a:p>
            <a:pPr marL="241300" marR="123189">
              <a:lnSpc>
                <a:spcPct val="69800"/>
              </a:lnSpc>
              <a:spcBef>
                <a:spcPts val="430"/>
              </a:spcBef>
            </a:pPr>
            <a:r>
              <a:rPr sz="2200" smtClean="0">
                <a:latin typeface="Times New Roman" pitchFamily="18" charset="0"/>
                <a:cs typeface="Times New Roman" pitchFamily="18" charset="0"/>
              </a:rPr>
              <a:t>such</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as</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Machine</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Learning</a:t>
            </a:r>
            <a:r>
              <a:rPr sz="2200" spc="25"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Artificial</a:t>
            </a:r>
            <a:r>
              <a:rPr sz="2200" spc="25" smtClean="0">
                <a:latin typeface="Times New Roman" pitchFamily="18" charset="0"/>
                <a:cs typeface="Times New Roman" pitchFamily="18" charset="0"/>
              </a:rPr>
              <a:t> </a:t>
            </a:r>
            <a:r>
              <a:rPr sz="2200" smtClean="0">
                <a:latin typeface="Times New Roman" pitchFamily="18" charset="0"/>
                <a:cs typeface="Times New Roman" pitchFamily="18" charset="0"/>
              </a:rPr>
              <a:t>Intelligence</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to</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help</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organizations</a:t>
            </a:r>
            <a:r>
              <a:rPr sz="2200" spc="125" smtClean="0">
                <a:latin typeface="Times New Roman" pitchFamily="18" charset="0"/>
                <a:cs typeface="Times New Roman" pitchFamily="18" charset="0"/>
              </a:rPr>
              <a:t> </a:t>
            </a:r>
            <a:r>
              <a:rPr sz="2200" smtClean="0">
                <a:latin typeface="Times New Roman" pitchFamily="18" charset="0"/>
                <a:cs typeface="Times New Roman" pitchFamily="18" charset="0"/>
              </a:rPr>
              <a:t>attract,</a:t>
            </a:r>
            <a:r>
              <a:rPr sz="2200" spc="60" smtClean="0">
                <a:latin typeface="Times New Roman" pitchFamily="18" charset="0"/>
                <a:cs typeface="Times New Roman" pitchFamily="18" charset="0"/>
              </a:rPr>
              <a:t> </a:t>
            </a:r>
            <a:r>
              <a:rPr sz="2200" spc="-10" smtClean="0">
                <a:latin typeface="Times New Roman" pitchFamily="18" charset="0"/>
                <a:cs typeface="Times New Roman" pitchFamily="18" charset="0"/>
              </a:rPr>
              <a:t>screen, </a:t>
            </a:r>
            <a:r>
              <a:rPr sz="2200" smtClean="0">
                <a:latin typeface="Times New Roman" pitchFamily="18" charset="0"/>
                <a:cs typeface="Times New Roman" pitchFamily="18" charset="0"/>
              </a:rPr>
              <a:t>evaluate,</a:t>
            </a:r>
            <a:r>
              <a:rPr sz="2200" spc="25"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35" smtClean="0">
                <a:latin typeface="Times New Roman" pitchFamily="18" charset="0"/>
                <a:cs typeface="Times New Roman" pitchFamily="18" charset="0"/>
              </a:rPr>
              <a:t> </a:t>
            </a:r>
            <a:r>
              <a:rPr sz="2200" smtClean="0">
                <a:latin typeface="Times New Roman" pitchFamily="18" charset="0"/>
                <a:cs typeface="Times New Roman" pitchFamily="18" charset="0"/>
              </a:rPr>
              <a:t>hire</a:t>
            </a:r>
            <a:r>
              <a:rPr sz="2200" spc="90" smtClean="0">
                <a:latin typeface="Times New Roman" pitchFamily="18" charset="0"/>
                <a:cs typeface="Times New Roman" pitchFamily="18" charset="0"/>
              </a:rPr>
              <a:t> </a:t>
            </a:r>
            <a:r>
              <a:rPr sz="2200" smtClean="0">
                <a:latin typeface="Times New Roman" pitchFamily="18" charset="0"/>
                <a:cs typeface="Times New Roman" pitchFamily="18" charset="0"/>
              </a:rPr>
              <a:t>the</a:t>
            </a:r>
            <a:r>
              <a:rPr sz="2200" spc="15" smtClean="0">
                <a:latin typeface="Times New Roman" pitchFamily="18" charset="0"/>
                <a:cs typeface="Times New Roman" pitchFamily="18" charset="0"/>
              </a:rPr>
              <a:t> </a:t>
            </a:r>
            <a:r>
              <a:rPr sz="2200" smtClean="0">
                <a:latin typeface="Times New Roman" pitchFamily="18" charset="0"/>
                <a:cs typeface="Times New Roman" pitchFamily="18" charset="0"/>
              </a:rPr>
              <a:t>right</a:t>
            </a:r>
            <a:r>
              <a:rPr sz="2200" spc="-5" smtClean="0">
                <a:latin typeface="Times New Roman" pitchFamily="18" charset="0"/>
                <a:cs typeface="Times New Roman" pitchFamily="18" charset="0"/>
              </a:rPr>
              <a:t> </a:t>
            </a:r>
            <a:r>
              <a:rPr sz="2200" smtClean="0">
                <a:latin typeface="Times New Roman" pitchFamily="18" charset="0"/>
                <a:cs typeface="Times New Roman" pitchFamily="18" charset="0"/>
              </a:rPr>
              <a:t>talent</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efficiently</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35" smtClean="0">
                <a:latin typeface="Times New Roman" pitchFamily="18" charset="0"/>
                <a:cs typeface="Times New Roman" pitchFamily="18" charset="0"/>
              </a:rPr>
              <a:t> </a:t>
            </a:r>
            <a:r>
              <a:rPr sz="2200" spc="-10" smtClean="0">
                <a:latin typeface="Times New Roman" pitchFamily="18" charset="0"/>
                <a:cs typeface="Times New Roman" pitchFamily="18" charset="0"/>
              </a:rPr>
              <a:t>accurately.</a:t>
            </a:r>
            <a:endParaRPr lang="en-US" sz="2200" spc="-10" dirty="0" smtClean="0">
              <a:latin typeface="Times New Roman" pitchFamily="18" charset="0"/>
              <a:cs typeface="Times New Roman" pitchFamily="18" charset="0"/>
            </a:endParaRPr>
          </a:p>
          <a:p>
            <a:pPr marL="241300" marR="123189">
              <a:lnSpc>
                <a:spcPct val="69800"/>
              </a:lnSpc>
              <a:spcBef>
                <a:spcPts val="430"/>
              </a:spcBef>
            </a:pPr>
            <a:endParaRPr sz="2200" smtClean="0">
              <a:latin typeface="Times New Roman" pitchFamily="18" charset="0"/>
              <a:cs typeface="Times New Roman" pitchFamily="18" charset="0"/>
            </a:endParaRPr>
          </a:p>
          <a:p>
            <a:pPr marL="241935" indent="-229235">
              <a:lnSpc>
                <a:spcPts val="2230"/>
              </a:lnSpc>
              <a:spcBef>
                <a:spcPts val="275"/>
              </a:spcBef>
              <a:buFont typeface="Arial MT"/>
              <a:buChar char="•"/>
              <a:tabLst>
                <a:tab pos="241935" algn="l"/>
              </a:tabLst>
            </a:pPr>
            <a:r>
              <a:rPr sz="2200" smtClean="0">
                <a:latin typeface="Times New Roman" pitchFamily="18" charset="0"/>
                <a:cs typeface="Times New Roman" pitchFamily="18" charset="0"/>
              </a:rPr>
              <a:t>One</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of</a:t>
            </a:r>
            <a:r>
              <a:rPr sz="2200" spc="15" smtClean="0">
                <a:latin typeface="Times New Roman" pitchFamily="18" charset="0"/>
                <a:cs typeface="Times New Roman" pitchFamily="18" charset="0"/>
              </a:rPr>
              <a:t> </a:t>
            </a:r>
            <a:r>
              <a:rPr sz="2200" smtClean="0">
                <a:latin typeface="Times New Roman" pitchFamily="18" charset="0"/>
                <a:cs typeface="Times New Roman" pitchFamily="18" charset="0"/>
              </a:rPr>
              <a:t>its</a:t>
            </a:r>
            <a:r>
              <a:rPr sz="2200" spc="60" smtClean="0">
                <a:latin typeface="Times New Roman" pitchFamily="18" charset="0"/>
                <a:cs typeface="Times New Roman" pitchFamily="18" charset="0"/>
              </a:rPr>
              <a:t> </a:t>
            </a:r>
            <a:r>
              <a:rPr sz="2200" smtClean="0">
                <a:latin typeface="Times New Roman" pitchFamily="18" charset="0"/>
                <a:cs typeface="Times New Roman" pitchFamily="18" charset="0"/>
              </a:rPr>
              <a:t>key</a:t>
            </a:r>
            <a:r>
              <a:rPr sz="2200" spc="75" smtClean="0">
                <a:latin typeface="Times New Roman" pitchFamily="18" charset="0"/>
                <a:cs typeface="Times New Roman" pitchFamily="18" charset="0"/>
              </a:rPr>
              <a:t> </a:t>
            </a:r>
            <a:r>
              <a:rPr sz="2200" smtClean="0">
                <a:latin typeface="Times New Roman" pitchFamily="18" charset="0"/>
                <a:cs typeface="Times New Roman" pitchFamily="18" charset="0"/>
              </a:rPr>
              <a:t>highlights</a:t>
            </a:r>
            <a:r>
              <a:rPr sz="2200" spc="60" smtClean="0">
                <a:latin typeface="Times New Roman" pitchFamily="18" charset="0"/>
                <a:cs typeface="Times New Roman" pitchFamily="18" charset="0"/>
              </a:rPr>
              <a:t> </a:t>
            </a:r>
            <a:r>
              <a:rPr sz="2200" smtClean="0">
                <a:latin typeface="Times New Roman" pitchFamily="18" charset="0"/>
                <a:cs typeface="Times New Roman" pitchFamily="18" charset="0"/>
              </a:rPr>
              <a:t>is</a:t>
            </a:r>
            <a:r>
              <a:rPr sz="2200" spc="120" smtClean="0">
                <a:latin typeface="Times New Roman" pitchFamily="18" charset="0"/>
                <a:cs typeface="Times New Roman" pitchFamily="18" charset="0"/>
              </a:rPr>
              <a:t> </a:t>
            </a:r>
            <a:r>
              <a:rPr sz="2200" b="1" smtClean="0">
                <a:latin typeface="Times New Roman" pitchFamily="18" charset="0"/>
                <a:cs typeface="Times New Roman" pitchFamily="18" charset="0"/>
              </a:rPr>
              <a:t>ERIKA</a:t>
            </a:r>
            <a:r>
              <a:rPr sz="2200" b="1" spc="65" smtClean="0">
                <a:latin typeface="Times New Roman" pitchFamily="18" charset="0"/>
                <a:cs typeface="Times New Roman" pitchFamily="18" charset="0"/>
              </a:rPr>
              <a:t> </a:t>
            </a:r>
            <a:r>
              <a:rPr sz="2200" b="1" smtClean="0">
                <a:latin typeface="Times New Roman" pitchFamily="18" charset="0"/>
                <a:cs typeface="Times New Roman" pitchFamily="18" charset="0"/>
              </a:rPr>
              <a:t>–</a:t>
            </a:r>
            <a:r>
              <a:rPr sz="2200" b="1" spc="75" smtClean="0">
                <a:latin typeface="Times New Roman" pitchFamily="18" charset="0"/>
                <a:cs typeface="Times New Roman" pitchFamily="18" charset="0"/>
              </a:rPr>
              <a:t> </a:t>
            </a:r>
            <a:r>
              <a:rPr sz="2200" b="1" smtClean="0">
                <a:latin typeface="Times New Roman" pitchFamily="18" charset="0"/>
                <a:cs typeface="Times New Roman" pitchFamily="18" charset="0"/>
              </a:rPr>
              <a:t>the</a:t>
            </a:r>
            <a:r>
              <a:rPr sz="2200" b="1" spc="40" smtClean="0">
                <a:latin typeface="Times New Roman" pitchFamily="18" charset="0"/>
                <a:cs typeface="Times New Roman" pitchFamily="18" charset="0"/>
              </a:rPr>
              <a:t> </a:t>
            </a:r>
            <a:r>
              <a:rPr sz="2200" b="1" smtClean="0">
                <a:latin typeface="Times New Roman" pitchFamily="18" charset="0"/>
                <a:cs typeface="Times New Roman" pitchFamily="18" charset="0"/>
              </a:rPr>
              <a:t>24×7</a:t>
            </a:r>
            <a:r>
              <a:rPr sz="2200" b="1" spc="114" smtClean="0">
                <a:latin typeface="Times New Roman" pitchFamily="18" charset="0"/>
                <a:cs typeface="Times New Roman" pitchFamily="18" charset="0"/>
              </a:rPr>
              <a:t> </a:t>
            </a:r>
            <a:r>
              <a:rPr sz="2200" b="1" smtClean="0">
                <a:latin typeface="Times New Roman" pitchFamily="18" charset="0"/>
                <a:cs typeface="Times New Roman" pitchFamily="18" charset="0"/>
              </a:rPr>
              <a:t>Robotic</a:t>
            </a:r>
            <a:r>
              <a:rPr sz="2200" b="1" spc="75" smtClean="0">
                <a:latin typeface="Times New Roman" pitchFamily="18" charset="0"/>
                <a:cs typeface="Times New Roman" pitchFamily="18" charset="0"/>
              </a:rPr>
              <a:t> </a:t>
            </a:r>
            <a:r>
              <a:rPr sz="2200" b="1" smtClean="0">
                <a:latin typeface="Times New Roman" pitchFamily="18" charset="0"/>
                <a:cs typeface="Times New Roman" pitchFamily="18" charset="0"/>
              </a:rPr>
              <a:t>Recruiter</a:t>
            </a:r>
            <a:r>
              <a:rPr sz="2200" smtClean="0">
                <a:latin typeface="Times New Roman" pitchFamily="18" charset="0"/>
                <a:cs typeface="Times New Roman" pitchFamily="18" charset="0"/>
              </a:rPr>
              <a:t>,</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which</a:t>
            </a:r>
            <a:r>
              <a:rPr sz="2200" spc="65" smtClean="0">
                <a:latin typeface="Times New Roman" pitchFamily="18" charset="0"/>
                <a:cs typeface="Times New Roman" pitchFamily="18" charset="0"/>
              </a:rPr>
              <a:t> </a:t>
            </a:r>
            <a:r>
              <a:rPr sz="2200" spc="-10" smtClean="0">
                <a:latin typeface="Times New Roman" pitchFamily="18" charset="0"/>
                <a:cs typeface="Times New Roman" pitchFamily="18" charset="0"/>
              </a:rPr>
              <a:t>automates</a:t>
            </a:r>
            <a:endParaRPr sz="2200" smtClean="0">
              <a:latin typeface="Times New Roman" pitchFamily="18" charset="0"/>
              <a:cs typeface="Times New Roman" pitchFamily="18" charset="0"/>
            </a:endParaRPr>
          </a:p>
          <a:p>
            <a:pPr marL="241300">
              <a:lnSpc>
                <a:spcPts val="1880"/>
              </a:lnSpc>
            </a:pPr>
            <a:r>
              <a:rPr sz="2200" smtClean="0">
                <a:latin typeface="Times New Roman" pitchFamily="18" charset="0"/>
                <a:cs typeface="Times New Roman" pitchFamily="18" charset="0"/>
              </a:rPr>
              <a:t>candidate</a:t>
            </a:r>
            <a:r>
              <a:rPr sz="2200" spc="95" smtClean="0">
                <a:latin typeface="Times New Roman" pitchFamily="18" charset="0"/>
                <a:cs typeface="Times New Roman" pitchFamily="18" charset="0"/>
              </a:rPr>
              <a:t> </a:t>
            </a:r>
            <a:r>
              <a:rPr sz="2200" smtClean="0">
                <a:latin typeface="Times New Roman" pitchFamily="18" charset="0"/>
                <a:cs typeface="Times New Roman" pitchFamily="18" charset="0"/>
              </a:rPr>
              <a:t>engagement,</a:t>
            </a:r>
            <a:r>
              <a:rPr sz="2200" spc="110" smtClean="0">
                <a:latin typeface="Times New Roman" pitchFamily="18" charset="0"/>
                <a:cs typeface="Times New Roman" pitchFamily="18" charset="0"/>
              </a:rPr>
              <a:t> </a:t>
            </a:r>
            <a:r>
              <a:rPr sz="2200" smtClean="0">
                <a:latin typeface="Times New Roman" pitchFamily="18" charset="0"/>
                <a:cs typeface="Times New Roman" pitchFamily="18" charset="0"/>
              </a:rPr>
              <a:t>interview</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scheduling,</a:t>
            </a:r>
            <a:r>
              <a:rPr sz="2200" spc="110" smtClean="0">
                <a:latin typeface="Times New Roman" pitchFamily="18" charset="0"/>
                <a:cs typeface="Times New Roman" pitchFamily="18" charset="0"/>
              </a:rPr>
              <a:t> </a:t>
            </a:r>
            <a:r>
              <a:rPr sz="2200" smtClean="0">
                <a:latin typeface="Times New Roman" pitchFamily="18" charset="0"/>
                <a:cs typeface="Times New Roman" pitchFamily="18" charset="0"/>
              </a:rPr>
              <a:t>follow-ups,</a:t>
            </a:r>
            <a:r>
              <a:rPr sz="2200" spc="11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110" smtClean="0">
                <a:latin typeface="Times New Roman" pitchFamily="18" charset="0"/>
                <a:cs typeface="Times New Roman" pitchFamily="18" charset="0"/>
              </a:rPr>
              <a:t> </a:t>
            </a:r>
            <a:r>
              <a:rPr sz="2200" smtClean="0">
                <a:latin typeface="Times New Roman" pitchFamily="18" charset="0"/>
                <a:cs typeface="Times New Roman" pitchFamily="18" charset="0"/>
              </a:rPr>
              <a:t>communication,</a:t>
            </a:r>
            <a:r>
              <a:rPr sz="2200" spc="120" smtClean="0">
                <a:latin typeface="Times New Roman" pitchFamily="18" charset="0"/>
                <a:cs typeface="Times New Roman" pitchFamily="18" charset="0"/>
              </a:rPr>
              <a:t> </a:t>
            </a:r>
            <a:r>
              <a:rPr sz="2200" smtClean="0">
                <a:latin typeface="Times New Roman" pitchFamily="18" charset="0"/>
                <a:cs typeface="Times New Roman" pitchFamily="18" charset="0"/>
              </a:rPr>
              <a:t>ensuring</a:t>
            </a:r>
            <a:r>
              <a:rPr sz="2200" spc="155" smtClean="0">
                <a:latin typeface="Times New Roman" pitchFamily="18" charset="0"/>
                <a:cs typeface="Times New Roman" pitchFamily="18" charset="0"/>
              </a:rPr>
              <a:t> </a:t>
            </a:r>
            <a:r>
              <a:rPr sz="2200" spc="-50" smtClean="0">
                <a:latin typeface="Times New Roman" pitchFamily="18" charset="0"/>
                <a:cs typeface="Times New Roman" pitchFamily="18" charset="0"/>
              </a:rPr>
              <a:t>a</a:t>
            </a:r>
            <a:endParaRPr sz="2200" smtClean="0">
              <a:latin typeface="Times New Roman" pitchFamily="18" charset="0"/>
              <a:cs typeface="Times New Roman" pitchFamily="18" charset="0"/>
            </a:endParaRPr>
          </a:p>
          <a:p>
            <a:pPr marL="241300">
              <a:lnSpc>
                <a:spcPts val="1839"/>
              </a:lnSpc>
            </a:pPr>
            <a:r>
              <a:rPr sz="2200" smtClean="0">
                <a:latin typeface="Times New Roman" pitchFamily="18" charset="0"/>
                <a:cs typeface="Times New Roman" pitchFamily="18" charset="0"/>
              </a:rPr>
              <a:t>seamless</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responsive</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recruitment</a:t>
            </a:r>
            <a:r>
              <a:rPr sz="2200" spc="30" smtClean="0">
                <a:latin typeface="Times New Roman" pitchFamily="18" charset="0"/>
                <a:cs typeface="Times New Roman" pitchFamily="18" charset="0"/>
              </a:rPr>
              <a:t> </a:t>
            </a:r>
            <a:r>
              <a:rPr sz="2200" smtClean="0">
                <a:latin typeface="Times New Roman" pitchFamily="18" charset="0"/>
                <a:cs typeface="Times New Roman" pitchFamily="18" charset="0"/>
              </a:rPr>
              <a:t>experience</a:t>
            </a:r>
            <a:r>
              <a:rPr sz="2200" spc="55" smtClean="0">
                <a:latin typeface="Times New Roman" pitchFamily="18" charset="0"/>
                <a:cs typeface="Times New Roman" pitchFamily="18" charset="0"/>
              </a:rPr>
              <a:t> </a:t>
            </a:r>
            <a:r>
              <a:rPr sz="2200" smtClean="0">
                <a:latin typeface="Times New Roman" pitchFamily="18" charset="0"/>
                <a:cs typeface="Times New Roman" pitchFamily="18" charset="0"/>
              </a:rPr>
              <a:t>for</a:t>
            </a:r>
            <a:r>
              <a:rPr sz="2200" spc="80" smtClean="0">
                <a:latin typeface="Times New Roman" pitchFamily="18" charset="0"/>
                <a:cs typeface="Times New Roman" pitchFamily="18" charset="0"/>
              </a:rPr>
              <a:t> </a:t>
            </a:r>
            <a:r>
              <a:rPr sz="2200" smtClean="0">
                <a:latin typeface="Times New Roman" pitchFamily="18" charset="0"/>
                <a:cs typeface="Times New Roman" pitchFamily="18" charset="0"/>
              </a:rPr>
              <a:t>both</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recruiters</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75" smtClean="0">
                <a:latin typeface="Times New Roman" pitchFamily="18" charset="0"/>
                <a:cs typeface="Times New Roman" pitchFamily="18" charset="0"/>
              </a:rPr>
              <a:t> </a:t>
            </a:r>
            <a:r>
              <a:rPr sz="2200" spc="-10" smtClean="0">
                <a:latin typeface="Times New Roman" pitchFamily="18" charset="0"/>
                <a:cs typeface="Times New Roman" pitchFamily="18" charset="0"/>
              </a:rPr>
              <a:t>candidates.</a:t>
            </a:r>
            <a:endParaRPr sz="2200" smtClean="0">
              <a:latin typeface="Times New Roman" pitchFamily="18" charset="0"/>
              <a:cs typeface="Times New Roman" pitchFamily="18" charset="0"/>
            </a:endParaRPr>
          </a:p>
          <a:p>
            <a:pPr marL="241300" marR="870585">
              <a:lnSpc>
                <a:spcPct val="72800"/>
              </a:lnSpc>
              <a:spcBef>
                <a:spcPts val="310"/>
              </a:spcBef>
            </a:pPr>
            <a:r>
              <a:rPr sz="2200" smtClean="0">
                <a:latin typeface="Times New Roman" pitchFamily="18" charset="0"/>
                <a:cs typeface="Times New Roman" pitchFamily="18" charset="0"/>
              </a:rPr>
              <a:t>ERIKA</a:t>
            </a:r>
            <a:r>
              <a:rPr sz="2200" spc="95" smtClean="0">
                <a:latin typeface="Times New Roman" pitchFamily="18" charset="0"/>
                <a:cs typeface="Times New Roman" pitchFamily="18" charset="0"/>
              </a:rPr>
              <a:t> </a:t>
            </a:r>
            <a:r>
              <a:rPr sz="2200" smtClean="0">
                <a:latin typeface="Times New Roman" pitchFamily="18" charset="0"/>
                <a:cs typeface="Times New Roman" pitchFamily="18" charset="0"/>
              </a:rPr>
              <a:t>reduces</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manual</a:t>
            </a:r>
            <a:r>
              <a:rPr sz="2200" spc="30" smtClean="0">
                <a:latin typeface="Times New Roman" pitchFamily="18" charset="0"/>
                <a:cs typeface="Times New Roman" pitchFamily="18" charset="0"/>
              </a:rPr>
              <a:t> </a:t>
            </a:r>
            <a:r>
              <a:rPr sz="2200" smtClean="0">
                <a:latin typeface="Times New Roman" pitchFamily="18" charset="0"/>
                <a:cs typeface="Times New Roman" pitchFamily="18" charset="0"/>
              </a:rPr>
              <a:t>effort,</a:t>
            </a:r>
            <a:r>
              <a:rPr sz="2200" spc="75" smtClean="0">
                <a:latin typeface="Times New Roman" pitchFamily="18" charset="0"/>
                <a:cs typeface="Times New Roman" pitchFamily="18" charset="0"/>
              </a:rPr>
              <a:t> </a:t>
            </a:r>
            <a:r>
              <a:rPr sz="2200" smtClean="0">
                <a:latin typeface="Times New Roman" pitchFamily="18" charset="0"/>
                <a:cs typeface="Times New Roman" pitchFamily="18" charset="0"/>
              </a:rPr>
              <a:t>improves</a:t>
            </a:r>
            <a:r>
              <a:rPr sz="2200" spc="140" smtClean="0">
                <a:latin typeface="Times New Roman" pitchFamily="18" charset="0"/>
                <a:cs typeface="Times New Roman" pitchFamily="18" charset="0"/>
              </a:rPr>
              <a:t> </a:t>
            </a:r>
            <a:r>
              <a:rPr sz="2200" smtClean="0">
                <a:latin typeface="Times New Roman" pitchFamily="18" charset="0"/>
                <a:cs typeface="Times New Roman" pitchFamily="18" charset="0"/>
              </a:rPr>
              <a:t>turnaround</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time,</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enhances</a:t>
            </a:r>
            <a:r>
              <a:rPr sz="2200" spc="65" smtClean="0">
                <a:latin typeface="Times New Roman" pitchFamily="18" charset="0"/>
                <a:cs typeface="Times New Roman" pitchFamily="18" charset="0"/>
              </a:rPr>
              <a:t> </a:t>
            </a:r>
            <a:r>
              <a:rPr sz="2200" spc="-10" smtClean="0">
                <a:latin typeface="Times New Roman" pitchFamily="18" charset="0"/>
                <a:cs typeface="Times New Roman" pitchFamily="18" charset="0"/>
              </a:rPr>
              <a:t>candidate </a:t>
            </a:r>
            <a:r>
              <a:rPr sz="2200" smtClean="0">
                <a:latin typeface="Times New Roman" pitchFamily="18" charset="0"/>
                <a:cs typeface="Times New Roman" pitchFamily="18" charset="0"/>
              </a:rPr>
              <a:t>satisfaction</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through</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continuous</a:t>
            </a:r>
            <a:r>
              <a:rPr sz="2200" spc="45" smtClean="0">
                <a:latin typeface="Times New Roman" pitchFamily="18" charset="0"/>
                <a:cs typeface="Times New Roman" pitchFamily="18" charset="0"/>
              </a:rPr>
              <a:t> </a:t>
            </a:r>
            <a:r>
              <a:rPr sz="2200" smtClean="0">
                <a:latin typeface="Times New Roman" pitchFamily="18" charset="0"/>
                <a:cs typeface="Times New Roman" pitchFamily="18" charset="0"/>
              </a:rPr>
              <a:t>availability</a:t>
            </a:r>
            <a:r>
              <a:rPr sz="2200" spc="6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intelligent</a:t>
            </a:r>
            <a:r>
              <a:rPr sz="2200" spc="85" smtClean="0">
                <a:latin typeface="Times New Roman" pitchFamily="18" charset="0"/>
                <a:cs typeface="Times New Roman" pitchFamily="18" charset="0"/>
              </a:rPr>
              <a:t> </a:t>
            </a:r>
            <a:r>
              <a:rPr sz="2200" spc="-10" smtClean="0">
                <a:latin typeface="Times New Roman" pitchFamily="18" charset="0"/>
                <a:cs typeface="Times New Roman" pitchFamily="18" charset="0"/>
              </a:rPr>
              <a:t>interaction.</a:t>
            </a:r>
            <a:endParaRPr lang="en-US" sz="2200" spc="-10" dirty="0" smtClean="0">
              <a:latin typeface="Times New Roman" pitchFamily="18" charset="0"/>
              <a:cs typeface="Times New Roman" pitchFamily="18" charset="0"/>
            </a:endParaRPr>
          </a:p>
          <a:p>
            <a:pPr marL="241300" marR="870585">
              <a:lnSpc>
                <a:spcPct val="72800"/>
              </a:lnSpc>
              <a:spcBef>
                <a:spcPts val="310"/>
              </a:spcBef>
            </a:pPr>
            <a:endParaRPr sz="2200" smtClean="0">
              <a:latin typeface="Times New Roman" pitchFamily="18" charset="0"/>
              <a:cs typeface="Times New Roman" pitchFamily="18" charset="0"/>
            </a:endParaRPr>
          </a:p>
          <a:p>
            <a:pPr marL="241935" indent="-229235">
              <a:lnSpc>
                <a:spcPts val="2230"/>
              </a:lnSpc>
              <a:spcBef>
                <a:spcPts val="275"/>
              </a:spcBef>
              <a:buFont typeface="Arial MT"/>
              <a:buChar char="•"/>
              <a:tabLst>
                <a:tab pos="241935" algn="l"/>
              </a:tabLst>
            </a:pPr>
            <a:r>
              <a:rPr sz="2200" smtClean="0">
                <a:latin typeface="Times New Roman" pitchFamily="18" charset="0"/>
                <a:cs typeface="Times New Roman" pitchFamily="18" charset="0"/>
              </a:rPr>
              <a:t>Talent</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Recruit</a:t>
            </a:r>
            <a:r>
              <a:rPr sz="2200" spc="-5" smtClean="0">
                <a:latin typeface="Times New Roman" pitchFamily="18" charset="0"/>
                <a:cs typeface="Times New Roman" pitchFamily="18" charset="0"/>
              </a:rPr>
              <a:t> </a:t>
            </a:r>
            <a:r>
              <a:rPr sz="2200" smtClean="0">
                <a:latin typeface="Times New Roman" pitchFamily="18" charset="0"/>
                <a:cs typeface="Times New Roman" pitchFamily="18" charset="0"/>
              </a:rPr>
              <a:t>enables</a:t>
            </a:r>
            <a:r>
              <a:rPr sz="2200" spc="30" smtClean="0">
                <a:latin typeface="Times New Roman" pitchFamily="18" charset="0"/>
                <a:cs typeface="Times New Roman" pitchFamily="18" charset="0"/>
              </a:rPr>
              <a:t> </a:t>
            </a:r>
            <a:r>
              <a:rPr sz="2200" smtClean="0">
                <a:latin typeface="Times New Roman" pitchFamily="18" charset="0"/>
                <a:cs typeface="Times New Roman" pitchFamily="18" charset="0"/>
              </a:rPr>
              <a:t>recruiters</a:t>
            </a:r>
            <a:r>
              <a:rPr sz="2200" spc="25" smtClean="0">
                <a:latin typeface="Times New Roman" pitchFamily="18" charset="0"/>
                <a:cs typeface="Times New Roman" pitchFamily="18" charset="0"/>
              </a:rPr>
              <a:t> </a:t>
            </a:r>
            <a:r>
              <a:rPr sz="2200" smtClean="0">
                <a:latin typeface="Times New Roman" pitchFamily="18" charset="0"/>
                <a:cs typeface="Times New Roman" pitchFamily="18" charset="0"/>
              </a:rPr>
              <a:t>to</a:t>
            </a:r>
            <a:r>
              <a:rPr sz="2200" spc="105" smtClean="0">
                <a:latin typeface="Times New Roman" pitchFamily="18" charset="0"/>
                <a:cs typeface="Times New Roman" pitchFamily="18" charset="0"/>
              </a:rPr>
              <a:t> </a:t>
            </a:r>
            <a:r>
              <a:rPr sz="2200" smtClean="0">
                <a:latin typeface="Times New Roman" pitchFamily="18" charset="0"/>
                <a:cs typeface="Times New Roman" pitchFamily="18" charset="0"/>
              </a:rPr>
              <a:t>manage</a:t>
            </a:r>
            <a:r>
              <a:rPr sz="2200" spc="20" smtClean="0">
                <a:latin typeface="Times New Roman" pitchFamily="18" charset="0"/>
                <a:cs typeface="Times New Roman" pitchFamily="18" charset="0"/>
              </a:rPr>
              <a:t> </a:t>
            </a:r>
            <a:r>
              <a:rPr sz="2200" smtClean="0">
                <a:latin typeface="Times New Roman" pitchFamily="18" charset="0"/>
                <a:cs typeface="Times New Roman" pitchFamily="18" charset="0"/>
              </a:rPr>
              <a:t>job</a:t>
            </a:r>
            <a:r>
              <a:rPr sz="2200" spc="30" smtClean="0">
                <a:latin typeface="Times New Roman" pitchFamily="18" charset="0"/>
                <a:cs typeface="Times New Roman" pitchFamily="18" charset="0"/>
              </a:rPr>
              <a:t> </a:t>
            </a:r>
            <a:r>
              <a:rPr sz="2200" smtClean="0">
                <a:latin typeface="Times New Roman" pitchFamily="18" charset="0"/>
                <a:cs typeface="Times New Roman" pitchFamily="18" charset="0"/>
              </a:rPr>
              <a:t>postings,</a:t>
            </a:r>
            <a:r>
              <a:rPr sz="2200" spc="35" smtClean="0">
                <a:latin typeface="Times New Roman" pitchFamily="18" charset="0"/>
                <a:cs typeface="Times New Roman" pitchFamily="18" charset="0"/>
              </a:rPr>
              <a:t> </a:t>
            </a:r>
            <a:r>
              <a:rPr sz="2200" smtClean="0">
                <a:latin typeface="Times New Roman" pitchFamily="18" charset="0"/>
                <a:cs typeface="Times New Roman" pitchFamily="18" charset="0"/>
              </a:rPr>
              <a:t>track</a:t>
            </a:r>
            <a:r>
              <a:rPr sz="2200" spc="40" smtClean="0">
                <a:latin typeface="Times New Roman" pitchFamily="18" charset="0"/>
                <a:cs typeface="Times New Roman" pitchFamily="18" charset="0"/>
              </a:rPr>
              <a:t> </a:t>
            </a:r>
            <a:r>
              <a:rPr sz="2200" smtClean="0">
                <a:latin typeface="Times New Roman" pitchFamily="18" charset="0"/>
                <a:cs typeface="Times New Roman" pitchFamily="18" charset="0"/>
              </a:rPr>
              <a:t>applications,</a:t>
            </a:r>
            <a:r>
              <a:rPr sz="2200" spc="35" smtClean="0">
                <a:latin typeface="Times New Roman" pitchFamily="18" charset="0"/>
                <a:cs typeface="Times New Roman" pitchFamily="18" charset="0"/>
              </a:rPr>
              <a:t> </a:t>
            </a:r>
            <a:r>
              <a:rPr sz="2200" spc="-10" smtClean="0">
                <a:latin typeface="Times New Roman" pitchFamily="18" charset="0"/>
                <a:cs typeface="Times New Roman" pitchFamily="18" charset="0"/>
              </a:rPr>
              <a:t>shortlist</a:t>
            </a:r>
            <a:endParaRPr sz="2200" smtClean="0">
              <a:latin typeface="Times New Roman" pitchFamily="18" charset="0"/>
              <a:cs typeface="Times New Roman" pitchFamily="18" charset="0"/>
            </a:endParaRPr>
          </a:p>
          <a:p>
            <a:pPr marL="241300">
              <a:lnSpc>
                <a:spcPts val="1839"/>
              </a:lnSpc>
            </a:pPr>
            <a:r>
              <a:rPr sz="2200" smtClean="0">
                <a:latin typeface="Times New Roman" pitchFamily="18" charset="0"/>
                <a:cs typeface="Times New Roman" pitchFamily="18" charset="0"/>
              </a:rPr>
              <a:t>candidates,</a:t>
            </a:r>
            <a:r>
              <a:rPr sz="2200" spc="75" smtClean="0">
                <a:latin typeface="Times New Roman" pitchFamily="18" charset="0"/>
                <a:cs typeface="Times New Roman" pitchFamily="18" charset="0"/>
              </a:rPr>
              <a:t> </a:t>
            </a:r>
            <a:r>
              <a:rPr sz="2200" smtClean="0">
                <a:latin typeface="Times New Roman" pitchFamily="18" charset="0"/>
                <a:cs typeface="Times New Roman" pitchFamily="18" charset="0"/>
              </a:rPr>
              <a:t>conduct</a:t>
            </a:r>
            <a:r>
              <a:rPr sz="2200" spc="120" smtClean="0">
                <a:latin typeface="Times New Roman" pitchFamily="18" charset="0"/>
                <a:cs typeface="Times New Roman" pitchFamily="18" charset="0"/>
              </a:rPr>
              <a:t> </a:t>
            </a:r>
            <a:r>
              <a:rPr sz="2200" smtClean="0">
                <a:latin typeface="Times New Roman" pitchFamily="18" charset="0"/>
                <a:cs typeface="Times New Roman" pitchFamily="18" charset="0"/>
              </a:rPr>
              <a:t>assessments,</a:t>
            </a:r>
            <a:r>
              <a:rPr sz="2200" spc="85" smtClean="0">
                <a:latin typeface="Times New Roman" pitchFamily="18" charset="0"/>
                <a:cs typeface="Times New Roman" pitchFamily="18" charset="0"/>
              </a:rPr>
              <a:t> </a:t>
            </a:r>
            <a:r>
              <a:rPr sz="2200" smtClean="0">
                <a:latin typeface="Times New Roman" pitchFamily="18" charset="0"/>
                <a:cs typeface="Times New Roman" pitchFamily="18" charset="0"/>
              </a:rPr>
              <a:t>schedule</a:t>
            </a:r>
            <a:r>
              <a:rPr sz="2200" spc="60" smtClean="0">
                <a:latin typeface="Times New Roman" pitchFamily="18" charset="0"/>
                <a:cs typeface="Times New Roman" pitchFamily="18" charset="0"/>
              </a:rPr>
              <a:t> </a:t>
            </a:r>
            <a:r>
              <a:rPr sz="2200" smtClean="0">
                <a:latin typeface="Times New Roman" pitchFamily="18" charset="0"/>
                <a:cs typeface="Times New Roman" pitchFamily="18" charset="0"/>
              </a:rPr>
              <a:t>interviews,</a:t>
            </a:r>
            <a:r>
              <a:rPr sz="2200" spc="90"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80" smtClean="0">
                <a:latin typeface="Times New Roman" pitchFamily="18" charset="0"/>
                <a:cs typeface="Times New Roman" pitchFamily="18" charset="0"/>
              </a:rPr>
              <a:t> </a:t>
            </a:r>
            <a:r>
              <a:rPr sz="2200" smtClean="0">
                <a:latin typeface="Times New Roman" pitchFamily="18" charset="0"/>
                <a:cs typeface="Times New Roman" pitchFamily="18" charset="0"/>
              </a:rPr>
              <a:t>complete</a:t>
            </a:r>
            <a:r>
              <a:rPr sz="2200" spc="65" smtClean="0">
                <a:latin typeface="Times New Roman" pitchFamily="18" charset="0"/>
                <a:cs typeface="Times New Roman" pitchFamily="18" charset="0"/>
              </a:rPr>
              <a:t> </a:t>
            </a:r>
            <a:r>
              <a:rPr sz="2200" spc="-10" smtClean="0">
                <a:latin typeface="Times New Roman" pitchFamily="18" charset="0"/>
                <a:cs typeface="Times New Roman" pitchFamily="18" charset="0"/>
              </a:rPr>
              <a:t>onboarding</a:t>
            </a:r>
            <a:endParaRPr sz="2200" smtClean="0">
              <a:latin typeface="Times New Roman" pitchFamily="18" charset="0"/>
              <a:cs typeface="Times New Roman" pitchFamily="18" charset="0"/>
            </a:endParaRPr>
          </a:p>
          <a:p>
            <a:pPr marL="241300">
              <a:lnSpc>
                <a:spcPts val="1839"/>
              </a:lnSpc>
            </a:pPr>
            <a:r>
              <a:rPr sz="2200" smtClean="0">
                <a:latin typeface="Times New Roman" pitchFamily="18" charset="0"/>
                <a:cs typeface="Times New Roman" pitchFamily="18" charset="0"/>
              </a:rPr>
              <a:t>processes</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within</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a</a:t>
            </a:r>
            <a:r>
              <a:rPr sz="2200" spc="95" smtClean="0">
                <a:latin typeface="Times New Roman" pitchFamily="18" charset="0"/>
                <a:cs typeface="Times New Roman" pitchFamily="18" charset="0"/>
              </a:rPr>
              <a:t> </a:t>
            </a:r>
            <a:r>
              <a:rPr sz="2200" smtClean="0">
                <a:latin typeface="Times New Roman" pitchFamily="18" charset="0"/>
                <a:cs typeface="Times New Roman" pitchFamily="18" charset="0"/>
              </a:rPr>
              <a:t>single</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integrated</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platform.</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Its</a:t>
            </a:r>
            <a:r>
              <a:rPr sz="2200" spc="140" smtClean="0">
                <a:latin typeface="Times New Roman" pitchFamily="18" charset="0"/>
                <a:cs typeface="Times New Roman" pitchFamily="18" charset="0"/>
              </a:rPr>
              <a:t> </a:t>
            </a:r>
            <a:r>
              <a:rPr sz="2200" smtClean="0">
                <a:latin typeface="Times New Roman" pitchFamily="18" charset="0"/>
                <a:cs typeface="Times New Roman" pitchFamily="18" charset="0"/>
              </a:rPr>
              <a:t>AI-driven</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analytics</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and</a:t>
            </a:r>
            <a:r>
              <a:rPr sz="2200" spc="65" smtClean="0">
                <a:latin typeface="Times New Roman" pitchFamily="18" charset="0"/>
                <a:cs typeface="Times New Roman" pitchFamily="18" charset="0"/>
              </a:rPr>
              <a:t> </a:t>
            </a:r>
            <a:r>
              <a:rPr sz="2200" spc="-10" smtClean="0">
                <a:latin typeface="Times New Roman" pitchFamily="18" charset="0"/>
                <a:cs typeface="Times New Roman" pitchFamily="18" charset="0"/>
              </a:rPr>
              <a:t>smart</a:t>
            </a:r>
            <a:endParaRPr sz="2200" smtClean="0">
              <a:latin typeface="Times New Roman" pitchFamily="18" charset="0"/>
              <a:cs typeface="Times New Roman" pitchFamily="18" charset="0"/>
            </a:endParaRPr>
          </a:p>
          <a:p>
            <a:pPr marL="241300" marR="215900">
              <a:lnSpc>
                <a:spcPct val="69800"/>
              </a:lnSpc>
              <a:spcBef>
                <a:spcPts val="425"/>
              </a:spcBef>
            </a:pPr>
            <a:r>
              <a:rPr sz="2200" smtClean="0">
                <a:latin typeface="Times New Roman" pitchFamily="18" charset="0"/>
                <a:cs typeface="Times New Roman" pitchFamily="18" charset="0"/>
              </a:rPr>
              <a:t>recommendations</a:t>
            </a:r>
            <a:r>
              <a:rPr sz="2200" spc="135" smtClean="0">
                <a:latin typeface="Times New Roman" pitchFamily="18" charset="0"/>
                <a:cs typeface="Times New Roman" pitchFamily="18" charset="0"/>
              </a:rPr>
              <a:t> </a:t>
            </a:r>
            <a:r>
              <a:rPr sz="2200" smtClean="0">
                <a:latin typeface="Times New Roman" pitchFamily="18" charset="0"/>
                <a:cs typeface="Times New Roman" pitchFamily="18" charset="0"/>
              </a:rPr>
              <a:t>help</a:t>
            </a:r>
            <a:r>
              <a:rPr sz="2200" spc="65" smtClean="0">
                <a:latin typeface="Times New Roman" pitchFamily="18" charset="0"/>
                <a:cs typeface="Times New Roman" pitchFamily="18" charset="0"/>
              </a:rPr>
              <a:t> </a:t>
            </a:r>
            <a:r>
              <a:rPr sz="2200" smtClean="0">
                <a:latin typeface="Times New Roman" pitchFamily="18" charset="0"/>
                <a:cs typeface="Times New Roman" pitchFamily="18" charset="0"/>
              </a:rPr>
              <a:t>recruiters</a:t>
            </a:r>
            <a:r>
              <a:rPr sz="2200" spc="60" smtClean="0">
                <a:latin typeface="Times New Roman" pitchFamily="18" charset="0"/>
                <a:cs typeface="Times New Roman" pitchFamily="18" charset="0"/>
              </a:rPr>
              <a:t> </a:t>
            </a:r>
            <a:r>
              <a:rPr sz="2200" smtClean="0">
                <a:latin typeface="Times New Roman" pitchFamily="18" charset="0"/>
                <a:cs typeface="Times New Roman" pitchFamily="18" charset="0"/>
              </a:rPr>
              <a:t>make</a:t>
            </a:r>
            <a:r>
              <a:rPr sz="2200" spc="50" smtClean="0">
                <a:latin typeface="Times New Roman" pitchFamily="18" charset="0"/>
                <a:cs typeface="Times New Roman" pitchFamily="18" charset="0"/>
              </a:rPr>
              <a:t> </a:t>
            </a:r>
            <a:r>
              <a:rPr sz="2200" smtClean="0">
                <a:latin typeface="Times New Roman" pitchFamily="18" charset="0"/>
                <a:cs typeface="Times New Roman" pitchFamily="18" charset="0"/>
              </a:rPr>
              <a:t>data-driven</a:t>
            </a:r>
            <a:r>
              <a:rPr sz="2200" spc="75" smtClean="0">
                <a:latin typeface="Times New Roman" pitchFamily="18" charset="0"/>
                <a:cs typeface="Times New Roman" pitchFamily="18" charset="0"/>
              </a:rPr>
              <a:t> </a:t>
            </a:r>
            <a:r>
              <a:rPr sz="2200" smtClean="0">
                <a:latin typeface="Times New Roman" pitchFamily="18" charset="0"/>
                <a:cs typeface="Times New Roman" pitchFamily="18" charset="0"/>
              </a:rPr>
              <a:t>hiring</a:t>
            </a:r>
            <a:r>
              <a:rPr sz="2200" spc="35" smtClean="0">
                <a:latin typeface="Times New Roman" pitchFamily="18" charset="0"/>
                <a:cs typeface="Times New Roman" pitchFamily="18" charset="0"/>
              </a:rPr>
              <a:t> </a:t>
            </a:r>
            <a:r>
              <a:rPr sz="2200" smtClean="0">
                <a:latin typeface="Times New Roman" pitchFamily="18" charset="0"/>
                <a:cs typeface="Times New Roman" pitchFamily="18" charset="0"/>
              </a:rPr>
              <a:t>decisions,</a:t>
            </a:r>
            <a:r>
              <a:rPr sz="2200" spc="70" smtClean="0">
                <a:latin typeface="Times New Roman" pitchFamily="18" charset="0"/>
                <a:cs typeface="Times New Roman" pitchFamily="18" charset="0"/>
              </a:rPr>
              <a:t> </a:t>
            </a:r>
            <a:r>
              <a:rPr sz="2200" smtClean="0">
                <a:latin typeface="Times New Roman" pitchFamily="18" charset="0"/>
                <a:cs typeface="Times New Roman" pitchFamily="18" charset="0"/>
              </a:rPr>
              <a:t>minimize</a:t>
            </a:r>
            <a:r>
              <a:rPr sz="2200" spc="140" smtClean="0">
                <a:latin typeface="Times New Roman" pitchFamily="18" charset="0"/>
                <a:cs typeface="Times New Roman" pitchFamily="18" charset="0"/>
              </a:rPr>
              <a:t> </a:t>
            </a:r>
            <a:r>
              <a:rPr sz="2200" smtClean="0">
                <a:latin typeface="Times New Roman" pitchFamily="18" charset="0"/>
                <a:cs typeface="Times New Roman" pitchFamily="18" charset="0"/>
              </a:rPr>
              <a:t>bias,</a:t>
            </a:r>
            <a:r>
              <a:rPr sz="2200" spc="70" smtClean="0">
                <a:latin typeface="Times New Roman" pitchFamily="18" charset="0"/>
                <a:cs typeface="Times New Roman" pitchFamily="18" charset="0"/>
              </a:rPr>
              <a:t> </a:t>
            </a:r>
            <a:r>
              <a:rPr sz="2200" spc="-25" smtClean="0">
                <a:latin typeface="Times New Roman" pitchFamily="18" charset="0"/>
                <a:cs typeface="Times New Roman" pitchFamily="18" charset="0"/>
              </a:rPr>
              <a:t>and </a:t>
            </a:r>
            <a:r>
              <a:rPr sz="2200" smtClean="0">
                <a:latin typeface="Times New Roman" pitchFamily="18" charset="0"/>
                <a:cs typeface="Times New Roman" pitchFamily="18" charset="0"/>
              </a:rPr>
              <a:t>improve</a:t>
            </a:r>
            <a:r>
              <a:rPr sz="2200" spc="80" smtClean="0">
                <a:latin typeface="Times New Roman" pitchFamily="18" charset="0"/>
                <a:cs typeface="Times New Roman" pitchFamily="18" charset="0"/>
              </a:rPr>
              <a:t> </a:t>
            </a:r>
            <a:r>
              <a:rPr sz="2200" smtClean="0">
                <a:latin typeface="Times New Roman" pitchFamily="18" charset="0"/>
                <a:cs typeface="Times New Roman" pitchFamily="18" charset="0"/>
              </a:rPr>
              <a:t>overall</a:t>
            </a:r>
            <a:r>
              <a:rPr sz="2200" spc="-15" smtClean="0">
                <a:latin typeface="Times New Roman" pitchFamily="18" charset="0"/>
                <a:cs typeface="Times New Roman" pitchFamily="18" charset="0"/>
              </a:rPr>
              <a:t> </a:t>
            </a:r>
            <a:r>
              <a:rPr sz="2200" smtClean="0">
                <a:latin typeface="Times New Roman" pitchFamily="18" charset="0"/>
                <a:cs typeface="Times New Roman" pitchFamily="18" charset="0"/>
              </a:rPr>
              <a:t>hiring</a:t>
            </a:r>
            <a:r>
              <a:rPr sz="2200" spc="60" smtClean="0">
                <a:latin typeface="Times New Roman" pitchFamily="18" charset="0"/>
                <a:cs typeface="Times New Roman" pitchFamily="18" charset="0"/>
              </a:rPr>
              <a:t> </a:t>
            </a:r>
            <a:r>
              <a:rPr sz="2200" spc="-10" smtClean="0">
                <a:latin typeface="Times New Roman" pitchFamily="18" charset="0"/>
                <a:cs typeface="Times New Roman" pitchFamily="18" charset="0"/>
              </a:rPr>
              <a:t>quality.</a:t>
            </a:r>
            <a:endParaRPr sz="2200">
              <a:latin typeface="Times New Roman" pitchFamily="18" charset="0"/>
              <a:cs typeface="Times New Roman" pitchFamily="18" charset="0"/>
            </a:endParaRPr>
          </a:p>
        </p:txBody>
      </p:sp>
      <p:sp>
        <p:nvSpPr>
          <p:cNvPr id="4" name="object 4"/>
          <p:cNvSpPr txBox="1"/>
          <p:nvPr/>
        </p:nvSpPr>
        <p:spPr>
          <a:xfrm>
            <a:off x="11179175" y="643445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FFFFF"/>
                </a:solidFill>
                <a:latin typeface="Calibri"/>
                <a:cs typeface="Calibri"/>
              </a:rPr>
              <a:t>3</a:t>
            </a:r>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29018" rIns="0" bIns="0" rtlCol="0">
            <a:spAutoFit/>
          </a:bodyPr>
          <a:lstStyle/>
          <a:p>
            <a:pPr marL="380365">
              <a:lnSpc>
                <a:spcPct val="100000"/>
              </a:lnSpc>
              <a:spcBef>
                <a:spcPts val="130"/>
              </a:spcBef>
            </a:pPr>
            <a:r>
              <a:rPr dirty="0">
                <a:solidFill>
                  <a:srgbClr val="006FC0"/>
                </a:solidFill>
              </a:rPr>
              <a:t>Our</a:t>
            </a:r>
            <a:r>
              <a:rPr spc="-210" dirty="0">
                <a:solidFill>
                  <a:srgbClr val="006FC0"/>
                </a:solidFill>
              </a:rPr>
              <a:t> </a:t>
            </a:r>
            <a:r>
              <a:rPr spc="-25" dirty="0">
                <a:solidFill>
                  <a:srgbClr val="006FC0"/>
                </a:solidFill>
              </a:rPr>
              <a:t>Clients</a:t>
            </a:r>
          </a:p>
        </p:txBody>
      </p:sp>
      <p:sp>
        <p:nvSpPr>
          <p:cNvPr id="3" name="object 3"/>
          <p:cNvSpPr txBox="1"/>
          <p:nvPr/>
        </p:nvSpPr>
        <p:spPr>
          <a:xfrm>
            <a:off x="917575" y="6434454"/>
            <a:ext cx="74422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FFFFFF"/>
                </a:solidFill>
                <a:latin typeface="Calibri"/>
                <a:cs typeface="Calibri"/>
              </a:rPr>
              <a:t>27-02-</a:t>
            </a:r>
            <a:r>
              <a:rPr sz="1200" spc="-20" dirty="0">
                <a:solidFill>
                  <a:srgbClr val="FFFFFF"/>
                </a:solidFill>
                <a:latin typeface="Calibri"/>
                <a:cs typeface="Calibri"/>
              </a:rPr>
              <a:t>2026</a:t>
            </a:r>
            <a:endParaRPr sz="1200">
              <a:latin typeface="Calibri"/>
              <a:cs typeface="Calibri"/>
            </a:endParaRPr>
          </a:p>
        </p:txBody>
      </p:sp>
      <p:sp>
        <p:nvSpPr>
          <p:cNvPr id="4" name="object 4"/>
          <p:cNvSpPr txBox="1"/>
          <p:nvPr/>
        </p:nvSpPr>
        <p:spPr>
          <a:xfrm>
            <a:off x="11179175" y="643445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FFFFF"/>
                </a:solidFill>
                <a:latin typeface="Calibri"/>
                <a:cs typeface="Calibri"/>
              </a:rPr>
              <a:t>4</a:t>
            </a:r>
            <a:endParaRPr sz="1200">
              <a:latin typeface="Calibri"/>
              <a:cs typeface="Calibri"/>
            </a:endParaRPr>
          </a:p>
        </p:txBody>
      </p:sp>
      <p:pic>
        <p:nvPicPr>
          <p:cNvPr id="5" name="object 5"/>
          <p:cNvPicPr/>
          <p:nvPr/>
        </p:nvPicPr>
        <p:blipFill>
          <a:blip r:embed="rId2" cstate="print"/>
          <a:stretch>
            <a:fillRect/>
          </a:stretch>
        </p:blipFill>
        <p:spPr>
          <a:xfrm>
            <a:off x="1343025" y="1571625"/>
            <a:ext cx="8562975" cy="4352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6366" rIns="0" bIns="0" rtlCol="0">
            <a:spAutoFit/>
          </a:bodyPr>
          <a:lstStyle/>
          <a:p>
            <a:pPr marL="380365">
              <a:lnSpc>
                <a:spcPct val="100000"/>
              </a:lnSpc>
              <a:spcBef>
                <a:spcPts val="130"/>
              </a:spcBef>
            </a:pPr>
            <a:r>
              <a:rPr sz="3200" b="1" spc="-20" dirty="0">
                <a:solidFill>
                  <a:srgbClr val="2E5496"/>
                </a:solidFill>
                <a:latin typeface="Times New Roman"/>
                <a:cs typeface="Times New Roman"/>
              </a:rPr>
              <a:t>Working</a:t>
            </a:r>
            <a:r>
              <a:rPr sz="3200" b="1" spc="-80" dirty="0">
                <a:solidFill>
                  <a:srgbClr val="2E5496"/>
                </a:solidFill>
                <a:latin typeface="Times New Roman"/>
                <a:cs typeface="Times New Roman"/>
              </a:rPr>
              <a:t> </a:t>
            </a:r>
            <a:r>
              <a:rPr sz="3200" b="1" dirty="0">
                <a:solidFill>
                  <a:srgbClr val="2E5496"/>
                </a:solidFill>
                <a:latin typeface="Times New Roman"/>
                <a:cs typeface="Times New Roman"/>
              </a:rPr>
              <a:t>domain</a:t>
            </a:r>
            <a:r>
              <a:rPr sz="3200" b="1" spc="-35" dirty="0">
                <a:solidFill>
                  <a:srgbClr val="2E5496"/>
                </a:solidFill>
                <a:latin typeface="Times New Roman"/>
                <a:cs typeface="Times New Roman"/>
              </a:rPr>
              <a:t> </a:t>
            </a:r>
            <a:r>
              <a:rPr sz="3200" b="1" dirty="0">
                <a:solidFill>
                  <a:srgbClr val="2E5496"/>
                </a:solidFill>
                <a:latin typeface="Times New Roman"/>
                <a:cs typeface="Times New Roman"/>
              </a:rPr>
              <a:t>or</a:t>
            </a:r>
            <a:r>
              <a:rPr sz="3200" b="1" spc="-114" dirty="0">
                <a:solidFill>
                  <a:srgbClr val="2E5496"/>
                </a:solidFill>
                <a:latin typeface="Times New Roman"/>
                <a:cs typeface="Times New Roman"/>
              </a:rPr>
              <a:t> </a:t>
            </a:r>
            <a:r>
              <a:rPr sz="3200" b="1" dirty="0">
                <a:solidFill>
                  <a:srgbClr val="2E5496"/>
                </a:solidFill>
                <a:latin typeface="Times New Roman"/>
                <a:cs typeface="Times New Roman"/>
              </a:rPr>
              <a:t>the</a:t>
            </a:r>
            <a:r>
              <a:rPr sz="3200" b="1" spc="-40" dirty="0">
                <a:solidFill>
                  <a:srgbClr val="2E5496"/>
                </a:solidFill>
                <a:latin typeface="Times New Roman"/>
                <a:cs typeface="Times New Roman"/>
              </a:rPr>
              <a:t> </a:t>
            </a:r>
            <a:r>
              <a:rPr sz="3200" b="1" spc="-10" dirty="0">
                <a:solidFill>
                  <a:srgbClr val="2E5496"/>
                </a:solidFill>
                <a:latin typeface="Times New Roman"/>
                <a:cs typeface="Times New Roman"/>
              </a:rPr>
              <a:t>technology</a:t>
            </a:r>
            <a:endParaRPr sz="3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pPr marL="115570">
                <a:lnSpc>
                  <a:spcPts val="1240"/>
                </a:lnSpc>
              </a:pPr>
              <a:t>5</a:t>
            </a:fld>
            <a:endParaRPr spc="-50" dirty="0"/>
          </a:p>
        </p:txBody>
      </p:sp>
      <p:sp>
        <p:nvSpPr>
          <p:cNvPr id="3" name="object 3"/>
          <p:cNvSpPr txBox="1"/>
          <p:nvPr/>
        </p:nvSpPr>
        <p:spPr>
          <a:xfrm>
            <a:off x="914400" y="1219200"/>
            <a:ext cx="8394065" cy="3401572"/>
          </a:xfrm>
          <a:prstGeom prst="rect">
            <a:avLst/>
          </a:prstGeom>
        </p:spPr>
        <p:txBody>
          <a:bodyPr vert="horz" wrap="square" lIns="0" tIns="15875" rIns="0" bIns="0" rtlCol="0">
            <a:spAutoFit/>
          </a:bodyPr>
          <a:lstStyle/>
          <a:p>
            <a:pPr marL="100965" indent="-96520">
              <a:lnSpc>
                <a:spcPct val="100000"/>
              </a:lnSpc>
              <a:spcBef>
                <a:spcPts val="125"/>
              </a:spcBef>
              <a:buSzPct val="95000"/>
              <a:buChar char="•"/>
              <a:tabLst>
                <a:tab pos="100965" algn="l"/>
              </a:tabLst>
            </a:pPr>
            <a:r>
              <a:rPr sz="2200" dirty="0">
                <a:latin typeface="Times New Roman" pitchFamily="18" charset="0"/>
                <a:cs typeface="Times New Roman" pitchFamily="18" charset="0"/>
              </a:rPr>
              <a:t>Artificial</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Intelligence</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(AI)</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for</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intelligent</a:t>
            </a:r>
            <a:r>
              <a:rPr sz="2200" spc="-5" dirty="0">
                <a:latin typeface="Times New Roman" pitchFamily="18" charset="0"/>
                <a:cs typeface="Times New Roman" pitchFamily="18" charset="0"/>
              </a:rPr>
              <a:t> </a:t>
            </a:r>
            <a:r>
              <a:rPr sz="2200" dirty="0">
                <a:latin typeface="Times New Roman" pitchFamily="18" charset="0"/>
                <a:cs typeface="Times New Roman" pitchFamily="18" charset="0"/>
              </a:rPr>
              <a:t>recruitment</a:t>
            </a:r>
            <a:r>
              <a:rPr sz="2200" spc="-80" dirty="0">
                <a:latin typeface="Times New Roman" pitchFamily="18" charset="0"/>
                <a:cs typeface="Times New Roman" pitchFamily="18" charset="0"/>
              </a:rPr>
              <a:t> </a:t>
            </a:r>
            <a:r>
              <a:rPr sz="2200" spc="-10" dirty="0">
                <a:latin typeface="Times New Roman" pitchFamily="18" charset="0"/>
                <a:cs typeface="Times New Roman" pitchFamily="18" charset="0"/>
              </a:rPr>
              <a:t>automation</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dirty="0">
                <a:latin typeface="Times New Roman" pitchFamily="18" charset="0"/>
                <a:cs typeface="Times New Roman" pitchFamily="18" charset="0"/>
              </a:rPr>
              <a:t>Machine</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Learning</a:t>
            </a:r>
            <a:r>
              <a:rPr sz="2200" spc="-25" dirty="0">
                <a:latin typeface="Times New Roman" pitchFamily="18" charset="0"/>
                <a:cs typeface="Times New Roman" pitchFamily="18" charset="0"/>
              </a:rPr>
              <a:t> </a:t>
            </a:r>
            <a:r>
              <a:rPr sz="2200" dirty="0">
                <a:latin typeface="Times New Roman" pitchFamily="18" charset="0"/>
                <a:cs typeface="Times New Roman" pitchFamily="18" charset="0"/>
              </a:rPr>
              <a:t>(ML)</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for</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resume</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screening</a:t>
            </a:r>
            <a:r>
              <a:rPr sz="2200" spc="-2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35" dirty="0">
                <a:latin typeface="Times New Roman" pitchFamily="18" charset="0"/>
                <a:cs typeface="Times New Roman" pitchFamily="18" charset="0"/>
              </a:rPr>
              <a:t> </a:t>
            </a:r>
            <a:r>
              <a:rPr sz="2200" dirty="0">
                <a:latin typeface="Times New Roman" pitchFamily="18" charset="0"/>
                <a:cs typeface="Times New Roman" pitchFamily="18" charset="0"/>
              </a:rPr>
              <a:t>candidate</a:t>
            </a:r>
            <a:r>
              <a:rPr sz="2200" spc="-35" dirty="0">
                <a:latin typeface="Times New Roman" pitchFamily="18" charset="0"/>
                <a:cs typeface="Times New Roman" pitchFamily="18" charset="0"/>
              </a:rPr>
              <a:t> </a:t>
            </a:r>
            <a:r>
              <a:rPr sz="2200" spc="-10" dirty="0">
                <a:latin typeface="Times New Roman" pitchFamily="18" charset="0"/>
                <a:cs typeface="Times New Roman" pitchFamily="18" charset="0"/>
              </a:rPr>
              <a:t>ranking</a:t>
            </a:r>
            <a:endParaRPr sz="2200">
              <a:latin typeface="Times New Roman" pitchFamily="18" charset="0"/>
              <a:cs typeface="Times New Roman" pitchFamily="18" charset="0"/>
            </a:endParaRPr>
          </a:p>
          <a:p>
            <a:pPr marL="100965" indent="-97155">
              <a:lnSpc>
                <a:spcPct val="100000"/>
              </a:lnSpc>
              <a:buSzPct val="95000"/>
              <a:buChar char="•"/>
              <a:tabLst>
                <a:tab pos="100965" algn="l"/>
              </a:tabLst>
            </a:pPr>
            <a:r>
              <a:rPr sz="2200" dirty="0">
                <a:latin typeface="Times New Roman" pitchFamily="18" charset="0"/>
                <a:cs typeface="Times New Roman" pitchFamily="18" charset="0"/>
              </a:rPr>
              <a:t>Natural</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Language</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Processing</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(NLP)</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for</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chatbot</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candidate</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interaction</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dirty="0">
                <a:latin typeface="Times New Roman" pitchFamily="18" charset="0"/>
                <a:cs typeface="Times New Roman" pitchFamily="18" charset="0"/>
              </a:rPr>
              <a:t>Applicant</a:t>
            </a:r>
            <a:r>
              <a:rPr sz="2200" spc="-95" dirty="0">
                <a:latin typeface="Times New Roman" pitchFamily="18" charset="0"/>
                <a:cs typeface="Times New Roman" pitchFamily="18" charset="0"/>
              </a:rPr>
              <a:t> </a:t>
            </a:r>
            <a:r>
              <a:rPr sz="2200" spc="-10" dirty="0">
                <a:latin typeface="Times New Roman" pitchFamily="18" charset="0"/>
                <a:cs typeface="Times New Roman" pitchFamily="18" charset="0"/>
              </a:rPr>
              <a:t>Tracking</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System</a:t>
            </a:r>
            <a:r>
              <a:rPr sz="2200" spc="-30" dirty="0">
                <a:latin typeface="Times New Roman" pitchFamily="18" charset="0"/>
                <a:cs typeface="Times New Roman" pitchFamily="18" charset="0"/>
              </a:rPr>
              <a:t> </a:t>
            </a:r>
            <a:r>
              <a:rPr sz="2200" spc="-10" dirty="0">
                <a:latin typeface="Times New Roman" pitchFamily="18" charset="0"/>
                <a:cs typeface="Times New Roman" pitchFamily="18" charset="0"/>
              </a:rPr>
              <a:t>(ATS)</a:t>
            </a:r>
            <a:r>
              <a:rPr sz="2200" spc="10" dirty="0">
                <a:latin typeface="Times New Roman" pitchFamily="18" charset="0"/>
                <a:cs typeface="Times New Roman" pitchFamily="18" charset="0"/>
              </a:rPr>
              <a:t> </a:t>
            </a:r>
            <a:r>
              <a:rPr sz="2200" spc="-10" dirty="0">
                <a:latin typeface="Times New Roman" pitchFamily="18" charset="0"/>
                <a:cs typeface="Times New Roman" pitchFamily="18" charset="0"/>
              </a:rPr>
              <a:t>architecture</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dirty="0">
                <a:latin typeface="Times New Roman" pitchFamily="18" charset="0"/>
                <a:cs typeface="Times New Roman" pitchFamily="18" charset="0"/>
              </a:rPr>
              <a:t>SaaS</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(Software</a:t>
            </a:r>
            <a:r>
              <a:rPr sz="2200" spc="-20" dirty="0">
                <a:latin typeface="Times New Roman" pitchFamily="18" charset="0"/>
                <a:cs typeface="Times New Roman" pitchFamily="18" charset="0"/>
              </a:rPr>
              <a:t> </a:t>
            </a:r>
            <a:r>
              <a:rPr sz="2200" dirty="0">
                <a:latin typeface="Times New Roman" pitchFamily="18" charset="0"/>
                <a:cs typeface="Times New Roman" pitchFamily="18" charset="0"/>
              </a:rPr>
              <a:t>as</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a</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Service)</a:t>
            </a:r>
            <a:r>
              <a:rPr sz="2200" spc="-25" dirty="0">
                <a:latin typeface="Times New Roman" pitchFamily="18" charset="0"/>
                <a:cs typeface="Times New Roman" pitchFamily="18" charset="0"/>
              </a:rPr>
              <a:t> </a:t>
            </a:r>
            <a:r>
              <a:rPr sz="2200" spc="-20" dirty="0">
                <a:latin typeface="Times New Roman" pitchFamily="18" charset="0"/>
                <a:cs typeface="Times New Roman" pitchFamily="18" charset="0"/>
              </a:rPr>
              <a:t>cloud-</a:t>
            </a:r>
            <a:r>
              <a:rPr sz="2200" dirty="0">
                <a:latin typeface="Times New Roman" pitchFamily="18" charset="0"/>
                <a:cs typeface="Times New Roman" pitchFamily="18" charset="0"/>
              </a:rPr>
              <a:t>based</a:t>
            </a:r>
            <a:r>
              <a:rPr sz="2200" spc="-20" dirty="0">
                <a:latin typeface="Times New Roman" pitchFamily="18" charset="0"/>
                <a:cs typeface="Times New Roman" pitchFamily="18" charset="0"/>
              </a:rPr>
              <a:t> </a:t>
            </a:r>
            <a:r>
              <a:rPr sz="2200" dirty="0">
                <a:latin typeface="Times New Roman" pitchFamily="18" charset="0"/>
                <a:cs typeface="Times New Roman" pitchFamily="18" charset="0"/>
              </a:rPr>
              <a:t>platform</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model</a:t>
            </a:r>
            <a:endParaRPr sz="2200">
              <a:latin typeface="Times New Roman" pitchFamily="18" charset="0"/>
              <a:cs typeface="Times New Roman" pitchFamily="18" charset="0"/>
            </a:endParaRPr>
          </a:p>
          <a:p>
            <a:pPr marL="100965" indent="-97155">
              <a:lnSpc>
                <a:spcPct val="100000"/>
              </a:lnSpc>
              <a:buSzPct val="95000"/>
              <a:buChar char="•"/>
              <a:tabLst>
                <a:tab pos="100965" algn="l"/>
              </a:tabLst>
            </a:pPr>
            <a:r>
              <a:rPr sz="2200" dirty="0">
                <a:latin typeface="Times New Roman" pitchFamily="18" charset="0"/>
                <a:cs typeface="Times New Roman" pitchFamily="18" charset="0"/>
              </a:rPr>
              <a:t>Database</a:t>
            </a:r>
            <a:r>
              <a:rPr sz="2200" spc="25" dirty="0">
                <a:latin typeface="Times New Roman" pitchFamily="18" charset="0"/>
                <a:cs typeface="Times New Roman" pitchFamily="18" charset="0"/>
              </a:rPr>
              <a:t> </a:t>
            </a:r>
            <a:r>
              <a:rPr sz="2200" dirty="0">
                <a:latin typeface="Times New Roman" pitchFamily="18" charset="0"/>
                <a:cs typeface="Times New Roman" pitchFamily="18" charset="0"/>
              </a:rPr>
              <a:t>Management</a:t>
            </a:r>
            <a:r>
              <a:rPr sz="2200" spc="-80" dirty="0">
                <a:latin typeface="Times New Roman" pitchFamily="18" charset="0"/>
                <a:cs typeface="Times New Roman" pitchFamily="18" charset="0"/>
              </a:rPr>
              <a:t> </a:t>
            </a:r>
            <a:r>
              <a:rPr sz="2200" dirty="0">
                <a:latin typeface="Times New Roman" pitchFamily="18" charset="0"/>
                <a:cs typeface="Times New Roman" pitchFamily="18" charset="0"/>
              </a:rPr>
              <a:t>Systems</a:t>
            </a:r>
            <a:r>
              <a:rPr sz="2200" spc="-10" dirty="0">
                <a:latin typeface="Times New Roman" pitchFamily="18" charset="0"/>
                <a:cs typeface="Times New Roman" pitchFamily="18" charset="0"/>
              </a:rPr>
              <a:t> </a:t>
            </a:r>
            <a:r>
              <a:rPr sz="2200" dirty="0">
                <a:latin typeface="Times New Roman" pitchFamily="18" charset="0"/>
                <a:cs typeface="Times New Roman" pitchFamily="18" charset="0"/>
              </a:rPr>
              <a:t>for</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candidate</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job</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data</a:t>
            </a:r>
            <a:r>
              <a:rPr sz="2200" spc="-50" dirty="0">
                <a:latin typeface="Times New Roman" pitchFamily="18" charset="0"/>
                <a:cs typeface="Times New Roman" pitchFamily="18" charset="0"/>
              </a:rPr>
              <a:t> </a:t>
            </a:r>
            <a:r>
              <a:rPr sz="2200" spc="-10" dirty="0">
                <a:latin typeface="Times New Roman" pitchFamily="18" charset="0"/>
                <a:cs typeface="Times New Roman" pitchFamily="18" charset="0"/>
              </a:rPr>
              <a:t>storage</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spc="-10" dirty="0">
                <a:latin typeface="Times New Roman" pitchFamily="18" charset="0"/>
                <a:cs typeface="Times New Roman" pitchFamily="18" charset="0"/>
              </a:rPr>
              <a:t>REST</a:t>
            </a:r>
            <a:r>
              <a:rPr sz="2200" spc="-140" dirty="0">
                <a:latin typeface="Times New Roman" pitchFamily="18" charset="0"/>
                <a:cs typeface="Times New Roman" pitchFamily="18" charset="0"/>
              </a:rPr>
              <a:t> </a:t>
            </a:r>
            <a:r>
              <a:rPr sz="2200" dirty="0">
                <a:latin typeface="Times New Roman" pitchFamily="18" charset="0"/>
                <a:cs typeface="Times New Roman" pitchFamily="18" charset="0"/>
              </a:rPr>
              <a:t>APIs</a:t>
            </a:r>
            <a:r>
              <a:rPr sz="2200" spc="-85" dirty="0">
                <a:latin typeface="Times New Roman" pitchFamily="18" charset="0"/>
                <a:cs typeface="Times New Roman" pitchFamily="18" charset="0"/>
              </a:rPr>
              <a:t> </a:t>
            </a:r>
            <a:r>
              <a:rPr sz="2200" dirty="0">
                <a:latin typeface="Times New Roman" pitchFamily="18" charset="0"/>
                <a:cs typeface="Times New Roman" pitchFamily="18" charset="0"/>
              </a:rPr>
              <a:t>for</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integration</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with</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job</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portals and</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communication</a:t>
            </a:r>
            <a:r>
              <a:rPr sz="2200" spc="-40" dirty="0">
                <a:latin typeface="Times New Roman" pitchFamily="18" charset="0"/>
                <a:cs typeface="Times New Roman" pitchFamily="18" charset="0"/>
              </a:rPr>
              <a:t> </a:t>
            </a:r>
            <a:r>
              <a:rPr sz="2200" spc="-10" dirty="0">
                <a:latin typeface="Times New Roman" pitchFamily="18" charset="0"/>
                <a:cs typeface="Times New Roman" pitchFamily="18" charset="0"/>
              </a:rPr>
              <a:t>tools</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dirty="0">
                <a:latin typeface="Times New Roman" pitchFamily="18" charset="0"/>
                <a:cs typeface="Times New Roman" pitchFamily="18" charset="0"/>
              </a:rPr>
              <a:t>Chatbot</a:t>
            </a:r>
            <a:r>
              <a:rPr sz="2200" spc="-114" dirty="0">
                <a:latin typeface="Times New Roman" pitchFamily="18" charset="0"/>
                <a:cs typeface="Times New Roman" pitchFamily="18" charset="0"/>
              </a:rPr>
              <a:t> </a:t>
            </a:r>
            <a:r>
              <a:rPr sz="2200" spc="-10" dirty="0">
                <a:latin typeface="Times New Roman" pitchFamily="18" charset="0"/>
                <a:cs typeface="Times New Roman" pitchFamily="18" charset="0"/>
              </a:rPr>
              <a:t>Technology</a:t>
            </a:r>
            <a:r>
              <a:rPr sz="2200" spc="-20" dirty="0">
                <a:latin typeface="Times New Roman" pitchFamily="18" charset="0"/>
                <a:cs typeface="Times New Roman" pitchFamily="18" charset="0"/>
              </a:rPr>
              <a:t> </a:t>
            </a:r>
            <a:r>
              <a:rPr sz="2200" spc="-10" dirty="0">
                <a:latin typeface="Times New Roman" pitchFamily="18" charset="0"/>
                <a:cs typeface="Times New Roman" pitchFamily="18" charset="0"/>
              </a:rPr>
              <a:t>(ERIKA</a:t>
            </a:r>
            <a:r>
              <a:rPr sz="2200" spc="-185" dirty="0">
                <a:latin typeface="Times New Roman" pitchFamily="18" charset="0"/>
                <a:cs typeface="Times New Roman" pitchFamily="18" charset="0"/>
              </a:rPr>
              <a:t> </a:t>
            </a:r>
            <a:r>
              <a:rPr sz="2200" dirty="0">
                <a:latin typeface="Times New Roman" pitchFamily="18" charset="0"/>
                <a:cs typeface="Times New Roman" pitchFamily="18" charset="0"/>
              </a:rPr>
              <a:t>–</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Robotic</a:t>
            </a:r>
            <a:r>
              <a:rPr sz="2200" spc="-30" dirty="0">
                <a:latin typeface="Times New Roman" pitchFamily="18" charset="0"/>
                <a:cs typeface="Times New Roman" pitchFamily="18" charset="0"/>
              </a:rPr>
              <a:t> </a:t>
            </a:r>
            <a:r>
              <a:rPr sz="2200" spc="-10" dirty="0">
                <a:latin typeface="Times New Roman" pitchFamily="18" charset="0"/>
                <a:cs typeface="Times New Roman" pitchFamily="18" charset="0"/>
              </a:rPr>
              <a:t>Recruiter)</a:t>
            </a:r>
            <a:endParaRPr sz="2200">
              <a:latin typeface="Times New Roman" pitchFamily="18" charset="0"/>
              <a:cs typeface="Times New Roman" pitchFamily="18" charset="0"/>
            </a:endParaRPr>
          </a:p>
          <a:p>
            <a:pPr marL="100965" indent="-97155">
              <a:lnSpc>
                <a:spcPct val="100000"/>
              </a:lnSpc>
              <a:buSzPct val="95000"/>
              <a:buChar char="•"/>
              <a:tabLst>
                <a:tab pos="100965" algn="l"/>
              </a:tabLst>
            </a:pPr>
            <a:r>
              <a:rPr sz="2200" dirty="0">
                <a:latin typeface="Times New Roman" pitchFamily="18" charset="0"/>
                <a:cs typeface="Times New Roman" pitchFamily="18" charset="0"/>
              </a:rPr>
              <a:t>Recruitment</a:t>
            </a:r>
            <a:r>
              <a:rPr sz="2200" spc="-120" dirty="0">
                <a:latin typeface="Times New Roman" pitchFamily="18" charset="0"/>
                <a:cs typeface="Times New Roman" pitchFamily="18" charset="0"/>
              </a:rPr>
              <a:t> </a:t>
            </a:r>
            <a:r>
              <a:rPr sz="2200" dirty="0">
                <a:latin typeface="Times New Roman" pitchFamily="18" charset="0"/>
                <a:cs typeface="Times New Roman" pitchFamily="18" charset="0"/>
              </a:rPr>
              <a:t>Analytics</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20" dirty="0">
                <a:latin typeface="Times New Roman" pitchFamily="18" charset="0"/>
                <a:cs typeface="Times New Roman" pitchFamily="18" charset="0"/>
              </a:rPr>
              <a:t> </a:t>
            </a:r>
            <a:r>
              <a:rPr sz="2200" dirty="0">
                <a:latin typeface="Times New Roman" pitchFamily="18" charset="0"/>
                <a:cs typeface="Times New Roman" pitchFamily="18" charset="0"/>
              </a:rPr>
              <a:t>Reporting</a:t>
            </a:r>
            <a:r>
              <a:rPr sz="2200" spc="-20" dirty="0">
                <a:latin typeface="Times New Roman" pitchFamily="18" charset="0"/>
                <a:cs typeface="Times New Roman" pitchFamily="18" charset="0"/>
              </a:rPr>
              <a:t> </a:t>
            </a:r>
            <a:r>
              <a:rPr sz="2200" spc="-10" dirty="0">
                <a:latin typeface="Times New Roman" pitchFamily="18" charset="0"/>
                <a:cs typeface="Times New Roman" pitchFamily="18" charset="0"/>
              </a:rPr>
              <a:t>Dashboards</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spc="-10" dirty="0">
                <a:latin typeface="Times New Roman" pitchFamily="18" charset="0"/>
                <a:cs typeface="Times New Roman" pitchFamily="18" charset="0"/>
              </a:rPr>
              <a:t>Workflow</a:t>
            </a:r>
            <a:r>
              <a:rPr sz="2200" spc="-140" dirty="0">
                <a:latin typeface="Times New Roman" pitchFamily="18" charset="0"/>
                <a:cs typeface="Times New Roman" pitchFamily="18" charset="0"/>
              </a:rPr>
              <a:t> </a:t>
            </a:r>
            <a:r>
              <a:rPr sz="2200" dirty="0">
                <a:latin typeface="Times New Roman" pitchFamily="18" charset="0"/>
                <a:cs typeface="Times New Roman" pitchFamily="18" charset="0"/>
              </a:rPr>
              <a:t>Automation</a:t>
            </a:r>
            <a:r>
              <a:rPr sz="2200" spc="-50" dirty="0">
                <a:latin typeface="Times New Roman" pitchFamily="18" charset="0"/>
                <a:cs typeface="Times New Roman" pitchFamily="18" charset="0"/>
              </a:rPr>
              <a:t> </a:t>
            </a:r>
            <a:r>
              <a:rPr sz="2200" spc="-10" dirty="0">
                <a:latin typeface="Times New Roman" pitchFamily="18" charset="0"/>
                <a:cs typeface="Times New Roman" pitchFamily="18" charset="0"/>
              </a:rPr>
              <a:t>Systems</a:t>
            </a:r>
            <a:endParaRPr sz="220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6366" rIns="0" bIns="0" rtlCol="0">
            <a:spAutoFit/>
          </a:bodyPr>
          <a:lstStyle/>
          <a:p>
            <a:pPr marL="380365">
              <a:lnSpc>
                <a:spcPct val="100000"/>
              </a:lnSpc>
              <a:spcBef>
                <a:spcPts val="130"/>
              </a:spcBef>
            </a:pPr>
            <a:r>
              <a:rPr sz="3200" b="1" dirty="0">
                <a:solidFill>
                  <a:srgbClr val="2E5496"/>
                </a:solidFill>
                <a:latin typeface="Times New Roman"/>
                <a:cs typeface="Times New Roman"/>
              </a:rPr>
              <a:t>About</a:t>
            </a:r>
            <a:r>
              <a:rPr sz="3200" b="1" spc="-100" dirty="0">
                <a:solidFill>
                  <a:srgbClr val="2E5496"/>
                </a:solidFill>
                <a:latin typeface="Times New Roman"/>
                <a:cs typeface="Times New Roman"/>
              </a:rPr>
              <a:t> </a:t>
            </a:r>
            <a:r>
              <a:rPr sz="3200" b="1" dirty="0">
                <a:solidFill>
                  <a:srgbClr val="2E5496"/>
                </a:solidFill>
                <a:latin typeface="Times New Roman"/>
                <a:cs typeface="Times New Roman"/>
              </a:rPr>
              <a:t>your</a:t>
            </a:r>
            <a:r>
              <a:rPr sz="3200" b="1" spc="-90" dirty="0">
                <a:solidFill>
                  <a:srgbClr val="2E5496"/>
                </a:solidFill>
                <a:latin typeface="Times New Roman"/>
                <a:cs typeface="Times New Roman"/>
              </a:rPr>
              <a:t> </a:t>
            </a:r>
            <a:r>
              <a:rPr sz="3200" b="1" dirty="0">
                <a:solidFill>
                  <a:srgbClr val="2E5496"/>
                </a:solidFill>
                <a:latin typeface="Times New Roman"/>
                <a:cs typeface="Times New Roman"/>
              </a:rPr>
              <a:t>team</a:t>
            </a:r>
            <a:r>
              <a:rPr sz="3200" b="1" spc="-75" dirty="0">
                <a:solidFill>
                  <a:srgbClr val="2E5496"/>
                </a:solidFill>
                <a:latin typeface="Times New Roman"/>
                <a:cs typeface="Times New Roman"/>
              </a:rPr>
              <a:t> </a:t>
            </a:r>
            <a:r>
              <a:rPr sz="3200" b="1" dirty="0">
                <a:solidFill>
                  <a:srgbClr val="2E5496"/>
                </a:solidFill>
                <a:latin typeface="Times New Roman"/>
                <a:cs typeface="Times New Roman"/>
              </a:rPr>
              <a:t>and</a:t>
            </a:r>
            <a:r>
              <a:rPr sz="3200" b="1" spc="-10" dirty="0">
                <a:solidFill>
                  <a:srgbClr val="2E5496"/>
                </a:solidFill>
                <a:latin typeface="Times New Roman"/>
                <a:cs typeface="Times New Roman"/>
              </a:rPr>
              <a:t> reporting</a:t>
            </a:r>
            <a:r>
              <a:rPr sz="3200" b="1" spc="-50" dirty="0">
                <a:solidFill>
                  <a:srgbClr val="2E5496"/>
                </a:solidFill>
                <a:latin typeface="Times New Roman"/>
                <a:cs typeface="Times New Roman"/>
              </a:rPr>
              <a:t> </a:t>
            </a:r>
            <a:r>
              <a:rPr sz="3200" b="1" spc="-10" dirty="0">
                <a:solidFill>
                  <a:srgbClr val="2E5496"/>
                </a:solidFill>
                <a:latin typeface="Times New Roman"/>
                <a:cs typeface="Times New Roman"/>
              </a:rPr>
              <a:t>Manager</a:t>
            </a:r>
            <a:endParaRPr sz="3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pPr marL="115570">
                <a:lnSpc>
                  <a:spcPts val="1240"/>
                </a:lnSpc>
              </a:pPr>
              <a:t>6</a:t>
            </a:fld>
            <a:endParaRPr spc="-50" dirty="0"/>
          </a:p>
        </p:txBody>
      </p:sp>
      <p:sp>
        <p:nvSpPr>
          <p:cNvPr id="3" name="object 3"/>
          <p:cNvSpPr txBox="1"/>
          <p:nvPr/>
        </p:nvSpPr>
        <p:spPr>
          <a:xfrm>
            <a:off x="914400" y="1143000"/>
            <a:ext cx="9274810" cy="4722447"/>
          </a:xfrm>
          <a:prstGeom prst="rect">
            <a:avLst/>
          </a:prstGeom>
        </p:spPr>
        <p:txBody>
          <a:bodyPr vert="horz" wrap="square" lIns="0" tIns="15875" rIns="0" bIns="0" rtlCol="0">
            <a:spAutoFit/>
          </a:bodyPr>
          <a:lstStyle/>
          <a:p>
            <a:pPr marL="12700">
              <a:lnSpc>
                <a:spcPct val="100000"/>
              </a:lnSpc>
              <a:spcBef>
                <a:spcPts val="125"/>
              </a:spcBef>
            </a:pPr>
            <a:r>
              <a:rPr sz="2000" b="1" smtClean="0">
                <a:latin typeface="Times New Roman" pitchFamily="18" charset="0"/>
                <a:cs typeface="Times New Roman" pitchFamily="18" charset="0"/>
              </a:rPr>
              <a:t>Team</a:t>
            </a:r>
            <a:r>
              <a:rPr sz="2000" b="1" spc="125" smtClean="0">
                <a:latin typeface="Times New Roman" pitchFamily="18" charset="0"/>
                <a:cs typeface="Times New Roman" pitchFamily="18" charset="0"/>
              </a:rPr>
              <a:t> </a:t>
            </a:r>
            <a:r>
              <a:rPr sz="2000" b="1" smtClean="0">
                <a:latin typeface="Times New Roman" pitchFamily="18" charset="0"/>
                <a:cs typeface="Times New Roman" pitchFamily="18" charset="0"/>
              </a:rPr>
              <a:t>Structure,</a:t>
            </a:r>
            <a:r>
              <a:rPr sz="2000" b="1" spc="105" smtClean="0">
                <a:latin typeface="Times New Roman" pitchFamily="18" charset="0"/>
                <a:cs typeface="Times New Roman" pitchFamily="18" charset="0"/>
              </a:rPr>
              <a:t> </a:t>
            </a:r>
            <a:r>
              <a:rPr sz="2000" b="1" smtClean="0">
                <a:latin typeface="Times New Roman" pitchFamily="18" charset="0"/>
                <a:cs typeface="Times New Roman" pitchFamily="18" charset="0"/>
              </a:rPr>
              <a:t>Project,</a:t>
            </a:r>
            <a:r>
              <a:rPr sz="2000" b="1" spc="105" smtClean="0">
                <a:latin typeface="Times New Roman" pitchFamily="18" charset="0"/>
                <a:cs typeface="Times New Roman" pitchFamily="18" charset="0"/>
              </a:rPr>
              <a:t> </a:t>
            </a:r>
            <a:r>
              <a:rPr sz="2000" b="1" smtClean="0">
                <a:latin typeface="Times New Roman" pitchFamily="18" charset="0"/>
                <a:cs typeface="Times New Roman" pitchFamily="18" charset="0"/>
              </a:rPr>
              <a:t>Reporting</a:t>
            </a:r>
            <a:r>
              <a:rPr sz="2000" b="1" spc="114" smtClean="0">
                <a:latin typeface="Times New Roman" pitchFamily="18" charset="0"/>
                <a:cs typeface="Times New Roman" pitchFamily="18" charset="0"/>
              </a:rPr>
              <a:t> </a:t>
            </a:r>
            <a:r>
              <a:rPr sz="2000" b="1" smtClean="0">
                <a:latin typeface="Times New Roman" pitchFamily="18" charset="0"/>
                <a:cs typeface="Times New Roman" pitchFamily="18" charset="0"/>
              </a:rPr>
              <a:t>&amp;</a:t>
            </a:r>
            <a:r>
              <a:rPr sz="2000" b="1" spc="85" smtClean="0">
                <a:latin typeface="Times New Roman" pitchFamily="18" charset="0"/>
                <a:cs typeface="Times New Roman" pitchFamily="18" charset="0"/>
              </a:rPr>
              <a:t> </a:t>
            </a:r>
            <a:r>
              <a:rPr sz="2000" b="1" smtClean="0">
                <a:latin typeface="Times New Roman" pitchFamily="18" charset="0"/>
                <a:cs typeface="Times New Roman" pitchFamily="18" charset="0"/>
              </a:rPr>
              <a:t>Technology</a:t>
            </a:r>
            <a:r>
              <a:rPr sz="2000" b="1" spc="125" smtClean="0">
                <a:latin typeface="Times New Roman" pitchFamily="18" charset="0"/>
                <a:cs typeface="Times New Roman" pitchFamily="18" charset="0"/>
              </a:rPr>
              <a:t> </a:t>
            </a:r>
            <a:r>
              <a:rPr sz="2000" b="1" spc="-10" smtClean="0">
                <a:latin typeface="Times New Roman" pitchFamily="18" charset="0"/>
                <a:cs typeface="Times New Roman" pitchFamily="18" charset="0"/>
              </a:rPr>
              <a:t>Understanding</a:t>
            </a:r>
            <a:endParaRPr sz="2000" smtClean="0">
              <a:latin typeface="Times New Roman" pitchFamily="18" charset="0"/>
              <a:cs typeface="Times New Roman" pitchFamily="18" charset="0"/>
            </a:endParaRPr>
          </a:p>
          <a:p>
            <a:pPr marL="83820" indent="-78105">
              <a:lnSpc>
                <a:spcPct val="100000"/>
              </a:lnSpc>
              <a:spcBef>
                <a:spcPts val="20"/>
              </a:spcBef>
              <a:buSzPct val="93548"/>
              <a:buChar char="•"/>
              <a:tabLst>
                <a:tab pos="83820" algn="l"/>
              </a:tabLst>
            </a:pPr>
            <a:r>
              <a:rPr sz="2000" smtClean="0">
                <a:latin typeface="Times New Roman" pitchFamily="18" charset="0"/>
                <a:cs typeface="Times New Roman" pitchFamily="18" charset="0"/>
              </a:rPr>
              <a:t>Our</a:t>
            </a:r>
            <a:r>
              <a:rPr sz="2000" spc="100" smtClean="0">
                <a:latin typeface="Times New Roman" pitchFamily="18" charset="0"/>
                <a:cs typeface="Times New Roman" pitchFamily="18" charset="0"/>
              </a:rPr>
              <a:t> </a:t>
            </a:r>
            <a:r>
              <a:rPr sz="2000" smtClean="0">
                <a:latin typeface="Times New Roman" pitchFamily="18" charset="0"/>
                <a:cs typeface="Times New Roman" pitchFamily="18" charset="0"/>
              </a:rPr>
              <a:t>team</a:t>
            </a:r>
            <a:r>
              <a:rPr sz="2000" spc="145" smtClean="0">
                <a:latin typeface="Times New Roman" pitchFamily="18" charset="0"/>
                <a:cs typeface="Times New Roman" pitchFamily="18" charset="0"/>
              </a:rPr>
              <a:t> </a:t>
            </a:r>
            <a:r>
              <a:rPr sz="2000" smtClean="0">
                <a:latin typeface="Times New Roman" pitchFamily="18" charset="0"/>
                <a:cs typeface="Times New Roman" pitchFamily="18" charset="0"/>
              </a:rPr>
              <a:t>consists</a:t>
            </a:r>
            <a:r>
              <a:rPr sz="2000" spc="60" smtClean="0">
                <a:latin typeface="Times New Roman" pitchFamily="18" charset="0"/>
                <a:cs typeface="Times New Roman" pitchFamily="18" charset="0"/>
              </a:rPr>
              <a:t> </a:t>
            </a:r>
            <a:r>
              <a:rPr sz="2000" smtClean="0">
                <a:latin typeface="Times New Roman" pitchFamily="18" charset="0"/>
                <a:cs typeface="Times New Roman" pitchFamily="18" charset="0"/>
              </a:rPr>
              <a:t>of</a:t>
            </a:r>
            <a:r>
              <a:rPr sz="2000" spc="114" smtClean="0">
                <a:latin typeface="Times New Roman" pitchFamily="18" charset="0"/>
                <a:cs typeface="Times New Roman" pitchFamily="18" charset="0"/>
              </a:rPr>
              <a:t> </a:t>
            </a:r>
            <a:r>
              <a:rPr sz="2000" smtClean="0">
                <a:latin typeface="Times New Roman" pitchFamily="18" charset="0"/>
                <a:cs typeface="Times New Roman" pitchFamily="18" charset="0"/>
              </a:rPr>
              <a:t>9</a:t>
            </a:r>
            <a:r>
              <a:rPr sz="2000" spc="130" smtClean="0">
                <a:latin typeface="Times New Roman" pitchFamily="18" charset="0"/>
                <a:cs typeface="Times New Roman" pitchFamily="18" charset="0"/>
              </a:rPr>
              <a:t> </a:t>
            </a:r>
            <a:r>
              <a:rPr sz="2000" smtClean="0">
                <a:latin typeface="Times New Roman" pitchFamily="18" charset="0"/>
                <a:cs typeface="Times New Roman" pitchFamily="18" charset="0"/>
              </a:rPr>
              <a:t>members,</a:t>
            </a:r>
            <a:r>
              <a:rPr sz="2000" spc="114" smtClean="0">
                <a:latin typeface="Times New Roman" pitchFamily="18" charset="0"/>
                <a:cs typeface="Times New Roman" pitchFamily="18" charset="0"/>
              </a:rPr>
              <a:t> </a:t>
            </a:r>
            <a:r>
              <a:rPr sz="2000" smtClean="0">
                <a:latin typeface="Times New Roman" pitchFamily="18" charset="0"/>
                <a:cs typeface="Times New Roman" pitchFamily="18" charset="0"/>
              </a:rPr>
              <a:t>guided</a:t>
            </a:r>
            <a:r>
              <a:rPr sz="2000" spc="125" smtClean="0">
                <a:latin typeface="Times New Roman" pitchFamily="18" charset="0"/>
                <a:cs typeface="Times New Roman" pitchFamily="18" charset="0"/>
              </a:rPr>
              <a:t> </a:t>
            </a:r>
            <a:r>
              <a:rPr sz="2000" smtClean="0">
                <a:latin typeface="Times New Roman" pitchFamily="18" charset="0"/>
                <a:cs typeface="Times New Roman" pitchFamily="18" charset="0"/>
              </a:rPr>
              <a:t>by</a:t>
            </a:r>
            <a:r>
              <a:rPr sz="2000" spc="60" smtClean="0">
                <a:latin typeface="Times New Roman" pitchFamily="18" charset="0"/>
                <a:cs typeface="Times New Roman" pitchFamily="18" charset="0"/>
              </a:rPr>
              <a:t> </a:t>
            </a:r>
            <a:r>
              <a:rPr sz="2000" smtClean="0">
                <a:latin typeface="Times New Roman" pitchFamily="18" charset="0"/>
                <a:cs typeface="Times New Roman" pitchFamily="18" charset="0"/>
              </a:rPr>
              <a:t>our</a:t>
            </a:r>
            <a:r>
              <a:rPr sz="2000" spc="100" smtClean="0">
                <a:latin typeface="Times New Roman" pitchFamily="18" charset="0"/>
                <a:cs typeface="Times New Roman" pitchFamily="18" charset="0"/>
              </a:rPr>
              <a:t> </a:t>
            </a:r>
            <a:r>
              <a:rPr sz="2000" smtClean="0">
                <a:latin typeface="Times New Roman" pitchFamily="18" charset="0"/>
                <a:cs typeface="Times New Roman" pitchFamily="18" charset="0"/>
              </a:rPr>
              <a:t>Reporting</a:t>
            </a:r>
            <a:r>
              <a:rPr sz="2000" spc="45" smtClean="0">
                <a:latin typeface="Times New Roman" pitchFamily="18" charset="0"/>
                <a:cs typeface="Times New Roman" pitchFamily="18" charset="0"/>
              </a:rPr>
              <a:t> </a:t>
            </a:r>
            <a:r>
              <a:rPr sz="2000" smtClean="0">
                <a:latin typeface="Times New Roman" pitchFamily="18" charset="0"/>
                <a:cs typeface="Times New Roman" pitchFamily="18" charset="0"/>
              </a:rPr>
              <a:t>Manager,</a:t>
            </a:r>
            <a:r>
              <a:rPr sz="2000" spc="95" smtClean="0">
                <a:latin typeface="Times New Roman" pitchFamily="18" charset="0"/>
                <a:cs typeface="Times New Roman" pitchFamily="18" charset="0"/>
              </a:rPr>
              <a:t> </a:t>
            </a:r>
            <a:r>
              <a:rPr sz="2000" b="1" smtClean="0">
                <a:latin typeface="Times New Roman" pitchFamily="18" charset="0"/>
                <a:cs typeface="Times New Roman" pitchFamily="18" charset="0"/>
              </a:rPr>
              <a:t>Mr.</a:t>
            </a:r>
            <a:r>
              <a:rPr sz="2000" b="1" spc="20" smtClean="0">
                <a:latin typeface="Times New Roman" pitchFamily="18" charset="0"/>
                <a:cs typeface="Times New Roman" pitchFamily="18" charset="0"/>
              </a:rPr>
              <a:t> </a:t>
            </a:r>
            <a:r>
              <a:rPr sz="2000" b="1" smtClean="0">
                <a:latin typeface="Times New Roman" pitchFamily="18" charset="0"/>
                <a:cs typeface="Times New Roman" pitchFamily="18" charset="0"/>
              </a:rPr>
              <a:t>Ashish</a:t>
            </a:r>
            <a:r>
              <a:rPr sz="2000" b="1" spc="145" smtClean="0">
                <a:latin typeface="Times New Roman" pitchFamily="18" charset="0"/>
                <a:cs typeface="Times New Roman" pitchFamily="18" charset="0"/>
              </a:rPr>
              <a:t> </a:t>
            </a:r>
            <a:r>
              <a:rPr sz="2000" b="1" spc="-10" smtClean="0">
                <a:latin typeface="Times New Roman" pitchFamily="18" charset="0"/>
                <a:cs typeface="Times New Roman" pitchFamily="18" charset="0"/>
              </a:rPr>
              <a:t>Meridatta</a:t>
            </a:r>
            <a:r>
              <a:rPr sz="2000" spc="-10" smtClean="0">
                <a:latin typeface="Times New Roman" pitchFamily="18" charset="0"/>
                <a:cs typeface="Times New Roman" pitchFamily="18" charset="0"/>
              </a:rPr>
              <a:t>.</a:t>
            </a:r>
            <a:endParaRPr sz="2000" smtClean="0">
              <a:latin typeface="Times New Roman" pitchFamily="18" charset="0"/>
              <a:cs typeface="Times New Roman" pitchFamily="18" charset="0"/>
            </a:endParaRPr>
          </a:p>
          <a:p>
            <a:pPr marL="83820" indent="-78105">
              <a:lnSpc>
                <a:spcPct val="100000"/>
              </a:lnSpc>
              <a:spcBef>
                <a:spcPts val="95"/>
              </a:spcBef>
              <a:buSzPct val="93548"/>
              <a:buChar char="•"/>
              <a:tabLst>
                <a:tab pos="83820" algn="l"/>
              </a:tabLst>
            </a:pPr>
            <a:r>
              <a:rPr sz="2000" smtClean="0">
                <a:latin typeface="Times New Roman" pitchFamily="18" charset="0"/>
                <a:cs typeface="Times New Roman" pitchFamily="18" charset="0"/>
              </a:rPr>
              <a:t>Currently,</a:t>
            </a:r>
            <a:r>
              <a:rPr sz="2000" spc="90" smtClean="0">
                <a:latin typeface="Times New Roman" pitchFamily="18" charset="0"/>
                <a:cs typeface="Times New Roman" pitchFamily="18" charset="0"/>
              </a:rPr>
              <a:t> </a:t>
            </a:r>
            <a:r>
              <a:rPr sz="2000" smtClean="0">
                <a:latin typeface="Times New Roman" pitchFamily="18" charset="0"/>
                <a:cs typeface="Times New Roman" pitchFamily="18" charset="0"/>
              </a:rPr>
              <a:t>we</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are</a:t>
            </a:r>
            <a:r>
              <a:rPr sz="2000" spc="110" smtClean="0">
                <a:latin typeface="Times New Roman" pitchFamily="18" charset="0"/>
                <a:cs typeface="Times New Roman" pitchFamily="18" charset="0"/>
              </a:rPr>
              <a:t> </a:t>
            </a:r>
            <a:r>
              <a:rPr sz="2000" smtClean="0">
                <a:latin typeface="Times New Roman" pitchFamily="18" charset="0"/>
                <a:cs typeface="Times New Roman" pitchFamily="18" charset="0"/>
              </a:rPr>
              <a:t>in</a:t>
            </a:r>
            <a:r>
              <a:rPr sz="2000" spc="25" smtClean="0">
                <a:latin typeface="Times New Roman" pitchFamily="18" charset="0"/>
                <a:cs typeface="Times New Roman" pitchFamily="18" charset="0"/>
              </a:rPr>
              <a:t> </a:t>
            </a:r>
            <a:r>
              <a:rPr sz="2000" smtClean="0">
                <a:latin typeface="Times New Roman" pitchFamily="18" charset="0"/>
                <a:cs typeface="Times New Roman" pitchFamily="18" charset="0"/>
              </a:rPr>
              <a:t>the</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training</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phase</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on</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the</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company’s</a:t>
            </a:r>
            <a:r>
              <a:rPr sz="2000" spc="65" smtClean="0">
                <a:latin typeface="Times New Roman" pitchFamily="18" charset="0"/>
                <a:cs typeface="Times New Roman" pitchFamily="18" charset="0"/>
              </a:rPr>
              <a:t> </a:t>
            </a:r>
            <a:r>
              <a:rPr sz="2000" b="1" smtClean="0">
                <a:latin typeface="Times New Roman" pitchFamily="18" charset="0"/>
                <a:cs typeface="Times New Roman" pitchFamily="18" charset="0"/>
              </a:rPr>
              <a:t>ATS</a:t>
            </a:r>
            <a:r>
              <a:rPr sz="2000" b="1" spc="75" smtClean="0">
                <a:latin typeface="Times New Roman" pitchFamily="18" charset="0"/>
                <a:cs typeface="Times New Roman" pitchFamily="18" charset="0"/>
              </a:rPr>
              <a:t> </a:t>
            </a:r>
            <a:r>
              <a:rPr sz="2000" b="1" smtClean="0">
                <a:latin typeface="Times New Roman" pitchFamily="18" charset="0"/>
                <a:cs typeface="Times New Roman" pitchFamily="18" charset="0"/>
              </a:rPr>
              <a:t>(Applicant</a:t>
            </a:r>
            <a:r>
              <a:rPr sz="2000" b="1" spc="75" smtClean="0">
                <a:latin typeface="Times New Roman" pitchFamily="18" charset="0"/>
                <a:cs typeface="Times New Roman" pitchFamily="18" charset="0"/>
              </a:rPr>
              <a:t> </a:t>
            </a:r>
            <a:r>
              <a:rPr sz="2000" b="1" smtClean="0">
                <a:latin typeface="Times New Roman" pitchFamily="18" charset="0"/>
                <a:cs typeface="Times New Roman" pitchFamily="18" charset="0"/>
              </a:rPr>
              <a:t>Tracking</a:t>
            </a:r>
            <a:r>
              <a:rPr sz="2000" b="1" spc="90" smtClean="0">
                <a:latin typeface="Times New Roman" pitchFamily="18" charset="0"/>
                <a:cs typeface="Times New Roman" pitchFamily="18" charset="0"/>
              </a:rPr>
              <a:t> </a:t>
            </a:r>
            <a:r>
              <a:rPr sz="2000" b="1" smtClean="0">
                <a:latin typeface="Times New Roman" pitchFamily="18" charset="0"/>
                <a:cs typeface="Times New Roman" pitchFamily="18" charset="0"/>
              </a:rPr>
              <a:t>System)</a:t>
            </a:r>
            <a:r>
              <a:rPr sz="2000" b="1" spc="75" smtClean="0">
                <a:latin typeface="Times New Roman" pitchFamily="18" charset="0"/>
                <a:cs typeface="Times New Roman" pitchFamily="18" charset="0"/>
              </a:rPr>
              <a:t> </a:t>
            </a:r>
            <a:r>
              <a:rPr sz="2000" b="1" spc="-10" smtClean="0">
                <a:latin typeface="Times New Roman" pitchFamily="18" charset="0"/>
                <a:cs typeface="Times New Roman" pitchFamily="18" charset="0"/>
              </a:rPr>
              <a:t>product</a:t>
            </a:r>
            <a:r>
              <a:rPr sz="2000" spc="-10" smtClean="0">
                <a:latin typeface="Times New Roman" pitchFamily="18" charset="0"/>
                <a:cs typeface="Times New Roman" pitchFamily="18" charset="0"/>
              </a:rPr>
              <a:t>.</a:t>
            </a:r>
            <a:endParaRPr sz="2000" smtClean="0">
              <a:latin typeface="Times New Roman" pitchFamily="18" charset="0"/>
              <a:cs typeface="Times New Roman" pitchFamily="18" charset="0"/>
            </a:endParaRPr>
          </a:p>
          <a:p>
            <a:pPr marL="83820" indent="-78105">
              <a:lnSpc>
                <a:spcPct val="100000"/>
              </a:lnSpc>
              <a:spcBef>
                <a:spcPts val="90"/>
              </a:spcBef>
              <a:buSzPct val="93548"/>
              <a:buChar char="•"/>
              <a:tabLst>
                <a:tab pos="83820" algn="l"/>
              </a:tabLst>
            </a:pPr>
            <a:r>
              <a:rPr sz="2000" smtClean="0">
                <a:latin typeface="Times New Roman" pitchFamily="18" charset="0"/>
                <a:cs typeface="Times New Roman" pitchFamily="18" charset="0"/>
              </a:rPr>
              <a:t>We</a:t>
            </a:r>
            <a:r>
              <a:rPr sz="2000" spc="145" smtClean="0">
                <a:latin typeface="Times New Roman" pitchFamily="18" charset="0"/>
                <a:cs typeface="Times New Roman" pitchFamily="18" charset="0"/>
              </a:rPr>
              <a:t> </a:t>
            </a:r>
            <a:r>
              <a:rPr sz="2000" smtClean="0">
                <a:latin typeface="Times New Roman" pitchFamily="18" charset="0"/>
                <a:cs typeface="Times New Roman" pitchFamily="18" charset="0"/>
              </a:rPr>
              <a:t>are</a:t>
            </a:r>
            <a:r>
              <a:rPr sz="2000" spc="60" smtClean="0">
                <a:latin typeface="Times New Roman" pitchFamily="18" charset="0"/>
                <a:cs typeface="Times New Roman" pitchFamily="18" charset="0"/>
              </a:rPr>
              <a:t> </a:t>
            </a:r>
            <a:r>
              <a:rPr sz="2000" smtClean="0">
                <a:latin typeface="Times New Roman" pitchFamily="18" charset="0"/>
                <a:cs typeface="Times New Roman" pitchFamily="18" charset="0"/>
              </a:rPr>
              <a:t>learning</a:t>
            </a:r>
            <a:r>
              <a:rPr sz="2000" spc="145" smtClean="0">
                <a:latin typeface="Times New Roman" pitchFamily="18" charset="0"/>
                <a:cs typeface="Times New Roman" pitchFamily="18" charset="0"/>
              </a:rPr>
              <a:t> </a:t>
            </a:r>
            <a:r>
              <a:rPr sz="2000" smtClean="0">
                <a:latin typeface="Times New Roman" pitchFamily="18" charset="0"/>
                <a:cs typeface="Times New Roman" pitchFamily="18" charset="0"/>
              </a:rPr>
              <a:t>how</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each</a:t>
            </a:r>
            <a:r>
              <a:rPr sz="2000" spc="150" smtClean="0">
                <a:latin typeface="Times New Roman" pitchFamily="18" charset="0"/>
                <a:cs typeface="Times New Roman" pitchFamily="18" charset="0"/>
              </a:rPr>
              <a:t> </a:t>
            </a:r>
            <a:r>
              <a:rPr sz="2000" smtClean="0">
                <a:latin typeface="Times New Roman" pitchFamily="18" charset="0"/>
                <a:cs typeface="Times New Roman" pitchFamily="18" charset="0"/>
              </a:rPr>
              <a:t>technology</a:t>
            </a:r>
            <a:r>
              <a:rPr sz="2000" spc="70" smtClean="0">
                <a:latin typeface="Times New Roman" pitchFamily="18" charset="0"/>
                <a:cs typeface="Times New Roman" pitchFamily="18" charset="0"/>
              </a:rPr>
              <a:t> </a:t>
            </a:r>
            <a:r>
              <a:rPr sz="2000" smtClean="0">
                <a:latin typeface="Times New Roman" pitchFamily="18" charset="0"/>
                <a:cs typeface="Times New Roman" pitchFamily="18" charset="0"/>
              </a:rPr>
              <a:t>supports</a:t>
            </a:r>
            <a:r>
              <a:rPr sz="2000" spc="165" smtClean="0">
                <a:latin typeface="Times New Roman" pitchFamily="18" charset="0"/>
                <a:cs typeface="Times New Roman" pitchFamily="18" charset="0"/>
              </a:rPr>
              <a:t> </a:t>
            </a:r>
            <a:r>
              <a:rPr sz="2000" smtClean="0">
                <a:latin typeface="Times New Roman" pitchFamily="18" charset="0"/>
                <a:cs typeface="Times New Roman" pitchFamily="18" charset="0"/>
              </a:rPr>
              <a:t>the</a:t>
            </a:r>
            <a:r>
              <a:rPr sz="2000" spc="150" smtClean="0">
                <a:latin typeface="Times New Roman" pitchFamily="18" charset="0"/>
                <a:cs typeface="Times New Roman" pitchFamily="18" charset="0"/>
              </a:rPr>
              <a:t> </a:t>
            </a:r>
            <a:r>
              <a:rPr sz="2000" smtClean="0">
                <a:latin typeface="Times New Roman" pitchFamily="18" charset="0"/>
                <a:cs typeface="Times New Roman" pitchFamily="18" charset="0"/>
              </a:rPr>
              <a:t>recruitment</a:t>
            </a:r>
            <a:r>
              <a:rPr sz="2000" spc="135" smtClean="0">
                <a:latin typeface="Times New Roman" pitchFamily="18" charset="0"/>
                <a:cs typeface="Times New Roman" pitchFamily="18" charset="0"/>
              </a:rPr>
              <a:t> </a:t>
            </a:r>
            <a:r>
              <a:rPr sz="2000" spc="-10" smtClean="0">
                <a:latin typeface="Times New Roman" pitchFamily="18" charset="0"/>
                <a:cs typeface="Times New Roman" pitchFamily="18" charset="0"/>
              </a:rPr>
              <a:t>process:</a:t>
            </a:r>
            <a:endParaRPr sz="2000" smtClean="0">
              <a:latin typeface="Times New Roman" pitchFamily="18" charset="0"/>
              <a:cs typeface="Times New Roman" pitchFamily="18" charset="0"/>
            </a:endParaRPr>
          </a:p>
          <a:p>
            <a:pPr marL="12700">
              <a:lnSpc>
                <a:spcPct val="100000"/>
              </a:lnSpc>
              <a:spcBef>
                <a:spcPts val="20"/>
              </a:spcBef>
            </a:pPr>
            <a:r>
              <a:rPr sz="2000" b="1" smtClean="0">
                <a:latin typeface="Times New Roman" pitchFamily="18" charset="0"/>
                <a:cs typeface="Times New Roman" pitchFamily="18" charset="0"/>
              </a:rPr>
              <a:t>Technology</a:t>
            </a:r>
            <a:r>
              <a:rPr sz="2000" b="1" spc="90" smtClean="0">
                <a:latin typeface="Times New Roman" pitchFamily="18" charset="0"/>
                <a:cs typeface="Times New Roman" pitchFamily="18" charset="0"/>
              </a:rPr>
              <a:t> </a:t>
            </a:r>
            <a:r>
              <a:rPr sz="2000" b="1" spc="-10" smtClean="0">
                <a:latin typeface="Times New Roman" pitchFamily="18" charset="0"/>
                <a:cs typeface="Times New Roman" pitchFamily="18" charset="0"/>
              </a:rPr>
              <a:t>Understanding:</a:t>
            </a:r>
            <a:endParaRPr sz="2000" smtClean="0">
              <a:latin typeface="Times New Roman" pitchFamily="18" charset="0"/>
              <a:cs typeface="Times New Roman" pitchFamily="18" charset="0"/>
            </a:endParaRPr>
          </a:p>
          <a:p>
            <a:pPr marL="83820" indent="-78105">
              <a:lnSpc>
                <a:spcPct val="100000"/>
              </a:lnSpc>
              <a:spcBef>
                <a:spcPts val="90"/>
              </a:spcBef>
              <a:buSzPct val="93548"/>
              <a:buFont typeface="Arial MT"/>
              <a:buChar char="•"/>
              <a:tabLst>
                <a:tab pos="83820" algn="l"/>
              </a:tabLst>
            </a:pPr>
            <a:r>
              <a:rPr sz="2000" b="1" smtClean="0">
                <a:latin typeface="Times New Roman" pitchFamily="18" charset="0"/>
                <a:cs typeface="Times New Roman" pitchFamily="18" charset="0"/>
              </a:rPr>
              <a:t>AI</a:t>
            </a:r>
            <a:r>
              <a:rPr sz="2000" b="1" spc="100" smtClean="0">
                <a:latin typeface="Times New Roman" pitchFamily="18" charset="0"/>
                <a:cs typeface="Times New Roman" pitchFamily="18" charset="0"/>
              </a:rPr>
              <a:t> </a:t>
            </a:r>
            <a:r>
              <a:rPr sz="2000" b="1" smtClean="0">
                <a:latin typeface="Times New Roman" pitchFamily="18" charset="0"/>
                <a:cs typeface="Times New Roman" pitchFamily="18" charset="0"/>
              </a:rPr>
              <a:t>&amp;</a:t>
            </a:r>
            <a:r>
              <a:rPr sz="2000" b="1" spc="155" smtClean="0">
                <a:latin typeface="Times New Roman" pitchFamily="18" charset="0"/>
                <a:cs typeface="Times New Roman" pitchFamily="18" charset="0"/>
              </a:rPr>
              <a:t> </a:t>
            </a:r>
            <a:r>
              <a:rPr sz="2000" b="1" smtClean="0">
                <a:latin typeface="Times New Roman" pitchFamily="18" charset="0"/>
                <a:cs typeface="Times New Roman" pitchFamily="18" charset="0"/>
              </a:rPr>
              <a:t>ML:</a:t>
            </a:r>
            <a:r>
              <a:rPr sz="2000" b="1" spc="55" smtClean="0">
                <a:latin typeface="Times New Roman" pitchFamily="18" charset="0"/>
                <a:cs typeface="Times New Roman" pitchFamily="18" charset="0"/>
              </a:rPr>
              <a:t> </a:t>
            </a:r>
            <a:r>
              <a:rPr sz="2000" smtClean="0">
                <a:latin typeface="Times New Roman" pitchFamily="18" charset="0"/>
                <a:cs typeface="Times New Roman" pitchFamily="18" charset="0"/>
              </a:rPr>
              <a:t>Helps</a:t>
            </a:r>
            <a:r>
              <a:rPr sz="2000" spc="35" smtClean="0">
                <a:latin typeface="Times New Roman" pitchFamily="18" charset="0"/>
                <a:cs typeface="Times New Roman" pitchFamily="18" charset="0"/>
              </a:rPr>
              <a:t> </a:t>
            </a:r>
            <a:r>
              <a:rPr sz="2000" smtClean="0">
                <a:latin typeface="Times New Roman" pitchFamily="18" charset="0"/>
                <a:cs typeface="Times New Roman" pitchFamily="18" charset="0"/>
              </a:rPr>
              <a:t>in</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resume</a:t>
            </a:r>
            <a:r>
              <a:rPr sz="2000" spc="105" smtClean="0">
                <a:latin typeface="Times New Roman" pitchFamily="18" charset="0"/>
                <a:cs typeface="Times New Roman" pitchFamily="18" charset="0"/>
              </a:rPr>
              <a:t> </a:t>
            </a:r>
            <a:r>
              <a:rPr sz="2000" smtClean="0">
                <a:latin typeface="Times New Roman" pitchFamily="18" charset="0"/>
                <a:cs typeface="Times New Roman" pitchFamily="18" charset="0"/>
              </a:rPr>
              <a:t>screening</a:t>
            </a:r>
            <a:r>
              <a:rPr sz="2000" spc="25" smtClean="0">
                <a:latin typeface="Times New Roman" pitchFamily="18" charset="0"/>
                <a:cs typeface="Times New Roman" pitchFamily="18" charset="0"/>
              </a:rPr>
              <a:t> </a:t>
            </a:r>
            <a:r>
              <a:rPr sz="2000" smtClean="0">
                <a:latin typeface="Times New Roman" pitchFamily="18" charset="0"/>
                <a:cs typeface="Times New Roman" pitchFamily="18" charset="0"/>
              </a:rPr>
              <a:t>and</a:t>
            </a:r>
            <a:r>
              <a:rPr sz="2000" spc="110" smtClean="0">
                <a:latin typeface="Times New Roman" pitchFamily="18" charset="0"/>
                <a:cs typeface="Times New Roman" pitchFamily="18" charset="0"/>
              </a:rPr>
              <a:t> </a:t>
            </a:r>
            <a:r>
              <a:rPr sz="2000" smtClean="0">
                <a:latin typeface="Times New Roman" pitchFamily="18" charset="0"/>
                <a:cs typeface="Times New Roman" pitchFamily="18" charset="0"/>
              </a:rPr>
              <a:t>candidate</a:t>
            </a:r>
            <a:r>
              <a:rPr sz="2000" spc="105" smtClean="0">
                <a:latin typeface="Times New Roman" pitchFamily="18" charset="0"/>
                <a:cs typeface="Times New Roman" pitchFamily="18" charset="0"/>
              </a:rPr>
              <a:t> </a:t>
            </a:r>
            <a:r>
              <a:rPr sz="2000" spc="-10" smtClean="0">
                <a:latin typeface="Times New Roman" pitchFamily="18" charset="0"/>
                <a:cs typeface="Times New Roman" pitchFamily="18" charset="0"/>
              </a:rPr>
              <a:t>ranking.</a:t>
            </a:r>
            <a:endParaRPr sz="2000" smtClean="0">
              <a:latin typeface="Times New Roman" pitchFamily="18" charset="0"/>
              <a:cs typeface="Times New Roman" pitchFamily="18" charset="0"/>
            </a:endParaRPr>
          </a:p>
          <a:p>
            <a:pPr marL="83820" indent="-78105">
              <a:lnSpc>
                <a:spcPct val="100000"/>
              </a:lnSpc>
              <a:spcBef>
                <a:spcPts val="20"/>
              </a:spcBef>
              <a:buSzPct val="93548"/>
              <a:buFont typeface="Arial MT"/>
              <a:buChar char="•"/>
              <a:tabLst>
                <a:tab pos="83820" algn="l"/>
              </a:tabLst>
            </a:pPr>
            <a:r>
              <a:rPr sz="2000" b="1" smtClean="0">
                <a:latin typeface="Times New Roman" pitchFamily="18" charset="0"/>
                <a:cs typeface="Times New Roman" pitchFamily="18" charset="0"/>
              </a:rPr>
              <a:t>NLP:</a:t>
            </a:r>
            <a:r>
              <a:rPr sz="2000" b="1" spc="80" smtClean="0">
                <a:latin typeface="Times New Roman" pitchFamily="18" charset="0"/>
                <a:cs typeface="Times New Roman" pitchFamily="18" charset="0"/>
              </a:rPr>
              <a:t> </a:t>
            </a:r>
            <a:r>
              <a:rPr sz="2000" smtClean="0">
                <a:latin typeface="Times New Roman" pitchFamily="18" charset="0"/>
                <a:cs typeface="Times New Roman" pitchFamily="18" charset="0"/>
              </a:rPr>
              <a:t>Enables</a:t>
            </a:r>
            <a:r>
              <a:rPr sz="2000" spc="155" smtClean="0">
                <a:latin typeface="Times New Roman" pitchFamily="18" charset="0"/>
                <a:cs typeface="Times New Roman" pitchFamily="18" charset="0"/>
              </a:rPr>
              <a:t> </a:t>
            </a:r>
            <a:r>
              <a:rPr sz="2000" smtClean="0">
                <a:latin typeface="Times New Roman" pitchFamily="18" charset="0"/>
                <a:cs typeface="Times New Roman" pitchFamily="18" charset="0"/>
              </a:rPr>
              <a:t>chatbot</a:t>
            </a:r>
            <a:r>
              <a:rPr sz="2000" spc="125" smtClean="0">
                <a:latin typeface="Times New Roman" pitchFamily="18" charset="0"/>
                <a:cs typeface="Times New Roman" pitchFamily="18" charset="0"/>
              </a:rPr>
              <a:t> </a:t>
            </a:r>
            <a:r>
              <a:rPr sz="2000" smtClean="0">
                <a:latin typeface="Times New Roman" pitchFamily="18" charset="0"/>
                <a:cs typeface="Times New Roman" pitchFamily="18" charset="0"/>
              </a:rPr>
              <a:t>communication</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and</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candidate</a:t>
            </a:r>
            <a:r>
              <a:rPr sz="2000" spc="140" smtClean="0">
                <a:latin typeface="Times New Roman" pitchFamily="18" charset="0"/>
                <a:cs typeface="Times New Roman" pitchFamily="18" charset="0"/>
              </a:rPr>
              <a:t> </a:t>
            </a:r>
            <a:r>
              <a:rPr sz="2000" spc="-10" smtClean="0">
                <a:latin typeface="Times New Roman" pitchFamily="18" charset="0"/>
                <a:cs typeface="Times New Roman" pitchFamily="18" charset="0"/>
              </a:rPr>
              <a:t>interaction.</a:t>
            </a:r>
            <a:endParaRPr sz="2000" smtClean="0">
              <a:latin typeface="Times New Roman" pitchFamily="18" charset="0"/>
              <a:cs typeface="Times New Roman" pitchFamily="18" charset="0"/>
            </a:endParaRPr>
          </a:p>
          <a:p>
            <a:pPr marL="83820" indent="-78105">
              <a:lnSpc>
                <a:spcPct val="100000"/>
              </a:lnSpc>
              <a:spcBef>
                <a:spcPts val="90"/>
              </a:spcBef>
              <a:buSzPct val="93548"/>
              <a:buFont typeface="Arial MT"/>
              <a:buChar char="•"/>
              <a:tabLst>
                <a:tab pos="83820" algn="l"/>
              </a:tabLst>
            </a:pPr>
            <a:r>
              <a:rPr sz="2000" b="1" smtClean="0">
                <a:latin typeface="Times New Roman" pitchFamily="18" charset="0"/>
                <a:cs typeface="Times New Roman" pitchFamily="18" charset="0"/>
              </a:rPr>
              <a:t>ATS</a:t>
            </a:r>
            <a:r>
              <a:rPr sz="2000" b="1" spc="95" smtClean="0">
                <a:latin typeface="Times New Roman" pitchFamily="18" charset="0"/>
                <a:cs typeface="Times New Roman" pitchFamily="18" charset="0"/>
              </a:rPr>
              <a:t> </a:t>
            </a:r>
            <a:r>
              <a:rPr sz="2000" b="1" smtClean="0">
                <a:latin typeface="Times New Roman" pitchFamily="18" charset="0"/>
                <a:cs typeface="Times New Roman" pitchFamily="18" charset="0"/>
              </a:rPr>
              <a:t>Workflow:</a:t>
            </a:r>
            <a:r>
              <a:rPr sz="2000" b="1" spc="75" smtClean="0">
                <a:latin typeface="Times New Roman" pitchFamily="18" charset="0"/>
                <a:cs typeface="Times New Roman" pitchFamily="18" charset="0"/>
              </a:rPr>
              <a:t> </a:t>
            </a:r>
            <a:r>
              <a:rPr sz="2000" smtClean="0">
                <a:latin typeface="Times New Roman" pitchFamily="18" charset="0"/>
                <a:cs typeface="Times New Roman" pitchFamily="18" charset="0"/>
              </a:rPr>
              <a:t>Helps</a:t>
            </a:r>
            <a:r>
              <a:rPr sz="2000" spc="45" smtClean="0">
                <a:latin typeface="Times New Roman" pitchFamily="18" charset="0"/>
                <a:cs typeface="Times New Roman" pitchFamily="18" charset="0"/>
              </a:rPr>
              <a:t> </a:t>
            </a:r>
            <a:r>
              <a:rPr sz="2000" smtClean="0">
                <a:latin typeface="Times New Roman" pitchFamily="18" charset="0"/>
                <a:cs typeface="Times New Roman" pitchFamily="18" charset="0"/>
              </a:rPr>
              <a:t>track</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candidates</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across</a:t>
            </a:r>
            <a:r>
              <a:rPr sz="2000" spc="130" smtClean="0">
                <a:latin typeface="Times New Roman" pitchFamily="18" charset="0"/>
                <a:cs typeface="Times New Roman" pitchFamily="18" charset="0"/>
              </a:rPr>
              <a:t> </a:t>
            </a:r>
            <a:r>
              <a:rPr sz="2000" smtClean="0">
                <a:latin typeface="Times New Roman" pitchFamily="18" charset="0"/>
                <a:cs typeface="Times New Roman" pitchFamily="18" charset="0"/>
              </a:rPr>
              <a:t>hiring</a:t>
            </a:r>
            <a:r>
              <a:rPr sz="2000" spc="120" smtClean="0">
                <a:latin typeface="Times New Roman" pitchFamily="18" charset="0"/>
                <a:cs typeface="Times New Roman" pitchFamily="18" charset="0"/>
              </a:rPr>
              <a:t> </a:t>
            </a:r>
            <a:r>
              <a:rPr sz="2000" spc="-10" smtClean="0">
                <a:latin typeface="Times New Roman" pitchFamily="18" charset="0"/>
                <a:cs typeface="Times New Roman" pitchFamily="18" charset="0"/>
              </a:rPr>
              <a:t>stages.</a:t>
            </a:r>
            <a:endParaRPr sz="2000" smtClean="0">
              <a:latin typeface="Times New Roman" pitchFamily="18" charset="0"/>
              <a:cs typeface="Times New Roman" pitchFamily="18" charset="0"/>
            </a:endParaRPr>
          </a:p>
          <a:p>
            <a:pPr marL="83820" indent="-78105">
              <a:lnSpc>
                <a:spcPct val="100000"/>
              </a:lnSpc>
              <a:spcBef>
                <a:spcPts val="95"/>
              </a:spcBef>
              <a:buSzPct val="93548"/>
              <a:buFont typeface="Arial MT"/>
              <a:buChar char="•"/>
              <a:tabLst>
                <a:tab pos="83820" algn="l"/>
              </a:tabLst>
            </a:pPr>
            <a:r>
              <a:rPr sz="2000" b="1" smtClean="0">
                <a:latin typeface="Times New Roman" pitchFamily="18" charset="0"/>
                <a:cs typeface="Times New Roman" pitchFamily="18" charset="0"/>
              </a:rPr>
              <a:t>Databases:</a:t>
            </a:r>
            <a:r>
              <a:rPr sz="2000" b="1" spc="75" smtClean="0">
                <a:latin typeface="Times New Roman" pitchFamily="18" charset="0"/>
                <a:cs typeface="Times New Roman" pitchFamily="18" charset="0"/>
              </a:rPr>
              <a:t> </a:t>
            </a:r>
            <a:r>
              <a:rPr sz="2000" smtClean="0">
                <a:latin typeface="Times New Roman" pitchFamily="18" charset="0"/>
                <a:cs typeface="Times New Roman" pitchFamily="18" charset="0"/>
              </a:rPr>
              <a:t>Store</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and</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manage</a:t>
            </a:r>
            <a:r>
              <a:rPr sz="2000" spc="135" smtClean="0">
                <a:latin typeface="Times New Roman" pitchFamily="18" charset="0"/>
                <a:cs typeface="Times New Roman" pitchFamily="18" charset="0"/>
              </a:rPr>
              <a:t> </a:t>
            </a:r>
            <a:r>
              <a:rPr sz="2000" smtClean="0">
                <a:latin typeface="Times New Roman" pitchFamily="18" charset="0"/>
                <a:cs typeface="Times New Roman" pitchFamily="18" charset="0"/>
              </a:rPr>
              <a:t>candidate</a:t>
            </a:r>
            <a:r>
              <a:rPr sz="2000" spc="130" smtClean="0">
                <a:latin typeface="Times New Roman" pitchFamily="18" charset="0"/>
                <a:cs typeface="Times New Roman" pitchFamily="18" charset="0"/>
              </a:rPr>
              <a:t> </a:t>
            </a:r>
            <a:r>
              <a:rPr sz="2000" smtClean="0">
                <a:latin typeface="Times New Roman" pitchFamily="18" charset="0"/>
                <a:cs typeface="Times New Roman" pitchFamily="18" charset="0"/>
              </a:rPr>
              <a:t>and</a:t>
            </a:r>
            <a:r>
              <a:rPr sz="2000" spc="50" smtClean="0">
                <a:latin typeface="Times New Roman" pitchFamily="18" charset="0"/>
                <a:cs typeface="Times New Roman" pitchFamily="18" charset="0"/>
              </a:rPr>
              <a:t> </a:t>
            </a:r>
            <a:r>
              <a:rPr sz="2000" smtClean="0">
                <a:latin typeface="Times New Roman" pitchFamily="18" charset="0"/>
                <a:cs typeface="Times New Roman" pitchFamily="18" charset="0"/>
              </a:rPr>
              <a:t>job</a:t>
            </a:r>
            <a:r>
              <a:rPr sz="2000" spc="135" smtClean="0">
                <a:latin typeface="Times New Roman" pitchFamily="18" charset="0"/>
                <a:cs typeface="Times New Roman" pitchFamily="18" charset="0"/>
              </a:rPr>
              <a:t> </a:t>
            </a:r>
            <a:r>
              <a:rPr sz="2000" spc="-10" smtClean="0">
                <a:latin typeface="Times New Roman" pitchFamily="18" charset="0"/>
                <a:cs typeface="Times New Roman" pitchFamily="18" charset="0"/>
              </a:rPr>
              <a:t>data.</a:t>
            </a:r>
            <a:endParaRPr sz="2000" smtClean="0">
              <a:latin typeface="Times New Roman" pitchFamily="18" charset="0"/>
              <a:cs typeface="Times New Roman" pitchFamily="18" charset="0"/>
            </a:endParaRPr>
          </a:p>
          <a:p>
            <a:pPr marL="83820" indent="-78105">
              <a:lnSpc>
                <a:spcPct val="100000"/>
              </a:lnSpc>
              <a:spcBef>
                <a:spcPts val="15"/>
              </a:spcBef>
              <a:buSzPct val="93548"/>
              <a:buFont typeface="Arial MT"/>
              <a:buChar char="•"/>
              <a:tabLst>
                <a:tab pos="83820" algn="l"/>
              </a:tabLst>
            </a:pPr>
            <a:r>
              <a:rPr sz="2000" b="1" smtClean="0">
                <a:latin typeface="Times New Roman" pitchFamily="18" charset="0"/>
                <a:cs typeface="Times New Roman" pitchFamily="18" charset="0"/>
              </a:rPr>
              <a:t>APIs:</a:t>
            </a:r>
            <a:r>
              <a:rPr sz="2000" b="1" spc="155" smtClean="0">
                <a:latin typeface="Times New Roman" pitchFamily="18" charset="0"/>
                <a:cs typeface="Times New Roman" pitchFamily="18" charset="0"/>
              </a:rPr>
              <a:t> </a:t>
            </a:r>
            <a:r>
              <a:rPr sz="2000" smtClean="0">
                <a:latin typeface="Times New Roman" pitchFamily="18" charset="0"/>
                <a:cs typeface="Times New Roman" pitchFamily="18" charset="0"/>
              </a:rPr>
              <a:t>Integrate</a:t>
            </a:r>
            <a:r>
              <a:rPr sz="2000" spc="55" smtClean="0">
                <a:latin typeface="Times New Roman" pitchFamily="18" charset="0"/>
                <a:cs typeface="Times New Roman" pitchFamily="18" charset="0"/>
              </a:rPr>
              <a:t> </a:t>
            </a:r>
            <a:r>
              <a:rPr sz="2000" smtClean="0">
                <a:latin typeface="Times New Roman" pitchFamily="18" charset="0"/>
                <a:cs typeface="Times New Roman" pitchFamily="18" charset="0"/>
              </a:rPr>
              <a:t>job</a:t>
            </a:r>
            <a:r>
              <a:rPr sz="2000" spc="140" smtClean="0">
                <a:latin typeface="Times New Roman" pitchFamily="18" charset="0"/>
                <a:cs typeface="Times New Roman" pitchFamily="18" charset="0"/>
              </a:rPr>
              <a:t> </a:t>
            </a:r>
            <a:r>
              <a:rPr sz="2000" smtClean="0">
                <a:latin typeface="Times New Roman" pitchFamily="18" charset="0"/>
                <a:cs typeface="Times New Roman" pitchFamily="18" charset="0"/>
              </a:rPr>
              <a:t>portals</a:t>
            </a:r>
            <a:r>
              <a:rPr sz="2000" spc="160" smtClean="0">
                <a:latin typeface="Times New Roman" pitchFamily="18" charset="0"/>
                <a:cs typeface="Times New Roman" pitchFamily="18" charset="0"/>
              </a:rPr>
              <a:t> </a:t>
            </a:r>
            <a:r>
              <a:rPr sz="2000" smtClean="0">
                <a:latin typeface="Times New Roman" pitchFamily="18" charset="0"/>
                <a:cs typeface="Times New Roman" pitchFamily="18" charset="0"/>
              </a:rPr>
              <a:t>and</a:t>
            </a:r>
            <a:r>
              <a:rPr sz="2000" spc="140" smtClean="0">
                <a:latin typeface="Times New Roman" pitchFamily="18" charset="0"/>
                <a:cs typeface="Times New Roman" pitchFamily="18" charset="0"/>
              </a:rPr>
              <a:t> </a:t>
            </a:r>
            <a:r>
              <a:rPr sz="2000" smtClean="0">
                <a:latin typeface="Times New Roman" pitchFamily="18" charset="0"/>
                <a:cs typeface="Times New Roman" pitchFamily="18" charset="0"/>
              </a:rPr>
              <a:t>communication</a:t>
            </a:r>
            <a:r>
              <a:rPr sz="2000" spc="140" smtClean="0">
                <a:latin typeface="Times New Roman" pitchFamily="18" charset="0"/>
                <a:cs typeface="Times New Roman" pitchFamily="18" charset="0"/>
              </a:rPr>
              <a:t> </a:t>
            </a:r>
            <a:r>
              <a:rPr sz="2000" spc="-10" smtClean="0">
                <a:latin typeface="Times New Roman" pitchFamily="18" charset="0"/>
                <a:cs typeface="Times New Roman" pitchFamily="18" charset="0"/>
              </a:rPr>
              <a:t>tools.</a:t>
            </a:r>
            <a:endParaRPr sz="2000" smtClean="0">
              <a:latin typeface="Times New Roman" pitchFamily="18" charset="0"/>
              <a:cs typeface="Times New Roman" pitchFamily="18" charset="0"/>
            </a:endParaRPr>
          </a:p>
          <a:p>
            <a:pPr marL="83820" indent="-78105">
              <a:lnSpc>
                <a:spcPct val="100000"/>
              </a:lnSpc>
              <a:spcBef>
                <a:spcPts val="95"/>
              </a:spcBef>
              <a:buSzPct val="93548"/>
              <a:buFont typeface="Arial MT"/>
              <a:buChar char="•"/>
              <a:tabLst>
                <a:tab pos="83820" algn="l"/>
              </a:tabLst>
            </a:pPr>
            <a:r>
              <a:rPr sz="2000" b="1" smtClean="0">
                <a:latin typeface="Times New Roman" pitchFamily="18" charset="0"/>
                <a:cs typeface="Times New Roman" pitchFamily="18" charset="0"/>
              </a:rPr>
              <a:t>Dashboards</a:t>
            </a:r>
            <a:r>
              <a:rPr sz="2000" b="1" spc="170" smtClean="0">
                <a:latin typeface="Times New Roman" pitchFamily="18" charset="0"/>
                <a:cs typeface="Times New Roman" pitchFamily="18" charset="0"/>
              </a:rPr>
              <a:t> </a:t>
            </a:r>
            <a:r>
              <a:rPr sz="2000" b="1" smtClean="0">
                <a:latin typeface="Times New Roman" pitchFamily="18" charset="0"/>
                <a:cs typeface="Times New Roman" pitchFamily="18" charset="0"/>
              </a:rPr>
              <a:t>&amp;</a:t>
            </a:r>
            <a:r>
              <a:rPr sz="2000" b="1" spc="125" smtClean="0">
                <a:latin typeface="Times New Roman" pitchFamily="18" charset="0"/>
                <a:cs typeface="Times New Roman" pitchFamily="18" charset="0"/>
              </a:rPr>
              <a:t> </a:t>
            </a:r>
            <a:r>
              <a:rPr sz="2000" b="1" smtClean="0">
                <a:latin typeface="Times New Roman" pitchFamily="18" charset="0"/>
                <a:cs typeface="Times New Roman" pitchFamily="18" charset="0"/>
              </a:rPr>
              <a:t>Analytics:</a:t>
            </a:r>
            <a:r>
              <a:rPr sz="2000" b="1" spc="170" smtClean="0">
                <a:latin typeface="Times New Roman" pitchFamily="18" charset="0"/>
                <a:cs typeface="Times New Roman" pitchFamily="18" charset="0"/>
              </a:rPr>
              <a:t> </a:t>
            </a:r>
            <a:r>
              <a:rPr sz="2000" smtClean="0">
                <a:latin typeface="Times New Roman" pitchFamily="18" charset="0"/>
                <a:cs typeface="Times New Roman" pitchFamily="18" charset="0"/>
              </a:rPr>
              <a:t>Provide</a:t>
            </a:r>
            <a:r>
              <a:rPr sz="2000" spc="165" smtClean="0">
                <a:latin typeface="Times New Roman" pitchFamily="18" charset="0"/>
                <a:cs typeface="Times New Roman" pitchFamily="18" charset="0"/>
              </a:rPr>
              <a:t> </a:t>
            </a:r>
            <a:r>
              <a:rPr sz="2000" smtClean="0">
                <a:latin typeface="Times New Roman" pitchFamily="18" charset="0"/>
                <a:cs typeface="Times New Roman" pitchFamily="18" charset="0"/>
              </a:rPr>
              <a:t>recruitment</a:t>
            </a:r>
            <a:r>
              <a:rPr sz="2000" spc="150" smtClean="0">
                <a:latin typeface="Times New Roman" pitchFamily="18" charset="0"/>
                <a:cs typeface="Times New Roman" pitchFamily="18" charset="0"/>
              </a:rPr>
              <a:t> </a:t>
            </a:r>
            <a:r>
              <a:rPr sz="2000" smtClean="0">
                <a:latin typeface="Times New Roman" pitchFamily="18" charset="0"/>
                <a:cs typeface="Times New Roman" pitchFamily="18" charset="0"/>
              </a:rPr>
              <a:t>performance</a:t>
            </a:r>
            <a:r>
              <a:rPr sz="2000" spc="165" smtClean="0">
                <a:latin typeface="Times New Roman" pitchFamily="18" charset="0"/>
                <a:cs typeface="Times New Roman" pitchFamily="18" charset="0"/>
              </a:rPr>
              <a:t> </a:t>
            </a:r>
            <a:r>
              <a:rPr sz="2000" spc="-10" smtClean="0">
                <a:latin typeface="Times New Roman" pitchFamily="18" charset="0"/>
                <a:cs typeface="Times New Roman" pitchFamily="18" charset="0"/>
              </a:rPr>
              <a:t>insights.</a:t>
            </a:r>
            <a:endParaRPr sz="2000" smtClean="0">
              <a:latin typeface="Times New Roman" pitchFamily="18" charset="0"/>
              <a:cs typeface="Times New Roman" pitchFamily="18" charset="0"/>
            </a:endParaRPr>
          </a:p>
          <a:p>
            <a:pPr marL="83820" indent="-78105">
              <a:lnSpc>
                <a:spcPct val="100000"/>
              </a:lnSpc>
              <a:spcBef>
                <a:spcPts val="15"/>
              </a:spcBef>
              <a:buSzPct val="93548"/>
              <a:buChar char="•"/>
              <a:tabLst>
                <a:tab pos="83820" algn="l"/>
              </a:tabLst>
            </a:pPr>
            <a:r>
              <a:rPr sz="2000" smtClean="0">
                <a:latin typeface="Times New Roman" pitchFamily="18" charset="0"/>
                <a:cs typeface="Times New Roman" pitchFamily="18" charset="0"/>
              </a:rPr>
              <a:t>This</a:t>
            </a:r>
            <a:r>
              <a:rPr sz="2000" spc="75" smtClean="0">
                <a:latin typeface="Times New Roman" pitchFamily="18" charset="0"/>
                <a:cs typeface="Times New Roman" pitchFamily="18" charset="0"/>
              </a:rPr>
              <a:t> </a:t>
            </a:r>
            <a:r>
              <a:rPr sz="2000" smtClean="0">
                <a:latin typeface="Times New Roman" pitchFamily="18" charset="0"/>
                <a:cs typeface="Times New Roman" pitchFamily="18" charset="0"/>
              </a:rPr>
              <a:t>training</a:t>
            </a:r>
            <a:r>
              <a:rPr sz="2000" spc="155" smtClean="0">
                <a:latin typeface="Times New Roman" pitchFamily="18" charset="0"/>
                <a:cs typeface="Times New Roman" pitchFamily="18" charset="0"/>
              </a:rPr>
              <a:t> </a:t>
            </a:r>
            <a:r>
              <a:rPr sz="2000" smtClean="0">
                <a:latin typeface="Times New Roman" pitchFamily="18" charset="0"/>
                <a:cs typeface="Times New Roman" pitchFamily="18" charset="0"/>
              </a:rPr>
              <a:t>helps</a:t>
            </a:r>
            <a:r>
              <a:rPr sz="2000" spc="170" smtClean="0">
                <a:latin typeface="Times New Roman" pitchFamily="18" charset="0"/>
                <a:cs typeface="Times New Roman" pitchFamily="18" charset="0"/>
              </a:rPr>
              <a:t> </a:t>
            </a:r>
            <a:r>
              <a:rPr sz="2000" smtClean="0">
                <a:latin typeface="Times New Roman" pitchFamily="18" charset="0"/>
                <a:cs typeface="Times New Roman" pitchFamily="18" charset="0"/>
              </a:rPr>
              <a:t>us</a:t>
            </a:r>
            <a:r>
              <a:rPr sz="2000" spc="75" smtClean="0">
                <a:latin typeface="Times New Roman" pitchFamily="18" charset="0"/>
                <a:cs typeface="Times New Roman" pitchFamily="18" charset="0"/>
              </a:rPr>
              <a:t> </a:t>
            </a:r>
            <a:r>
              <a:rPr sz="2000" smtClean="0">
                <a:latin typeface="Times New Roman" pitchFamily="18" charset="0"/>
                <a:cs typeface="Times New Roman" pitchFamily="18" charset="0"/>
              </a:rPr>
              <a:t>understand</a:t>
            </a:r>
            <a:r>
              <a:rPr sz="2000" spc="155" smtClean="0">
                <a:latin typeface="Times New Roman" pitchFamily="18" charset="0"/>
                <a:cs typeface="Times New Roman" pitchFamily="18" charset="0"/>
              </a:rPr>
              <a:t> </a:t>
            </a:r>
            <a:r>
              <a:rPr sz="2000" smtClean="0">
                <a:latin typeface="Times New Roman" pitchFamily="18" charset="0"/>
                <a:cs typeface="Times New Roman" pitchFamily="18" charset="0"/>
              </a:rPr>
              <a:t>how</a:t>
            </a:r>
            <a:r>
              <a:rPr sz="2000" spc="110" smtClean="0">
                <a:latin typeface="Times New Roman" pitchFamily="18" charset="0"/>
                <a:cs typeface="Times New Roman" pitchFamily="18" charset="0"/>
              </a:rPr>
              <a:t> </a:t>
            </a:r>
            <a:r>
              <a:rPr sz="2000" smtClean="0">
                <a:latin typeface="Times New Roman" pitchFamily="18" charset="0"/>
                <a:cs typeface="Times New Roman" pitchFamily="18" charset="0"/>
              </a:rPr>
              <a:t>technology</a:t>
            </a:r>
            <a:r>
              <a:rPr sz="2000" spc="170" smtClean="0">
                <a:latin typeface="Times New Roman" pitchFamily="18" charset="0"/>
                <a:cs typeface="Times New Roman" pitchFamily="18" charset="0"/>
              </a:rPr>
              <a:t> </a:t>
            </a:r>
            <a:r>
              <a:rPr sz="2000" smtClean="0">
                <a:latin typeface="Times New Roman" pitchFamily="18" charset="0"/>
                <a:cs typeface="Times New Roman" pitchFamily="18" charset="0"/>
              </a:rPr>
              <a:t>solves</a:t>
            </a:r>
            <a:r>
              <a:rPr sz="2000" spc="75" smtClean="0">
                <a:latin typeface="Times New Roman" pitchFamily="18" charset="0"/>
                <a:cs typeface="Times New Roman" pitchFamily="18" charset="0"/>
              </a:rPr>
              <a:t> </a:t>
            </a:r>
            <a:r>
              <a:rPr sz="2000" smtClean="0">
                <a:latin typeface="Times New Roman" pitchFamily="18" charset="0"/>
                <a:cs typeface="Times New Roman" pitchFamily="18" charset="0"/>
              </a:rPr>
              <a:t>real</a:t>
            </a:r>
            <a:r>
              <a:rPr sz="2000" spc="160" smtClean="0">
                <a:latin typeface="Times New Roman" pitchFamily="18" charset="0"/>
                <a:cs typeface="Times New Roman" pitchFamily="18" charset="0"/>
              </a:rPr>
              <a:t> </a:t>
            </a:r>
            <a:r>
              <a:rPr sz="2000" smtClean="0">
                <a:latin typeface="Times New Roman" pitchFamily="18" charset="0"/>
                <a:cs typeface="Times New Roman" pitchFamily="18" charset="0"/>
              </a:rPr>
              <a:t>recruitment</a:t>
            </a:r>
            <a:r>
              <a:rPr sz="2000" spc="140" smtClean="0">
                <a:latin typeface="Times New Roman" pitchFamily="18" charset="0"/>
                <a:cs typeface="Times New Roman" pitchFamily="18" charset="0"/>
              </a:rPr>
              <a:t> </a:t>
            </a:r>
            <a:r>
              <a:rPr sz="2000" spc="-10" smtClean="0">
                <a:latin typeface="Times New Roman" pitchFamily="18" charset="0"/>
                <a:cs typeface="Times New Roman" pitchFamily="18" charset="0"/>
              </a:rPr>
              <a:t>challenges.</a:t>
            </a:r>
            <a:endParaRPr sz="2000" smtClean="0">
              <a:latin typeface="Times New Roman" pitchFamily="18" charset="0"/>
              <a:cs typeface="Times New Roman" pitchFamily="18" charset="0"/>
            </a:endParaRPr>
          </a:p>
          <a:p>
            <a:pPr marL="83820" indent="-78105">
              <a:lnSpc>
                <a:spcPct val="100000"/>
              </a:lnSpc>
              <a:spcBef>
                <a:spcPts val="95"/>
              </a:spcBef>
              <a:buSzPct val="93548"/>
              <a:buChar char="•"/>
              <a:tabLst>
                <a:tab pos="83820" algn="l"/>
              </a:tabLst>
            </a:pPr>
            <a:r>
              <a:rPr sz="2000" smtClean="0">
                <a:latin typeface="Times New Roman" pitchFamily="18" charset="0"/>
                <a:cs typeface="Times New Roman" pitchFamily="18" charset="0"/>
              </a:rPr>
              <a:t>After</a:t>
            </a:r>
            <a:r>
              <a:rPr sz="2000" spc="85" smtClean="0">
                <a:latin typeface="Times New Roman" pitchFamily="18" charset="0"/>
                <a:cs typeface="Times New Roman" pitchFamily="18" charset="0"/>
              </a:rPr>
              <a:t> </a:t>
            </a:r>
            <a:r>
              <a:rPr sz="2000" smtClean="0">
                <a:latin typeface="Times New Roman" pitchFamily="18" charset="0"/>
                <a:cs typeface="Times New Roman" pitchFamily="18" charset="0"/>
              </a:rPr>
              <a:t>training,</a:t>
            </a:r>
            <a:r>
              <a:rPr sz="2000" spc="100" smtClean="0">
                <a:latin typeface="Times New Roman" pitchFamily="18" charset="0"/>
                <a:cs typeface="Times New Roman" pitchFamily="18" charset="0"/>
              </a:rPr>
              <a:t> </a:t>
            </a:r>
            <a:r>
              <a:rPr sz="2000" smtClean="0">
                <a:latin typeface="Times New Roman" pitchFamily="18" charset="0"/>
                <a:cs typeface="Times New Roman" pitchFamily="18" charset="0"/>
              </a:rPr>
              <a:t>we</a:t>
            </a:r>
            <a:r>
              <a:rPr sz="2000" spc="110" smtClean="0">
                <a:latin typeface="Times New Roman" pitchFamily="18" charset="0"/>
                <a:cs typeface="Times New Roman" pitchFamily="18" charset="0"/>
              </a:rPr>
              <a:t> </a:t>
            </a:r>
            <a:r>
              <a:rPr sz="2000" smtClean="0">
                <a:latin typeface="Times New Roman" pitchFamily="18" charset="0"/>
                <a:cs typeface="Times New Roman" pitchFamily="18" charset="0"/>
              </a:rPr>
              <a:t>will</a:t>
            </a:r>
            <a:r>
              <a:rPr sz="2000" spc="120" smtClean="0">
                <a:latin typeface="Times New Roman" pitchFamily="18" charset="0"/>
                <a:cs typeface="Times New Roman" pitchFamily="18" charset="0"/>
              </a:rPr>
              <a:t> </a:t>
            </a:r>
            <a:r>
              <a:rPr sz="2000" smtClean="0">
                <a:latin typeface="Times New Roman" pitchFamily="18" charset="0"/>
                <a:cs typeface="Times New Roman" pitchFamily="18" charset="0"/>
              </a:rPr>
              <a:t>be</a:t>
            </a:r>
            <a:r>
              <a:rPr sz="2000" spc="110" smtClean="0">
                <a:latin typeface="Times New Roman" pitchFamily="18" charset="0"/>
                <a:cs typeface="Times New Roman" pitchFamily="18" charset="0"/>
              </a:rPr>
              <a:t> </a:t>
            </a:r>
            <a:r>
              <a:rPr sz="2000" smtClean="0">
                <a:latin typeface="Times New Roman" pitchFamily="18" charset="0"/>
                <a:cs typeface="Times New Roman" pitchFamily="18" charset="0"/>
              </a:rPr>
              <a:t>assigned</a:t>
            </a:r>
            <a:r>
              <a:rPr sz="2000" spc="30" smtClean="0">
                <a:latin typeface="Times New Roman" pitchFamily="18" charset="0"/>
                <a:cs typeface="Times New Roman" pitchFamily="18" charset="0"/>
              </a:rPr>
              <a:t> </a:t>
            </a:r>
            <a:r>
              <a:rPr sz="2000" smtClean="0">
                <a:latin typeface="Times New Roman" pitchFamily="18" charset="0"/>
                <a:cs typeface="Times New Roman" pitchFamily="18" charset="0"/>
              </a:rPr>
              <a:t>to</a:t>
            </a:r>
            <a:r>
              <a:rPr sz="2000" spc="114" smtClean="0">
                <a:latin typeface="Times New Roman" pitchFamily="18" charset="0"/>
                <a:cs typeface="Times New Roman" pitchFamily="18" charset="0"/>
              </a:rPr>
              <a:t> </a:t>
            </a:r>
            <a:r>
              <a:rPr sz="2000" smtClean="0">
                <a:latin typeface="Times New Roman" pitchFamily="18" charset="0"/>
                <a:cs typeface="Times New Roman" pitchFamily="18" charset="0"/>
              </a:rPr>
              <a:t>live</a:t>
            </a:r>
            <a:r>
              <a:rPr sz="2000" spc="110" smtClean="0">
                <a:latin typeface="Times New Roman" pitchFamily="18" charset="0"/>
                <a:cs typeface="Times New Roman" pitchFamily="18" charset="0"/>
              </a:rPr>
              <a:t> </a:t>
            </a:r>
            <a:r>
              <a:rPr sz="2000" smtClean="0">
                <a:latin typeface="Times New Roman" pitchFamily="18" charset="0"/>
                <a:cs typeface="Times New Roman" pitchFamily="18" charset="0"/>
              </a:rPr>
              <a:t>projects</a:t>
            </a:r>
            <a:r>
              <a:rPr sz="2000" spc="130" smtClean="0">
                <a:latin typeface="Times New Roman" pitchFamily="18" charset="0"/>
                <a:cs typeface="Times New Roman" pitchFamily="18" charset="0"/>
              </a:rPr>
              <a:t> </a:t>
            </a:r>
            <a:r>
              <a:rPr sz="2000" smtClean="0">
                <a:latin typeface="Times New Roman" pitchFamily="18" charset="0"/>
                <a:cs typeface="Times New Roman" pitchFamily="18" charset="0"/>
              </a:rPr>
              <a:t>for</a:t>
            </a:r>
            <a:r>
              <a:rPr sz="2000" spc="85" smtClean="0">
                <a:latin typeface="Times New Roman" pitchFamily="18" charset="0"/>
                <a:cs typeface="Times New Roman" pitchFamily="18" charset="0"/>
              </a:rPr>
              <a:t> </a:t>
            </a:r>
            <a:r>
              <a:rPr sz="2000" smtClean="0">
                <a:latin typeface="Times New Roman" pitchFamily="18" charset="0"/>
                <a:cs typeface="Times New Roman" pitchFamily="18" charset="0"/>
              </a:rPr>
              <a:t>practical</a:t>
            </a:r>
            <a:r>
              <a:rPr sz="2000" spc="120" smtClean="0">
                <a:latin typeface="Times New Roman" pitchFamily="18" charset="0"/>
                <a:cs typeface="Times New Roman" pitchFamily="18" charset="0"/>
              </a:rPr>
              <a:t> </a:t>
            </a:r>
            <a:r>
              <a:rPr sz="2000" smtClean="0">
                <a:latin typeface="Times New Roman" pitchFamily="18" charset="0"/>
                <a:cs typeface="Times New Roman" pitchFamily="18" charset="0"/>
              </a:rPr>
              <a:t>client</a:t>
            </a:r>
            <a:r>
              <a:rPr sz="2000" spc="100" smtClean="0">
                <a:latin typeface="Times New Roman" pitchFamily="18" charset="0"/>
                <a:cs typeface="Times New Roman" pitchFamily="18" charset="0"/>
              </a:rPr>
              <a:t> </a:t>
            </a:r>
            <a:r>
              <a:rPr sz="2000" spc="-10" smtClean="0">
                <a:latin typeface="Times New Roman" pitchFamily="18" charset="0"/>
                <a:cs typeface="Times New Roman" pitchFamily="18" charset="0"/>
              </a:rPr>
              <a:t>exposure.</a:t>
            </a:r>
            <a:endParaRPr sz="200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6366" rIns="0" bIns="0" rtlCol="0">
            <a:spAutoFit/>
          </a:bodyPr>
          <a:lstStyle/>
          <a:p>
            <a:pPr marL="380365">
              <a:lnSpc>
                <a:spcPct val="100000"/>
              </a:lnSpc>
              <a:spcBef>
                <a:spcPts val="130"/>
              </a:spcBef>
            </a:pPr>
            <a:r>
              <a:rPr sz="3200" b="1" dirty="0">
                <a:solidFill>
                  <a:srgbClr val="2E5496"/>
                </a:solidFill>
                <a:latin typeface="Times New Roman"/>
                <a:cs typeface="Times New Roman"/>
              </a:rPr>
              <a:t>Challenges</a:t>
            </a:r>
            <a:r>
              <a:rPr sz="3200" b="1" spc="-100" dirty="0">
                <a:solidFill>
                  <a:srgbClr val="2E5496"/>
                </a:solidFill>
                <a:latin typeface="Times New Roman"/>
                <a:cs typeface="Times New Roman"/>
              </a:rPr>
              <a:t> </a:t>
            </a:r>
            <a:r>
              <a:rPr sz="3200" b="1" dirty="0">
                <a:solidFill>
                  <a:srgbClr val="2E5496"/>
                </a:solidFill>
                <a:latin typeface="Times New Roman"/>
                <a:cs typeface="Times New Roman"/>
              </a:rPr>
              <a:t>Faced</a:t>
            </a:r>
            <a:r>
              <a:rPr sz="3200" b="1" spc="-40" dirty="0">
                <a:solidFill>
                  <a:srgbClr val="2E5496"/>
                </a:solidFill>
                <a:latin typeface="Times New Roman"/>
                <a:cs typeface="Times New Roman"/>
              </a:rPr>
              <a:t> </a:t>
            </a:r>
            <a:r>
              <a:rPr sz="3200" b="1" dirty="0">
                <a:solidFill>
                  <a:srgbClr val="2E5496"/>
                </a:solidFill>
                <a:latin typeface="Times New Roman"/>
                <a:cs typeface="Times New Roman"/>
              </a:rPr>
              <a:t>in</a:t>
            </a:r>
            <a:r>
              <a:rPr sz="3200" b="1" spc="-40" dirty="0">
                <a:solidFill>
                  <a:srgbClr val="2E5496"/>
                </a:solidFill>
                <a:latin typeface="Times New Roman"/>
                <a:cs typeface="Times New Roman"/>
              </a:rPr>
              <a:t> </a:t>
            </a:r>
            <a:r>
              <a:rPr sz="3200" b="1" spc="-10" dirty="0">
                <a:solidFill>
                  <a:srgbClr val="2E5496"/>
                </a:solidFill>
                <a:latin typeface="Times New Roman"/>
                <a:cs typeface="Times New Roman"/>
              </a:rPr>
              <a:t>Internship</a:t>
            </a:r>
            <a:endParaRPr sz="3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pPr marL="115570">
                <a:lnSpc>
                  <a:spcPts val="1240"/>
                </a:lnSpc>
              </a:pPr>
              <a:t>7</a:t>
            </a:fld>
            <a:endParaRPr spc="-50" dirty="0"/>
          </a:p>
        </p:txBody>
      </p:sp>
      <p:sp>
        <p:nvSpPr>
          <p:cNvPr id="3" name="object 3"/>
          <p:cNvSpPr txBox="1"/>
          <p:nvPr/>
        </p:nvSpPr>
        <p:spPr>
          <a:xfrm>
            <a:off x="838200" y="1219200"/>
            <a:ext cx="10134600" cy="4017125"/>
          </a:xfrm>
          <a:prstGeom prst="rect">
            <a:avLst/>
          </a:prstGeom>
        </p:spPr>
        <p:txBody>
          <a:bodyPr vert="horz" wrap="square" lIns="0" tIns="15875" rIns="0" bIns="0" rtlCol="0">
            <a:spAutoFit/>
          </a:bodyPr>
          <a:lstStyle/>
          <a:p>
            <a:pPr>
              <a:buFont typeface="Arial" pitchFamily="34" charset="0"/>
              <a:buChar char="•"/>
            </a:pPr>
            <a:r>
              <a:rPr lang="en-US" sz="2000" dirty="0" smtClean="0">
                <a:latin typeface="Times New Roman" pitchFamily="18" charset="0"/>
                <a:cs typeface="Times New Roman" pitchFamily="18" charset="0"/>
              </a:rPr>
              <a:t> During the initial days of my internship at </a:t>
            </a:r>
            <a:r>
              <a:rPr lang="en-US" sz="2000" b="1" dirty="0" err="1" smtClean="0">
                <a:latin typeface="Times New Roman" pitchFamily="18" charset="0"/>
                <a:cs typeface="Times New Roman" pitchFamily="18" charset="0"/>
              </a:rPr>
              <a:t>TalentRecruit</a:t>
            </a:r>
            <a:r>
              <a:rPr lang="en-US" sz="2000" b="1" dirty="0" smtClean="0">
                <a:latin typeface="Times New Roman" pitchFamily="18" charset="0"/>
                <a:cs typeface="Times New Roman" pitchFamily="18" charset="0"/>
              </a:rPr>
              <a:t> Software Private Limited</a:t>
            </a:r>
            <a:r>
              <a:rPr lang="en-US" sz="2000" dirty="0" smtClean="0">
                <a:latin typeface="Times New Roman" pitchFamily="18" charset="0"/>
                <a:cs typeface="Times New Roman" pitchFamily="18" charset="0"/>
              </a:rPr>
              <a:t>, adapting to a new work environment and getting comfortable with new teammates was slightly challenging. Understanding the various concepts, workflows, and features of the </a:t>
            </a:r>
            <a:r>
              <a:rPr lang="en-US" sz="2000" dirty="0" err="1" smtClean="0">
                <a:latin typeface="Times New Roman" pitchFamily="18" charset="0"/>
                <a:cs typeface="Times New Roman" pitchFamily="18" charset="0"/>
              </a:rPr>
              <a:t>TalentRecruit</a:t>
            </a:r>
            <a:r>
              <a:rPr lang="en-US" sz="2000" dirty="0" smtClean="0">
                <a:latin typeface="Times New Roman" pitchFamily="18" charset="0"/>
                <a:cs typeface="Times New Roman" pitchFamily="18" charset="0"/>
              </a:rPr>
              <a:t> product also took some time, as it is a comprehensive recruitment platform.</a:t>
            </a:r>
          </a:p>
          <a:p>
            <a:pPr>
              <a:buFont typeface="Arial" pitchFamily="34" charset="0"/>
              <a:buChar char="•"/>
            </a:pPr>
            <a:endParaRPr lang="en-US" sz="2000" dirty="0" smtClean="0">
              <a:latin typeface="Times New Roman" pitchFamily="18" charset="0"/>
              <a:cs typeface="Times New Roman" pitchFamily="18" charset="0"/>
            </a:endParaRPr>
          </a:p>
          <a:p>
            <a:pPr>
              <a:buFont typeface="Arial" pitchFamily="34" charset="0"/>
              <a:buChar char="•"/>
            </a:pPr>
            <a:r>
              <a:rPr lang="en-US" sz="2000" dirty="0" smtClean="0">
                <a:latin typeface="Times New Roman" pitchFamily="18" charset="0"/>
                <a:cs typeface="Times New Roman" pitchFamily="18" charset="0"/>
              </a:rPr>
              <a:t>Another initial challenge was managing daily travel through heavy traffic, which was tiring in the beginning. However, with time, support from the team, and regular exposure, I have adjusted well to both the work culture and the product.</a:t>
            </a:r>
          </a:p>
          <a:p>
            <a:pPr>
              <a:buFont typeface="Arial" pitchFamily="34" charset="0"/>
              <a:buChar char="•"/>
            </a:pPr>
            <a:endParaRPr lang="en-US" sz="2000" dirty="0" smtClean="0">
              <a:latin typeface="Times New Roman" pitchFamily="18" charset="0"/>
              <a:cs typeface="Times New Roman" pitchFamily="18" charset="0"/>
            </a:endParaRPr>
          </a:p>
          <a:p>
            <a:pPr>
              <a:buFont typeface="Arial" pitchFamily="34" charset="0"/>
              <a:buChar char="•"/>
            </a:pPr>
            <a:r>
              <a:rPr lang="en-US" sz="2000" dirty="0" smtClean="0">
                <a:latin typeface="Times New Roman" pitchFamily="18" charset="0"/>
                <a:cs typeface="Times New Roman" pitchFamily="18" charset="0"/>
              </a:rPr>
              <a:t>Overall, </a:t>
            </a:r>
            <a:r>
              <a:rPr lang="en-US" sz="2000" dirty="0" err="1" smtClean="0">
                <a:latin typeface="Times New Roman" pitchFamily="18" charset="0"/>
                <a:cs typeface="Times New Roman" pitchFamily="18" charset="0"/>
              </a:rPr>
              <a:t>TalentRecruit</a:t>
            </a:r>
            <a:r>
              <a:rPr lang="en-US" sz="2000" dirty="0" smtClean="0">
                <a:latin typeface="Times New Roman" pitchFamily="18" charset="0"/>
                <a:cs typeface="Times New Roman" pitchFamily="18" charset="0"/>
              </a:rPr>
              <a:t> is a good organization with a strong and growing product. I am now comfortable with the environment and looking forward to learning more and gaining valuable experience in the coming days.</a:t>
            </a:r>
          </a:p>
          <a:p>
            <a:pPr marL="0" lvl="0" indent="0" eaLnBrk="0" fontAlgn="base" hangingPunct="0">
              <a:lnSpc>
                <a:spcPct val="100000"/>
              </a:lnSpc>
              <a:spcBef>
                <a:spcPct val="0"/>
              </a:spcBef>
              <a:spcAft>
                <a:spcPct val="0"/>
              </a:spcAft>
            </a:pPr>
            <a:endParaRPr lang="en-US" alt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6366" rIns="0" bIns="0" rtlCol="0">
            <a:spAutoFit/>
          </a:bodyPr>
          <a:lstStyle/>
          <a:p>
            <a:pPr marL="380365">
              <a:lnSpc>
                <a:spcPct val="100000"/>
              </a:lnSpc>
              <a:spcBef>
                <a:spcPts val="130"/>
              </a:spcBef>
            </a:pPr>
            <a:r>
              <a:rPr sz="3200" b="1" dirty="0">
                <a:solidFill>
                  <a:srgbClr val="2E5496"/>
                </a:solidFill>
                <a:latin typeface="Times New Roman"/>
                <a:cs typeface="Times New Roman"/>
              </a:rPr>
              <a:t>Objectives</a:t>
            </a:r>
            <a:r>
              <a:rPr sz="3200" b="1" spc="-5" dirty="0">
                <a:solidFill>
                  <a:srgbClr val="2E5496"/>
                </a:solidFill>
                <a:latin typeface="Times New Roman"/>
                <a:cs typeface="Times New Roman"/>
              </a:rPr>
              <a:t> </a:t>
            </a:r>
            <a:r>
              <a:rPr sz="3200" b="1" dirty="0">
                <a:solidFill>
                  <a:srgbClr val="2E5496"/>
                </a:solidFill>
                <a:latin typeface="Times New Roman"/>
                <a:cs typeface="Times New Roman"/>
              </a:rPr>
              <a:t>of</a:t>
            </a:r>
            <a:r>
              <a:rPr sz="3200" b="1" spc="-30" dirty="0">
                <a:solidFill>
                  <a:srgbClr val="2E5496"/>
                </a:solidFill>
                <a:latin typeface="Times New Roman"/>
                <a:cs typeface="Times New Roman"/>
              </a:rPr>
              <a:t> </a:t>
            </a:r>
            <a:r>
              <a:rPr sz="3200" b="1" dirty="0">
                <a:solidFill>
                  <a:srgbClr val="2E5496"/>
                </a:solidFill>
                <a:latin typeface="Times New Roman"/>
                <a:cs typeface="Times New Roman"/>
              </a:rPr>
              <a:t>the</a:t>
            </a:r>
            <a:r>
              <a:rPr sz="3200" b="1" spc="-75" dirty="0">
                <a:solidFill>
                  <a:srgbClr val="2E5496"/>
                </a:solidFill>
                <a:latin typeface="Times New Roman"/>
                <a:cs typeface="Times New Roman"/>
              </a:rPr>
              <a:t> </a:t>
            </a:r>
            <a:r>
              <a:rPr sz="3200" b="1" spc="-20" dirty="0">
                <a:solidFill>
                  <a:srgbClr val="2E5496"/>
                </a:solidFill>
                <a:latin typeface="Times New Roman"/>
                <a:cs typeface="Times New Roman"/>
              </a:rPr>
              <a:t>work</a:t>
            </a:r>
            <a:endParaRPr sz="3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pPr marL="115570">
                <a:lnSpc>
                  <a:spcPts val="1240"/>
                </a:lnSpc>
              </a:pPr>
              <a:t>8</a:t>
            </a:fld>
            <a:endParaRPr spc="-50" dirty="0"/>
          </a:p>
        </p:txBody>
      </p:sp>
      <p:sp>
        <p:nvSpPr>
          <p:cNvPr id="3" name="object 3"/>
          <p:cNvSpPr txBox="1"/>
          <p:nvPr/>
        </p:nvSpPr>
        <p:spPr>
          <a:xfrm>
            <a:off x="914400" y="1219200"/>
            <a:ext cx="8636635" cy="3063018"/>
          </a:xfrm>
          <a:prstGeom prst="rect">
            <a:avLst/>
          </a:prstGeom>
        </p:spPr>
        <p:txBody>
          <a:bodyPr vert="horz" wrap="square" lIns="0" tIns="15875" rIns="0" bIns="0" rtlCol="0">
            <a:spAutoFit/>
          </a:bodyPr>
          <a:lstStyle/>
          <a:p>
            <a:pPr marL="100965" indent="-96520">
              <a:lnSpc>
                <a:spcPct val="100000"/>
              </a:lnSpc>
              <a:spcBef>
                <a:spcPts val="125"/>
              </a:spcBef>
              <a:buSzPct val="95000"/>
              <a:buChar char="•"/>
              <a:tabLst>
                <a:tab pos="100965" algn="l"/>
              </a:tabLst>
            </a:pPr>
            <a:r>
              <a:rPr sz="2200" spc="-65" dirty="0">
                <a:latin typeface="Times New Roman" pitchFamily="18" charset="0"/>
                <a:cs typeface="Times New Roman" pitchFamily="18" charset="0"/>
              </a:rPr>
              <a:t>To</a:t>
            </a:r>
            <a:r>
              <a:rPr sz="2200" spc="5" dirty="0">
                <a:latin typeface="Times New Roman" pitchFamily="18" charset="0"/>
                <a:cs typeface="Times New Roman" pitchFamily="18" charset="0"/>
              </a:rPr>
              <a:t> </a:t>
            </a:r>
            <a:r>
              <a:rPr sz="2200" spc="-10" dirty="0">
                <a:latin typeface="Times New Roman" pitchFamily="18" charset="0"/>
                <a:cs typeface="Times New Roman" pitchFamily="18" charset="0"/>
              </a:rPr>
              <a:t>understand</a:t>
            </a:r>
            <a:r>
              <a:rPr sz="2200" spc="-125" dirty="0">
                <a:latin typeface="Times New Roman" pitchFamily="18" charset="0"/>
                <a:cs typeface="Times New Roman" pitchFamily="18" charset="0"/>
              </a:rPr>
              <a:t> </a:t>
            </a:r>
            <a:r>
              <a:rPr sz="2200" spc="-30" dirty="0">
                <a:latin typeface="Times New Roman" pitchFamily="18" charset="0"/>
                <a:cs typeface="Times New Roman" pitchFamily="18" charset="0"/>
              </a:rPr>
              <a:t>ATS</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system</a:t>
            </a:r>
            <a:r>
              <a:rPr sz="2200" spc="-25" dirty="0">
                <a:latin typeface="Times New Roman" pitchFamily="18" charset="0"/>
                <a:cs typeface="Times New Roman" pitchFamily="18" charset="0"/>
              </a:rPr>
              <a:t> </a:t>
            </a:r>
            <a:r>
              <a:rPr sz="2200" dirty="0">
                <a:latin typeface="Times New Roman" pitchFamily="18" charset="0"/>
                <a:cs typeface="Times New Roman" pitchFamily="18" charset="0"/>
              </a:rPr>
              <a:t>architecture</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recruitment</a:t>
            </a:r>
            <a:r>
              <a:rPr sz="2200" spc="-25" dirty="0">
                <a:latin typeface="Times New Roman" pitchFamily="18" charset="0"/>
                <a:cs typeface="Times New Roman" pitchFamily="18" charset="0"/>
              </a:rPr>
              <a:t> </a:t>
            </a:r>
            <a:r>
              <a:rPr sz="2200" spc="-10" dirty="0">
                <a:latin typeface="Times New Roman" pitchFamily="18" charset="0"/>
                <a:cs typeface="Times New Roman" pitchFamily="18" charset="0"/>
              </a:rPr>
              <a:t>workflows.</a:t>
            </a:r>
            <a:endParaRPr sz="2200">
              <a:latin typeface="Times New Roman" pitchFamily="18" charset="0"/>
              <a:cs typeface="Times New Roman" pitchFamily="18" charset="0"/>
            </a:endParaRPr>
          </a:p>
          <a:p>
            <a:pPr marL="100965" indent="-97155">
              <a:lnSpc>
                <a:spcPct val="100000"/>
              </a:lnSpc>
              <a:spcBef>
                <a:spcPts val="5"/>
              </a:spcBef>
              <a:buSzPct val="95000"/>
              <a:buChar char="•"/>
              <a:tabLst>
                <a:tab pos="100965" algn="l"/>
              </a:tabLst>
            </a:pPr>
            <a:r>
              <a:rPr sz="2200" spc="-65" dirty="0">
                <a:latin typeface="Times New Roman" pitchFamily="18" charset="0"/>
                <a:cs typeface="Times New Roman" pitchFamily="18" charset="0"/>
              </a:rPr>
              <a:t>To</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support</a:t>
            </a:r>
            <a:r>
              <a:rPr sz="2200" spc="-140" dirty="0">
                <a:latin typeface="Times New Roman" pitchFamily="18" charset="0"/>
                <a:cs typeface="Times New Roman" pitchFamily="18" charset="0"/>
              </a:rPr>
              <a:t> </a:t>
            </a:r>
            <a:r>
              <a:rPr sz="2200" spc="-10" dirty="0">
                <a:latin typeface="Times New Roman" pitchFamily="18" charset="0"/>
                <a:cs typeface="Times New Roman" pitchFamily="18" charset="0"/>
              </a:rPr>
              <a:t>AI-</a:t>
            </a:r>
            <a:r>
              <a:rPr sz="2200" dirty="0">
                <a:latin typeface="Times New Roman" pitchFamily="18" charset="0"/>
                <a:cs typeface="Times New Roman" pitchFamily="18" charset="0"/>
              </a:rPr>
              <a:t>based</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resume</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parsing</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candidate</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shortlisting</a:t>
            </a:r>
            <a:r>
              <a:rPr sz="2200" spc="-45" dirty="0">
                <a:latin typeface="Times New Roman" pitchFamily="18" charset="0"/>
                <a:cs typeface="Times New Roman" pitchFamily="18" charset="0"/>
              </a:rPr>
              <a:t> </a:t>
            </a:r>
            <a:r>
              <a:rPr sz="2200" spc="-10" dirty="0">
                <a:latin typeface="Times New Roman" pitchFamily="18" charset="0"/>
                <a:cs typeface="Times New Roman" pitchFamily="18" charset="0"/>
              </a:rPr>
              <a:t>processes.</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spc="-65" dirty="0">
                <a:latin typeface="Times New Roman" pitchFamily="18" charset="0"/>
                <a:cs typeface="Times New Roman" pitchFamily="18" charset="0"/>
              </a:rPr>
              <a:t>To</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assist</a:t>
            </a:r>
            <a:r>
              <a:rPr sz="2200" spc="-20" dirty="0">
                <a:latin typeface="Times New Roman" pitchFamily="18" charset="0"/>
                <a:cs typeface="Times New Roman" pitchFamily="18" charset="0"/>
              </a:rPr>
              <a:t> </a:t>
            </a:r>
            <a:r>
              <a:rPr sz="2200" dirty="0">
                <a:latin typeface="Times New Roman" pitchFamily="18" charset="0"/>
                <a:cs typeface="Times New Roman" pitchFamily="18" charset="0"/>
              </a:rPr>
              <a:t>in</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database</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validation</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candidate</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data</a:t>
            </a:r>
            <a:r>
              <a:rPr sz="2200" spc="-50" dirty="0">
                <a:latin typeface="Times New Roman" pitchFamily="18" charset="0"/>
                <a:cs typeface="Times New Roman" pitchFamily="18" charset="0"/>
              </a:rPr>
              <a:t> </a:t>
            </a:r>
            <a:r>
              <a:rPr sz="2200" spc="-10" dirty="0">
                <a:latin typeface="Times New Roman" pitchFamily="18" charset="0"/>
                <a:cs typeface="Times New Roman" pitchFamily="18" charset="0"/>
              </a:rPr>
              <a:t>management.</a:t>
            </a:r>
            <a:endParaRPr sz="2200">
              <a:latin typeface="Times New Roman" pitchFamily="18" charset="0"/>
              <a:cs typeface="Times New Roman" pitchFamily="18" charset="0"/>
            </a:endParaRPr>
          </a:p>
          <a:p>
            <a:pPr marL="100965" indent="-96520">
              <a:lnSpc>
                <a:spcPct val="100000"/>
              </a:lnSpc>
              <a:buSzPct val="95000"/>
              <a:buChar char="•"/>
              <a:tabLst>
                <a:tab pos="100965" algn="l"/>
              </a:tabLst>
            </a:pPr>
            <a:r>
              <a:rPr sz="2200" spc="-65" dirty="0">
                <a:latin typeface="Times New Roman" pitchFamily="18" charset="0"/>
                <a:cs typeface="Times New Roman" pitchFamily="18" charset="0"/>
              </a:rPr>
              <a:t>To</a:t>
            </a:r>
            <a:r>
              <a:rPr sz="2200" dirty="0">
                <a:latin typeface="Times New Roman" pitchFamily="18" charset="0"/>
                <a:cs typeface="Times New Roman" pitchFamily="18" charset="0"/>
              </a:rPr>
              <a:t> ensure</a:t>
            </a:r>
            <a:r>
              <a:rPr sz="2200" spc="-65" dirty="0">
                <a:latin typeface="Times New Roman" pitchFamily="18" charset="0"/>
                <a:cs typeface="Times New Roman" pitchFamily="18" charset="0"/>
              </a:rPr>
              <a:t> </a:t>
            </a:r>
            <a:r>
              <a:rPr sz="2200" dirty="0">
                <a:latin typeface="Times New Roman" pitchFamily="18" charset="0"/>
                <a:cs typeface="Times New Roman" pitchFamily="18" charset="0"/>
              </a:rPr>
              <a:t>accurate</a:t>
            </a:r>
            <a:r>
              <a:rPr sz="2200" spc="-65" dirty="0">
                <a:latin typeface="Times New Roman" pitchFamily="18" charset="0"/>
                <a:cs typeface="Times New Roman" pitchFamily="18" charset="0"/>
              </a:rPr>
              <a:t> </a:t>
            </a:r>
            <a:r>
              <a:rPr sz="2200" dirty="0">
                <a:latin typeface="Times New Roman" pitchFamily="18" charset="0"/>
                <a:cs typeface="Times New Roman" pitchFamily="18" charset="0"/>
              </a:rPr>
              <a:t>workflow</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automation</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across</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hiring</a:t>
            </a:r>
            <a:r>
              <a:rPr sz="2200" spc="-70" dirty="0">
                <a:latin typeface="Times New Roman" pitchFamily="18" charset="0"/>
                <a:cs typeface="Times New Roman" pitchFamily="18" charset="0"/>
              </a:rPr>
              <a:t> </a:t>
            </a:r>
            <a:r>
              <a:rPr sz="2200" spc="-10" dirty="0">
                <a:latin typeface="Times New Roman" pitchFamily="18" charset="0"/>
                <a:cs typeface="Times New Roman" pitchFamily="18" charset="0"/>
              </a:rPr>
              <a:t>stages.</a:t>
            </a:r>
            <a:endParaRPr sz="2200">
              <a:latin typeface="Times New Roman" pitchFamily="18" charset="0"/>
              <a:cs typeface="Times New Roman" pitchFamily="18" charset="0"/>
            </a:endParaRPr>
          </a:p>
          <a:p>
            <a:pPr marL="100965" indent="-97155">
              <a:lnSpc>
                <a:spcPct val="100000"/>
              </a:lnSpc>
              <a:spcBef>
                <a:spcPts val="5"/>
              </a:spcBef>
              <a:buSzPct val="95000"/>
              <a:buChar char="•"/>
              <a:tabLst>
                <a:tab pos="100965" algn="l"/>
              </a:tabLst>
            </a:pPr>
            <a:r>
              <a:rPr sz="2200" spc="-65" dirty="0">
                <a:latin typeface="Times New Roman" pitchFamily="18" charset="0"/>
                <a:cs typeface="Times New Roman" pitchFamily="18" charset="0"/>
              </a:rPr>
              <a:t>To</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support</a:t>
            </a:r>
            <a:r>
              <a:rPr sz="2200" spc="-140" dirty="0">
                <a:latin typeface="Times New Roman" pitchFamily="18" charset="0"/>
                <a:cs typeface="Times New Roman" pitchFamily="18" charset="0"/>
              </a:rPr>
              <a:t> </a:t>
            </a:r>
            <a:r>
              <a:rPr sz="2200" spc="-10" dirty="0">
                <a:latin typeface="Times New Roman" pitchFamily="18" charset="0"/>
                <a:cs typeface="Times New Roman" pitchFamily="18" charset="0"/>
              </a:rPr>
              <a:t>API-</a:t>
            </a:r>
            <a:r>
              <a:rPr sz="2200" dirty="0">
                <a:latin typeface="Times New Roman" pitchFamily="18" charset="0"/>
                <a:cs typeface="Times New Roman" pitchFamily="18" charset="0"/>
              </a:rPr>
              <a:t>based</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integrations</a:t>
            </a:r>
            <a:r>
              <a:rPr sz="2200" spc="-85" dirty="0">
                <a:latin typeface="Times New Roman" pitchFamily="18" charset="0"/>
                <a:cs typeface="Times New Roman" pitchFamily="18" charset="0"/>
              </a:rPr>
              <a:t> </a:t>
            </a:r>
            <a:r>
              <a:rPr sz="2200" dirty="0">
                <a:latin typeface="Times New Roman" pitchFamily="18" charset="0"/>
                <a:cs typeface="Times New Roman" pitchFamily="18" charset="0"/>
              </a:rPr>
              <a:t>with</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job</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portals</a:t>
            </a:r>
            <a:r>
              <a:rPr sz="2200" spc="-8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communication</a:t>
            </a:r>
            <a:r>
              <a:rPr sz="2200" spc="-50" dirty="0">
                <a:latin typeface="Times New Roman" pitchFamily="18" charset="0"/>
                <a:cs typeface="Times New Roman" pitchFamily="18" charset="0"/>
              </a:rPr>
              <a:t> </a:t>
            </a:r>
            <a:r>
              <a:rPr sz="2200" spc="-10" dirty="0">
                <a:latin typeface="Times New Roman" pitchFamily="18" charset="0"/>
                <a:cs typeface="Times New Roman" pitchFamily="18" charset="0"/>
              </a:rPr>
              <a:t>tools.</a:t>
            </a:r>
            <a:endParaRPr sz="2200">
              <a:latin typeface="Times New Roman" pitchFamily="18" charset="0"/>
              <a:cs typeface="Times New Roman" pitchFamily="18" charset="0"/>
            </a:endParaRPr>
          </a:p>
          <a:p>
            <a:pPr marL="100965" indent="-96520">
              <a:lnSpc>
                <a:spcPct val="100000"/>
              </a:lnSpc>
              <a:spcBef>
                <a:spcPts val="5"/>
              </a:spcBef>
              <a:buSzPct val="95000"/>
              <a:buChar char="•"/>
              <a:tabLst>
                <a:tab pos="100965" algn="l"/>
              </a:tabLst>
            </a:pPr>
            <a:r>
              <a:rPr sz="2200" spc="-65" dirty="0">
                <a:latin typeface="Times New Roman" pitchFamily="18" charset="0"/>
                <a:cs typeface="Times New Roman" pitchFamily="18" charset="0"/>
              </a:rPr>
              <a:t>To</a:t>
            </a:r>
            <a:r>
              <a:rPr sz="2200" spc="10" dirty="0">
                <a:latin typeface="Times New Roman" pitchFamily="18" charset="0"/>
                <a:cs typeface="Times New Roman" pitchFamily="18" charset="0"/>
              </a:rPr>
              <a:t> </a:t>
            </a:r>
            <a:r>
              <a:rPr sz="2200" dirty="0">
                <a:latin typeface="Times New Roman" pitchFamily="18" charset="0"/>
                <a:cs typeface="Times New Roman" pitchFamily="18" charset="0"/>
              </a:rPr>
              <a:t>analyze</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recruitment</a:t>
            </a:r>
            <a:r>
              <a:rPr sz="2200" spc="-85" dirty="0">
                <a:latin typeface="Times New Roman" pitchFamily="18" charset="0"/>
                <a:cs typeface="Times New Roman" pitchFamily="18" charset="0"/>
              </a:rPr>
              <a:t> </a:t>
            </a:r>
            <a:r>
              <a:rPr sz="2200" dirty="0">
                <a:latin typeface="Times New Roman" pitchFamily="18" charset="0"/>
                <a:cs typeface="Times New Roman" pitchFamily="18" charset="0"/>
              </a:rPr>
              <a:t>dashboards</a:t>
            </a:r>
            <a:r>
              <a:rPr sz="2200" spc="-2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system</a:t>
            </a:r>
            <a:r>
              <a:rPr sz="2200" spc="-25" dirty="0">
                <a:latin typeface="Times New Roman" pitchFamily="18" charset="0"/>
                <a:cs typeface="Times New Roman" pitchFamily="18" charset="0"/>
              </a:rPr>
              <a:t> </a:t>
            </a:r>
            <a:r>
              <a:rPr sz="2200" spc="-10" dirty="0">
                <a:latin typeface="Times New Roman" pitchFamily="18" charset="0"/>
                <a:cs typeface="Times New Roman" pitchFamily="18" charset="0"/>
              </a:rPr>
              <a:t>reports.</a:t>
            </a:r>
            <a:endParaRPr sz="2200">
              <a:latin typeface="Times New Roman" pitchFamily="18" charset="0"/>
              <a:cs typeface="Times New Roman" pitchFamily="18" charset="0"/>
            </a:endParaRPr>
          </a:p>
          <a:p>
            <a:pPr marL="100965" indent="-96520">
              <a:lnSpc>
                <a:spcPct val="100000"/>
              </a:lnSpc>
              <a:buSzPct val="95000"/>
              <a:buChar char="•"/>
              <a:tabLst>
                <a:tab pos="100965" algn="l"/>
              </a:tabLst>
            </a:pPr>
            <a:r>
              <a:rPr sz="2200" spc="-65" dirty="0">
                <a:latin typeface="Times New Roman" pitchFamily="18" charset="0"/>
                <a:cs typeface="Times New Roman" pitchFamily="18" charset="0"/>
              </a:rPr>
              <a:t>To</a:t>
            </a:r>
            <a:r>
              <a:rPr sz="2200" spc="10" dirty="0">
                <a:latin typeface="Times New Roman" pitchFamily="18" charset="0"/>
                <a:cs typeface="Times New Roman" pitchFamily="18" charset="0"/>
              </a:rPr>
              <a:t> </a:t>
            </a:r>
            <a:r>
              <a:rPr sz="2200" dirty="0">
                <a:latin typeface="Times New Roman" pitchFamily="18" charset="0"/>
                <a:cs typeface="Times New Roman" pitchFamily="18" charset="0"/>
              </a:rPr>
              <a:t>help</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in</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identifying</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resolving</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basic</a:t>
            </a:r>
            <a:r>
              <a:rPr sz="2200" spc="-15" dirty="0">
                <a:latin typeface="Times New Roman" pitchFamily="18" charset="0"/>
                <a:cs typeface="Times New Roman" pitchFamily="18" charset="0"/>
              </a:rPr>
              <a:t> </a:t>
            </a:r>
            <a:r>
              <a:rPr sz="2200" spc="-25" dirty="0">
                <a:latin typeface="Times New Roman" pitchFamily="18" charset="0"/>
                <a:cs typeface="Times New Roman" pitchFamily="18" charset="0"/>
              </a:rPr>
              <a:t>system-</a:t>
            </a:r>
            <a:r>
              <a:rPr sz="2200" dirty="0">
                <a:latin typeface="Times New Roman" pitchFamily="18" charset="0"/>
                <a:cs typeface="Times New Roman" pitchFamily="18" charset="0"/>
              </a:rPr>
              <a:t>level</a:t>
            </a:r>
            <a:r>
              <a:rPr sz="2200" spc="-60" dirty="0">
                <a:latin typeface="Times New Roman" pitchFamily="18" charset="0"/>
                <a:cs typeface="Times New Roman" pitchFamily="18" charset="0"/>
              </a:rPr>
              <a:t> </a:t>
            </a:r>
            <a:r>
              <a:rPr sz="2200" spc="-10" dirty="0">
                <a:latin typeface="Times New Roman" pitchFamily="18" charset="0"/>
                <a:cs typeface="Times New Roman" pitchFamily="18" charset="0"/>
              </a:rPr>
              <a:t>issues.</a:t>
            </a:r>
            <a:endParaRPr sz="2200">
              <a:latin typeface="Times New Roman" pitchFamily="18" charset="0"/>
              <a:cs typeface="Times New Roman" pitchFamily="18" charset="0"/>
            </a:endParaRPr>
          </a:p>
          <a:p>
            <a:pPr marL="100965" indent="-97155">
              <a:lnSpc>
                <a:spcPct val="100000"/>
              </a:lnSpc>
              <a:spcBef>
                <a:spcPts val="5"/>
              </a:spcBef>
              <a:buSzPct val="95000"/>
              <a:buChar char="•"/>
              <a:tabLst>
                <a:tab pos="100965" algn="l"/>
              </a:tabLst>
            </a:pPr>
            <a:r>
              <a:rPr sz="2200" spc="-65" dirty="0">
                <a:latin typeface="Times New Roman" pitchFamily="18" charset="0"/>
                <a:cs typeface="Times New Roman" pitchFamily="18" charset="0"/>
              </a:rPr>
              <a:t>To</a:t>
            </a:r>
            <a:r>
              <a:rPr sz="2200" dirty="0">
                <a:latin typeface="Times New Roman" pitchFamily="18" charset="0"/>
                <a:cs typeface="Times New Roman" pitchFamily="18" charset="0"/>
              </a:rPr>
              <a:t> improve</a:t>
            </a:r>
            <a:r>
              <a:rPr sz="2200" spc="-65" dirty="0">
                <a:latin typeface="Times New Roman" pitchFamily="18" charset="0"/>
                <a:cs typeface="Times New Roman" pitchFamily="18" charset="0"/>
              </a:rPr>
              <a:t> </a:t>
            </a:r>
            <a:r>
              <a:rPr sz="2200" dirty="0">
                <a:latin typeface="Times New Roman" pitchFamily="18" charset="0"/>
                <a:cs typeface="Times New Roman" pitchFamily="18" charset="0"/>
              </a:rPr>
              <a:t>overall</a:t>
            </a:r>
            <a:r>
              <a:rPr sz="2200" spc="5" dirty="0">
                <a:latin typeface="Times New Roman" pitchFamily="18" charset="0"/>
                <a:cs typeface="Times New Roman" pitchFamily="18" charset="0"/>
              </a:rPr>
              <a:t> </a:t>
            </a:r>
            <a:r>
              <a:rPr sz="2200" dirty="0">
                <a:latin typeface="Times New Roman" pitchFamily="18" charset="0"/>
                <a:cs typeface="Times New Roman" pitchFamily="18" charset="0"/>
              </a:rPr>
              <a:t>system</a:t>
            </a:r>
            <a:r>
              <a:rPr sz="2200" spc="-100" dirty="0">
                <a:latin typeface="Times New Roman" pitchFamily="18" charset="0"/>
                <a:cs typeface="Times New Roman" pitchFamily="18" charset="0"/>
              </a:rPr>
              <a:t> </a:t>
            </a:r>
            <a:r>
              <a:rPr sz="2200" dirty="0">
                <a:latin typeface="Times New Roman" pitchFamily="18" charset="0"/>
                <a:cs typeface="Times New Roman" pitchFamily="18" charset="0"/>
              </a:rPr>
              <a:t>efficiency</a:t>
            </a:r>
            <a:r>
              <a:rPr sz="2200" spc="-9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65" dirty="0">
                <a:latin typeface="Times New Roman" pitchFamily="18" charset="0"/>
                <a:cs typeface="Times New Roman" pitchFamily="18" charset="0"/>
              </a:rPr>
              <a:t> </a:t>
            </a:r>
            <a:r>
              <a:rPr sz="2200" dirty="0">
                <a:latin typeface="Times New Roman" pitchFamily="18" charset="0"/>
                <a:cs typeface="Times New Roman" pitchFamily="18" charset="0"/>
              </a:rPr>
              <a:t>data</a:t>
            </a:r>
            <a:r>
              <a:rPr sz="2200" spc="-70" dirty="0">
                <a:latin typeface="Times New Roman" pitchFamily="18" charset="0"/>
                <a:cs typeface="Times New Roman" pitchFamily="18" charset="0"/>
              </a:rPr>
              <a:t> </a:t>
            </a:r>
            <a:r>
              <a:rPr sz="2200" spc="-10" dirty="0">
                <a:latin typeface="Times New Roman" pitchFamily="18" charset="0"/>
                <a:cs typeface="Times New Roman" pitchFamily="18" charset="0"/>
              </a:rPr>
              <a:t>consistency.</a:t>
            </a:r>
            <a:endParaRPr sz="220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29018" rIns="0" bIns="0" rtlCol="0">
            <a:spAutoFit/>
          </a:bodyPr>
          <a:lstStyle/>
          <a:p>
            <a:pPr marL="380365">
              <a:lnSpc>
                <a:spcPct val="100000"/>
              </a:lnSpc>
              <a:spcBef>
                <a:spcPts val="130"/>
              </a:spcBef>
            </a:pPr>
            <a:r>
              <a:rPr spc="-45" dirty="0"/>
              <a:t>Proposed</a:t>
            </a:r>
            <a:r>
              <a:rPr spc="-200" dirty="0"/>
              <a:t> </a:t>
            </a:r>
            <a:r>
              <a:rPr spc="-70" dirty="0"/>
              <a:t>System/Work</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27-02-</a:t>
            </a:r>
            <a:r>
              <a:rPr spc="-20" dirty="0"/>
              <a:t>2026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9</a:t>
            </a:fld>
            <a:endParaRPr spc="-25" dirty="0"/>
          </a:p>
        </p:txBody>
      </p:sp>
      <p:sp>
        <p:nvSpPr>
          <p:cNvPr id="3" name="object 3"/>
          <p:cNvSpPr txBox="1"/>
          <p:nvPr/>
        </p:nvSpPr>
        <p:spPr>
          <a:xfrm>
            <a:off x="914400" y="1524000"/>
            <a:ext cx="10285730" cy="2241638"/>
          </a:xfrm>
          <a:prstGeom prst="rect">
            <a:avLst/>
          </a:prstGeom>
        </p:spPr>
        <p:txBody>
          <a:bodyPr vert="horz" wrap="square" lIns="0" tIns="55879" rIns="0" bIns="0" rtlCol="0">
            <a:spAutoFit/>
          </a:bodyPr>
          <a:lstStyle/>
          <a:p>
            <a:pPr marL="241300" indent="-228600">
              <a:lnSpc>
                <a:spcPct val="100000"/>
              </a:lnSpc>
              <a:spcBef>
                <a:spcPts val="439"/>
              </a:spcBef>
              <a:buFont typeface="Arial MT"/>
              <a:buChar char="•"/>
              <a:tabLst>
                <a:tab pos="241300" algn="l"/>
              </a:tabLst>
            </a:pPr>
            <a:r>
              <a:rPr sz="2200" dirty="0">
                <a:latin typeface="Times New Roman" pitchFamily="18" charset="0"/>
                <a:cs typeface="Times New Roman" pitchFamily="18" charset="0"/>
              </a:rPr>
              <a:t>AI-Powered</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Applicant</a:t>
            </a:r>
            <a:r>
              <a:rPr sz="2200" spc="20" dirty="0">
                <a:latin typeface="Times New Roman" pitchFamily="18" charset="0"/>
                <a:cs typeface="Times New Roman" pitchFamily="18" charset="0"/>
              </a:rPr>
              <a:t> </a:t>
            </a:r>
            <a:r>
              <a:rPr sz="2200" dirty="0">
                <a:latin typeface="Times New Roman" pitchFamily="18" charset="0"/>
                <a:cs typeface="Times New Roman" pitchFamily="18" charset="0"/>
              </a:rPr>
              <a:t>Tracking</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System</a:t>
            </a:r>
            <a:endParaRPr sz="2200">
              <a:latin typeface="Times New Roman" pitchFamily="18" charset="0"/>
              <a:cs typeface="Times New Roman" pitchFamily="18" charset="0"/>
            </a:endParaRPr>
          </a:p>
          <a:p>
            <a:pPr marL="697230" lvl="1" indent="-227329">
              <a:lnSpc>
                <a:spcPct val="100000"/>
              </a:lnSpc>
              <a:spcBef>
                <a:spcPts val="275"/>
              </a:spcBef>
              <a:buFont typeface="Arial MT"/>
              <a:buChar char="•"/>
              <a:tabLst>
                <a:tab pos="697230" algn="l"/>
              </a:tabLst>
            </a:pPr>
            <a:r>
              <a:rPr sz="2200" spc="-10" dirty="0">
                <a:latin typeface="Times New Roman" pitchFamily="18" charset="0"/>
                <a:cs typeface="Times New Roman" pitchFamily="18" charset="0"/>
              </a:rPr>
              <a:t>Automated</a:t>
            </a:r>
            <a:r>
              <a:rPr sz="2200" spc="-90" dirty="0">
                <a:latin typeface="Times New Roman" pitchFamily="18" charset="0"/>
                <a:cs typeface="Times New Roman" pitchFamily="18" charset="0"/>
              </a:rPr>
              <a:t> </a:t>
            </a:r>
            <a:r>
              <a:rPr sz="2200" dirty="0">
                <a:latin typeface="Times New Roman" pitchFamily="18" charset="0"/>
                <a:cs typeface="Times New Roman" pitchFamily="18" charset="0"/>
              </a:rPr>
              <a:t>resume</a:t>
            </a:r>
            <a:r>
              <a:rPr sz="2200" spc="-95" dirty="0">
                <a:latin typeface="Times New Roman" pitchFamily="18" charset="0"/>
                <a:cs typeface="Times New Roman" pitchFamily="18" charset="0"/>
              </a:rPr>
              <a:t> </a:t>
            </a:r>
            <a:r>
              <a:rPr sz="2200" dirty="0">
                <a:latin typeface="Times New Roman" pitchFamily="18" charset="0"/>
                <a:cs typeface="Times New Roman" pitchFamily="18" charset="0"/>
              </a:rPr>
              <a:t>screening</a:t>
            </a:r>
            <a:r>
              <a:rPr sz="2200" spc="-10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90" dirty="0">
                <a:latin typeface="Times New Roman" pitchFamily="18" charset="0"/>
                <a:cs typeface="Times New Roman" pitchFamily="18" charset="0"/>
              </a:rPr>
              <a:t> </a:t>
            </a:r>
            <a:r>
              <a:rPr sz="2200" dirty="0">
                <a:latin typeface="Times New Roman" pitchFamily="18" charset="0"/>
                <a:cs typeface="Times New Roman" pitchFamily="18" charset="0"/>
              </a:rPr>
              <a:t>candidate</a:t>
            </a:r>
            <a:r>
              <a:rPr sz="2200" spc="-95" dirty="0">
                <a:latin typeface="Times New Roman" pitchFamily="18" charset="0"/>
                <a:cs typeface="Times New Roman" pitchFamily="18" charset="0"/>
              </a:rPr>
              <a:t> </a:t>
            </a:r>
            <a:r>
              <a:rPr sz="2200" spc="-10" dirty="0">
                <a:latin typeface="Times New Roman" pitchFamily="18" charset="0"/>
                <a:cs typeface="Times New Roman" pitchFamily="18" charset="0"/>
              </a:rPr>
              <a:t>ranking</a:t>
            </a:r>
            <a:endParaRPr sz="2200">
              <a:latin typeface="Times New Roman" pitchFamily="18" charset="0"/>
              <a:cs typeface="Times New Roman" pitchFamily="18" charset="0"/>
            </a:endParaRPr>
          </a:p>
          <a:p>
            <a:pPr marL="697865" lvl="1" indent="-227965">
              <a:lnSpc>
                <a:spcPct val="100000"/>
              </a:lnSpc>
              <a:spcBef>
                <a:spcPts val="200"/>
              </a:spcBef>
              <a:buFont typeface="Arial MT"/>
              <a:buChar char="•"/>
              <a:tabLst>
                <a:tab pos="697865" algn="l"/>
              </a:tabLst>
            </a:pPr>
            <a:r>
              <a:rPr sz="2200" spc="-10" dirty="0">
                <a:latin typeface="Times New Roman" pitchFamily="18" charset="0"/>
                <a:cs typeface="Times New Roman" pitchFamily="18" charset="0"/>
              </a:rPr>
              <a:t>Chatbot-</a:t>
            </a:r>
            <a:r>
              <a:rPr sz="2200" dirty="0">
                <a:latin typeface="Times New Roman" pitchFamily="18" charset="0"/>
                <a:cs typeface="Times New Roman" pitchFamily="18" charset="0"/>
              </a:rPr>
              <a:t>based</a:t>
            </a:r>
            <a:r>
              <a:rPr sz="2200" spc="-85" dirty="0">
                <a:latin typeface="Times New Roman" pitchFamily="18" charset="0"/>
                <a:cs typeface="Times New Roman" pitchFamily="18" charset="0"/>
              </a:rPr>
              <a:t> </a:t>
            </a:r>
            <a:r>
              <a:rPr sz="2200" spc="-10" dirty="0">
                <a:latin typeface="Times New Roman" pitchFamily="18" charset="0"/>
                <a:cs typeface="Times New Roman" pitchFamily="18" charset="0"/>
              </a:rPr>
              <a:t>candidate</a:t>
            </a:r>
            <a:r>
              <a:rPr sz="2200" spc="-35" dirty="0">
                <a:latin typeface="Times New Roman" pitchFamily="18" charset="0"/>
                <a:cs typeface="Times New Roman" pitchFamily="18" charset="0"/>
              </a:rPr>
              <a:t> </a:t>
            </a:r>
            <a:r>
              <a:rPr sz="2200" spc="-10" dirty="0">
                <a:latin typeface="Times New Roman" pitchFamily="18" charset="0"/>
                <a:cs typeface="Times New Roman" pitchFamily="18" charset="0"/>
              </a:rPr>
              <a:t>engagement</a:t>
            </a:r>
            <a:r>
              <a:rPr sz="2200" spc="-80" dirty="0">
                <a:latin typeface="Times New Roman" pitchFamily="18" charset="0"/>
                <a:cs typeface="Times New Roman" pitchFamily="18" charset="0"/>
              </a:rPr>
              <a:t> </a:t>
            </a:r>
            <a:r>
              <a:rPr sz="2200" spc="-10" dirty="0">
                <a:latin typeface="Times New Roman" pitchFamily="18" charset="0"/>
                <a:cs typeface="Times New Roman" pitchFamily="18" charset="0"/>
              </a:rPr>
              <a:t>(ERIKA)</a:t>
            </a:r>
            <a:endParaRPr sz="2200">
              <a:latin typeface="Times New Roman" pitchFamily="18" charset="0"/>
              <a:cs typeface="Times New Roman" pitchFamily="18" charset="0"/>
            </a:endParaRPr>
          </a:p>
          <a:p>
            <a:pPr marL="697865" lvl="1" indent="-227965">
              <a:lnSpc>
                <a:spcPct val="100000"/>
              </a:lnSpc>
              <a:spcBef>
                <a:spcPts val="280"/>
              </a:spcBef>
              <a:buFont typeface="Arial MT"/>
              <a:buChar char="•"/>
              <a:tabLst>
                <a:tab pos="697865" algn="l"/>
              </a:tabLst>
            </a:pPr>
            <a:r>
              <a:rPr sz="2200" spc="-10" dirty="0">
                <a:latin typeface="Times New Roman" pitchFamily="18" charset="0"/>
                <a:cs typeface="Times New Roman" pitchFamily="18" charset="0"/>
              </a:rPr>
              <a:t>Centralized</a:t>
            </a:r>
            <a:r>
              <a:rPr sz="2200" spc="-80" dirty="0">
                <a:latin typeface="Times New Roman" pitchFamily="18" charset="0"/>
                <a:cs typeface="Times New Roman" pitchFamily="18" charset="0"/>
              </a:rPr>
              <a:t> </a:t>
            </a:r>
            <a:r>
              <a:rPr sz="2200" spc="-10" dirty="0">
                <a:latin typeface="Times New Roman" pitchFamily="18" charset="0"/>
                <a:cs typeface="Times New Roman" pitchFamily="18" charset="0"/>
              </a:rPr>
              <a:t>recruitment</a:t>
            </a:r>
            <a:r>
              <a:rPr sz="2200" spc="-70" dirty="0">
                <a:latin typeface="Times New Roman" pitchFamily="18" charset="0"/>
                <a:cs typeface="Times New Roman" pitchFamily="18" charset="0"/>
              </a:rPr>
              <a:t> </a:t>
            </a:r>
            <a:r>
              <a:rPr sz="2200" dirty="0">
                <a:latin typeface="Times New Roman" pitchFamily="18" charset="0"/>
                <a:cs typeface="Times New Roman" pitchFamily="18" charset="0"/>
              </a:rPr>
              <a:t>workflow</a:t>
            </a:r>
            <a:r>
              <a:rPr sz="2200" spc="-90" dirty="0">
                <a:latin typeface="Times New Roman" pitchFamily="18" charset="0"/>
                <a:cs typeface="Times New Roman" pitchFamily="18" charset="0"/>
              </a:rPr>
              <a:t> </a:t>
            </a:r>
            <a:r>
              <a:rPr sz="2200" spc="-10" dirty="0">
                <a:latin typeface="Times New Roman" pitchFamily="18" charset="0"/>
                <a:cs typeface="Times New Roman" pitchFamily="18" charset="0"/>
              </a:rPr>
              <a:t>management</a:t>
            </a:r>
            <a:endParaRPr sz="2200">
              <a:latin typeface="Times New Roman" pitchFamily="18" charset="0"/>
              <a:cs typeface="Times New Roman" pitchFamily="18" charset="0"/>
            </a:endParaRPr>
          </a:p>
          <a:p>
            <a:pPr marL="697230" lvl="1" indent="-227329">
              <a:lnSpc>
                <a:spcPct val="100000"/>
              </a:lnSpc>
              <a:spcBef>
                <a:spcPts val="195"/>
              </a:spcBef>
              <a:buFont typeface="Arial MT"/>
              <a:buChar char="•"/>
              <a:tabLst>
                <a:tab pos="697230" algn="l"/>
              </a:tabLst>
            </a:pPr>
            <a:r>
              <a:rPr sz="2200" spc="-25" dirty="0">
                <a:latin typeface="Times New Roman" pitchFamily="18" charset="0"/>
                <a:cs typeface="Times New Roman" pitchFamily="18" charset="0"/>
              </a:rPr>
              <a:t>Tailored</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Analytics</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insights</a:t>
            </a:r>
            <a:r>
              <a:rPr sz="2200" spc="-40" dirty="0">
                <a:latin typeface="Times New Roman" pitchFamily="18" charset="0"/>
                <a:cs typeface="Times New Roman" pitchFamily="18" charset="0"/>
              </a:rPr>
              <a:t> </a:t>
            </a:r>
            <a:r>
              <a:rPr sz="2200" spc="-20" dirty="0">
                <a:latin typeface="Times New Roman" pitchFamily="18" charset="0"/>
                <a:cs typeface="Times New Roman" pitchFamily="18" charset="0"/>
              </a:rPr>
              <a:t>customize</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to</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specific</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clients</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5" dirty="0">
                <a:latin typeface="Times New Roman" pitchFamily="18" charset="0"/>
                <a:cs typeface="Times New Roman" pitchFamily="18" charset="0"/>
              </a:rPr>
              <a:t> </a:t>
            </a:r>
            <a:r>
              <a:rPr sz="2200" spc="-20" dirty="0">
                <a:latin typeface="Times New Roman" pitchFamily="18" charset="0"/>
                <a:cs typeface="Times New Roman" pitchFamily="18" charset="0"/>
              </a:rPr>
              <a:t>strategic</a:t>
            </a:r>
            <a:r>
              <a:rPr sz="2200" spc="-110" dirty="0">
                <a:latin typeface="Times New Roman" pitchFamily="18" charset="0"/>
                <a:cs typeface="Times New Roman" pitchFamily="18" charset="0"/>
              </a:rPr>
              <a:t> </a:t>
            </a:r>
            <a:r>
              <a:rPr sz="2200" spc="-10" dirty="0">
                <a:latin typeface="Times New Roman" pitchFamily="18" charset="0"/>
                <a:cs typeface="Times New Roman" pitchFamily="18" charset="0"/>
              </a:rPr>
              <a:t>plans</a:t>
            </a:r>
            <a:endParaRPr sz="2200">
              <a:latin typeface="Times New Roman" pitchFamily="18" charset="0"/>
              <a:cs typeface="Times New Roman" pitchFamily="18" charset="0"/>
            </a:endParaRPr>
          </a:p>
          <a:p>
            <a:pPr marL="697865" lvl="1" indent="-227965">
              <a:lnSpc>
                <a:spcPct val="100000"/>
              </a:lnSpc>
              <a:spcBef>
                <a:spcPts val="200"/>
              </a:spcBef>
              <a:buFont typeface="Arial MT"/>
              <a:buChar char="•"/>
              <a:tabLst>
                <a:tab pos="697865" algn="l"/>
              </a:tabLst>
            </a:pPr>
            <a:r>
              <a:rPr sz="2200" spc="-10" dirty="0">
                <a:latin typeface="Times New Roman" pitchFamily="18" charset="0"/>
                <a:cs typeface="Times New Roman" pitchFamily="18" charset="0"/>
              </a:rPr>
              <a:t>Power</a:t>
            </a:r>
            <a:r>
              <a:rPr sz="2200" spc="-65" dirty="0">
                <a:latin typeface="Times New Roman" pitchFamily="18" charset="0"/>
                <a:cs typeface="Times New Roman" pitchFamily="18" charset="0"/>
              </a:rPr>
              <a:t> </a:t>
            </a:r>
            <a:r>
              <a:rPr sz="2200" dirty="0">
                <a:latin typeface="Times New Roman" pitchFamily="18" charset="0"/>
                <a:cs typeface="Times New Roman" pitchFamily="18" charset="0"/>
              </a:rPr>
              <a:t>BI</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45" dirty="0">
                <a:latin typeface="Times New Roman" pitchFamily="18" charset="0"/>
                <a:cs typeface="Times New Roman" pitchFamily="18" charset="0"/>
              </a:rPr>
              <a:t> </a:t>
            </a:r>
            <a:r>
              <a:rPr sz="2200" spc="-25" dirty="0">
                <a:latin typeface="Times New Roman" pitchFamily="18" charset="0"/>
                <a:cs typeface="Times New Roman" pitchFamily="18" charset="0"/>
              </a:rPr>
              <a:t>Tableau</a:t>
            </a:r>
            <a:r>
              <a:rPr sz="2200" spc="-45" dirty="0">
                <a:latin typeface="Times New Roman" pitchFamily="18" charset="0"/>
                <a:cs typeface="Times New Roman" pitchFamily="18" charset="0"/>
              </a:rPr>
              <a:t> </a:t>
            </a:r>
            <a:r>
              <a:rPr sz="2200" spc="-10" dirty="0">
                <a:latin typeface="Times New Roman" pitchFamily="18" charset="0"/>
                <a:cs typeface="Times New Roman" pitchFamily="18" charset="0"/>
              </a:rPr>
              <a:t>integrations</a:t>
            </a:r>
            <a:r>
              <a:rPr sz="2200" spc="-90" dirty="0">
                <a:latin typeface="Times New Roman" pitchFamily="18" charset="0"/>
                <a:cs typeface="Times New Roman" pitchFamily="18" charset="0"/>
              </a:rPr>
              <a:t> </a:t>
            </a:r>
            <a:r>
              <a:rPr sz="2200" dirty="0">
                <a:latin typeface="Times New Roman" pitchFamily="18" charset="0"/>
                <a:cs typeface="Times New Roman" pitchFamily="18" charset="0"/>
              </a:rPr>
              <a:t>as</a:t>
            </a:r>
            <a:r>
              <a:rPr sz="2200" spc="-90" dirty="0">
                <a:latin typeface="Times New Roman" pitchFamily="18" charset="0"/>
                <a:cs typeface="Times New Roman" pitchFamily="18" charset="0"/>
              </a:rPr>
              <a:t> </a:t>
            </a:r>
            <a:r>
              <a:rPr sz="2200" dirty="0">
                <a:latin typeface="Times New Roman" pitchFamily="18" charset="0"/>
                <a:cs typeface="Times New Roman" pitchFamily="18" charset="0"/>
              </a:rPr>
              <a:t>per</a:t>
            </a:r>
            <a:r>
              <a:rPr sz="2200" spc="-60" dirty="0">
                <a:latin typeface="Times New Roman" pitchFamily="18" charset="0"/>
                <a:cs typeface="Times New Roman" pitchFamily="18" charset="0"/>
              </a:rPr>
              <a:t> </a:t>
            </a:r>
            <a:r>
              <a:rPr sz="2200" dirty="0">
                <a:latin typeface="Times New Roman" pitchFamily="18" charset="0"/>
                <a:cs typeface="Times New Roman" pitchFamily="18" charset="0"/>
              </a:rPr>
              <a:t>business</a:t>
            </a:r>
            <a:r>
              <a:rPr sz="2200" spc="-20" dirty="0">
                <a:latin typeface="Times New Roman" pitchFamily="18" charset="0"/>
                <a:cs typeface="Times New Roman" pitchFamily="18" charset="0"/>
              </a:rPr>
              <a:t> </a:t>
            </a:r>
            <a:r>
              <a:rPr sz="2200" spc="-10" dirty="0">
                <a:latin typeface="Times New Roman" pitchFamily="18" charset="0"/>
                <a:cs typeface="Times New Roman" pitchFamily="18" charset="0"/>
              </a:rPr>
              <a:t>plans</a:t>
            </a:r>
            <a:endParaRPr sz="220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29018" rIns="0" bIns="0" rtlCol="0">
            <a:spAutoFit/>
          </a:bodyPr>
          <a:lstStyle/>
          <a:p>
            <a:pPr marL="380365">
              <a:lnSpc>
                <a:spcPct val="100000"/>
              </a:lnSpc>
              <a:spcBef>
                <a:spcPts val="130"/>
              </a:spcBef>
            </a:pPr>
            <a:r>
              <a:rPr spc="-45" dirty="0"/>
              <a:t>Problem</a:t>
            </a:r>
            <a:r>
              <a:rPr spc="-204" dirty="0"/>
              <a:t> </a:t>
            </a:r>
            <a:r>
              <a:rPr spc="-45" dirty="0"/>
              <a:t>Statement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27-02-</a:t>
            </a:r>
            <a:r>
              <a:rPr spc="-20" dirty="0"/>
              <a:t>2026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10</a:t>
            </a:fld>
            <a:endParaRPr spc="-25" dirty="0"/>
          </a:p>
        </p:txBody>
      </p:sp>
      <p:sp>
        <p:nvSpPr>
          <p:cNvPr id="3" name="object 3"/>
          <p:cNvSpPr txBox="1"/>
          <p:nvPr/>
        </p:nvSpPr>
        <p:spPr>
          <a:xfrm>
            <a:off x="762000" y="1524000"/>
            <a:ext cx="10311765" cy="1740861"/>
          </a:xfrm>
          <a:prstGeom prst="rect">
            <a:avLst/>
          </a:prstGeom>
        </p:spPr>
        <p:txBody>
          <a:bodyPr vert="horz" wrap="square" lIns="0" tIns="78105" rIns="0" bIns="0" rtlCol="0">
            <a:spAutoFit/>
          </a:bodyPr>
          <a:lstStyle/>
          <a:p>
            <a:pPr marL="240029" marR="5080" indent="-227965" algn="just">
              <a:lnSpc>
                <a:spcPct val="90100"/>
              </a:lnSpc>
              <a:spcBef>
                <a:spcPts val="615"/>
              </a:spcBef>
              <a:tabLst>
                <a:tab pos="241300" algn="l"/>
              </a:tabLst>
            </a:pPr>
            <a:r>
              <a:rPr lang="en-US" sz="2400" dirty="0" smtClean="0">
                <a:latin typeface="Times New Roman" pitchFamily="18" charset="0"/>
                <a:cs typeface="Times New Roman" pitchFamily="18" charset="0"/>
              </a:rPr>
              <a:t>   Organizations face challenges in managing the end-to-end recruitment process efficiently due to manual coordination, scattered candidate data, and lack of automation. The objective is to streamline hiring workflows using an Applicant Tracking System (ATS) that centralizes candidate management, automates sourcing, and improves recruitment efficiency.</a:t>
            </a:r>
            <a:endParaRPr sz="240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29018" rIns="0" bIns="0" rtlCol="0">
            <a:spAutoFit/>
          </a:bodyPr>
          <a:lstStyle/>
          <a:p>
            <a:pPr marL="380365">
              <a:lnSpc>
                <a:spcPct val="100000"/>
              </a:lnSpc>
              <a:spcBef>
                <a:spcPts val="130"/>
              </a:spcBef>
            </a:pPr>
            <a:r>
              <a:rPr spc="-65" dirty="0"/>
              <a:t>System</a:t>
            </a:r>
            <a:r>
              <a:rPr spc="-145" dirty="0"/>
              <a:t> </a:t>
            </a:r>
            <a:r>
              <a:rPr spc="-45" dirty="0"/>
              <a:t>Requirements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27-02-</a:t>
            </a:r>
            <a:r>
              <a:rPr spc="-20" dirty="0"/>
              <a:t>2026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11</a:t>
            </a:fld>
            <a:endParaRPr spc="-25" dirty="0"/>
          </a:p>
        </p:txBody>
      </p:sp>
      <p:sp>
        <p:nvSpPr>
          <p:cNvPr id="3" name="object 3"/>
          <p:cNvSpPr txBox="1"/>
          <p:nvPr/>
        </p:nvSpPr>
        <p:spPr>
          <a:xfrm>
            <a:off x="914400" y="1556550"/>
            <a:ext cx="10820400" cy="4796184"/>
          </a:xfrm>
          <a:prstGeom prst="rect">
            <a:avLst/>
          </a:prstGeom>
        </p:spPr>
        <p:txBody>
          <a:bodyPr vert="horz" wrap="square" lIns="0" tIns="55879" rIns="0" bIns="0" rtlCol="0">
            <a:spAutoFit/>
          </a:bodyPr>
          <a:lstStyle/>
          <a:p>
            <a:pPr marL="241300" indent="-228600">
              <a:lnSpc>
                <a:spcPct val="100000"/>
              </a:lnSpc>
              <a:spcBef>
                <a:spcPts val="439"/>
              </a:spcBef>
              <a:buFont typeface="Arial MT"/>
              <a:buChar char="•"/>
              <a:tabLst>
                <a:tab pos="241300" algn="l"/>
              </a:tabLst>
            </a:pPr>
            <a:r>
              <a:rPr sz="2200" spc="-20" dirty="0">
                <a:latin typeface="Times New Roman" pitchFamily="18" charset="0"/>
                <a:cs typeface="Times New Roman" pitchFamily="18" charset="0"/>
              </a:rPr>
              <a:t>Web-</a:t>
            </a:r>
            <a:r>
              <a:rPr sz="2200" dirty="0">
                <a:latin typeface="Times New Roman" pitchFamily="18" charset="0"/>
                <a:cs typeface="Times New Roman" pitchFamily="18" charset="0"/>
              </a:rPr>
              <a:t>based</a:t>
            </a:r>
            <a:r>
              <a:rPr sz="2200" spc="35" dirty="0">
                <a:latin typeface="Times New Roman" pitchFamily="18" charset="0"/>
                <a:cs typeface="Times New Roman" pitchFamily="18" charset="0"/>
              </a:rPr>
              <a:t> </a:t>
            </a:r>
            <a:r>
              <a:rPr sz="2200" spc="-20" dirty="0">
                <a:latin typeface="Times New Roman" pitchFamily="18" charset="0"/>
                <a:cs typeface="Times New Roman" pitchFamily="18" charset="0"/>
              </a:rPr>
              <a:t>ATS</a:t>
            </a:r>
            <a:r>
              <a:rPr sz="2200" spc="-15" dirty="0">
                <a:latin typeface="Times New Roman" pitchFamily="18" charset="0"/>
                <a:cs typeface="Times New Roman" pitchFamily="18" charset="0"/>
              </a:rPr>
              <a:t> </a:t>
            </a:r>
            <a:r>
              <a:rPr sz="2200" spc="-10" dirty="0">
                <a:latin typeface="Times New Roman" pitchFamily="18" charset="0"/>
                <a:cs typeface="Times New Roman" pitchFamily="18" charset="0"/>
              </a:rPr>
              <a:t>platform</a:t>
            </a:r>
            <a:endParaRPr sz="2200">
              <a:latin typeface="Times New Roman" pitchFamily="18" charset="0"/>
              <a:cs typeface="Times New Roman" pitchFamily="18" charset="0"/>
            </a:endParaRPr>
          </a:p>
          <a:p>
            <a:pPr marL="697230" lvl="1" indent="-227329">
              <a:lnSpc>
                <a:spcPct val="100000"/>
              </a:lnSpc>
              <a:spcBef>
                <a:spcPts val="275"/>
              </a:spcBef>
              <a:buFont typeface="Arial MT"/>
              <a:buChar char="•"/>
              <a:tabLst>
                <a:tab pos="697230" algn="l"/>
              </a:tabLst>
            </a:pPr>
            <a:r>
              <a:rPr sz="2200" dirty="0">
                <a:latin typeface="Times New Roman" pitchFamily="18" charset="0"/>
                <a:cs typeface="Times New Roman" pitchFamily="18" charset="0"/>
              </a:rPr>
              <a:t>Cloud</a:t>
            </a:r>
            <a:r>
              <a:rPr sz="2200" spc="-40" dirty="0">
                <a:latin typeface="Times New Roman" pitchFamily="18" charset="0"/>
                <a:cs typeface="Times New Roman" pitchFamily="18" charset="0"/>
              </a:rPr>
              <a:t> </a:t>
            </a:r>
            <a:r>
              <a:rPr sz="2200" spc="-10" dirty="0">
                <a:latin typeface="Times New Roman" pitchFamily="18" charset="0"/>
                <a:cs typeface="Times New Roman" pitchFamily="18" charset="0"/>
              </a:rPr>
              <a:t>infrastructure</a:t>
            </a:r>
            <a:endParaRPr sz="2200">
              <a:latin typeface="Times New Roman" pitchFamily="18" charset="0"/>
              <a:cs typeface="Times New Roman" pitchFamily="18" charset="0"/>
            </a:endParaRPr>
          </a:p>
          <a:p>
            <a:pPr marL="697865" lvl="1" indent="-227965">
              <a:lnSpc>
                <a:spcPct val="100000"/>
              </a:lnSpc>
              <a:spcBef>
                <a:spcPts val="200"/>
              </a:spcBef>
              <a:buFont typeface="Arial MT"/>
              <a:buChar char="•"/>
              <a:tabLst>
                <a:tab pos="697865" algn="l"/>
              </a:tabLst>
            </a:pPr>
            <a:r>
              <a:rPr sz="2200" spc="-10" dirty="0">
                <a:latin typeface="Times New Roman" pitchFamily="18" charset="0"/>
                <a:cs typeface="Times New Roman" pitchFamily="18" charset="0"/>
              </a:rPr>
              <a:t>Database</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for</a:t>
            </a:r>
            <a:r>
              <a:rPr sz="2200" spc="-65" dirty="0">
                <a:latin typeface="Times New Roman" pitchFamily="18" charset="0"/>
                <a:cs typeface="Times New Roman" pitchFamily="18" charset="0"/>
              </a:rPr>
              <a:t> </a:t>
            </a:r>
            <a:r>
              <a:rPr sz="2200" spc="-10" dirty="0">
                <a:latin typeface="Times New Roman" pitchFamily="18" charset="0"/>
                <a:cs typeface="Times New Roman" pitchFamily="18" charset="0"/>
              </a:rPr>
              <a:t>candidate</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job</a:t>
            </a:r>
            <a:r>
              <a:rPr sz="2200" spc="-50" dirty="0">
                <a:latin typeface="Times New Roman" pitchFamily="18" charset="0"/>
                <a:cs typeface="Times New Roman" pitchFamily="18" charset="0"/>
              </a:rPr>
              <a:t> </a:t>
            </a:r>
            <a:r>
              <a:rPr sz="2200" spc="-20" dirty="0">
                <a:latin typeface="Times New Roman" pitchFamily="18" charset="0"/>
                <a:cs typeface="Times New Roman" pitchFamily="18" charset="0"/>
              </a:rPr>
              <a:t>data</a:t>
            </a:r>
            <a:endParaRPr sz="2200">
              <a:latin typeface="Times New Roman" pitchFamily="18" charset="0"/>
              <a:cs typeface="Times New Roman" pitchFamily="18" charset="0"/>
            </a:endParaRPr>
          </a:p>
          <a:p>
            <a:pPr marL="697865" lvl="1" indent="-227965">
              <a:lnSpc>
                <a:spcPct val="100000"/>
              </a:lnSpc>
              <a:spcBef>
                <a:spcPts val="280"/>
              </a:spcBef>
              <a:buFont typeface="Arial MT"/>
              <a:buChar char="•"/>
              <a:tabLst>
                <a:tab pos="697865" algn="l"/>
              </a:tabLst>
            </a:pPr>
            <a:r>
              <a:rPr sz="2200" dirty="0">
                <a:latin typeface="Times New Roman" pitchFamily="18" charset="0"/>
                <a:cs typeface="Times New Roman" pitchFamily="18" charset="0"/>
              </a:rPr>
              <a:t>API</a:t>
            </a:r>
            <a:r>
              <a:rPr sz="2200" spc="-70" dirty="0">
                <a:latin typeface="Times New Roman" pitchFamily="18" charset="0"/>
                <a:cs typeface="Times New Roman" pitchFamily="18" charset="0"/>
              </a:rPr>
              <a:t> </a:t>
            </a:r>
            <a:r>
              <a:rPr sz="2200" spc="-10" dirty="0">
                <a:latin typeface="Times New Roman" pitchFamily="18" charset="0"/>
                <a:cs typeface="Times New Roman" pitchFamily="18" charset="0"/>
              </a:rPr>
              <a:t>integrations</a:t>
            </a:r>
            <a:r>
              <a:rPr sz="2200" spc="-100" dirty="0">
                <a:latin typeface="Times New Roman" pitchFamily="18" charset="0"/>
                <a:cs typeface="Times New Roman" pitchFamily="18" charset="0"/>
              </a:rPr>
              <a:t> </a:t>
            </a:r>
            <a:r>
              <a:rPr sz="2200" dirty="0">
                <a:latin typeface="Times New Roman" pitchFamily="18" charset="0"/>
                <a:cs typeface="Times New Roman" pitchFamily="18" charset="0"/>
              </a:rPr>
              <a:t>with</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job</a:t>
            </a:r>
            <a:r>
              <a:rPr sz="2200" spc="-50" dirty="0">
                <a:latin typeface="Times New Roman" pitchFamily="18" charset="0"/>
                <a:cs typeface="Times New Roman" pitchFamily="18" charset="0"/>
              </a:rPr>
              <a:t> </a:t>
            </a:r>
            <a:r>
              <a:rPr sz="2200" dirty="0">
                <a:latin typeface="Times New Roman" pitchFamily="18" charset="0"/>
                <a:cs typeface="Times New Roman" pitchFamily="18" charset="0"/>
              </a:rPr>
              <a:t>portals</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5" dirty="0">
                <a:latin typeface="Times New Roman" pitchFamily="18" charset="0"/>
                <a:cs typeface="Times New Roman" pitchFamily="18" charset="0"/>
              </a:rPr>
              <a:t> </a:t>
            </a:r>
            <a:r>
              <a:rPr sz="2200" spc="-10" dirty="0">
                <a:latin typeface="Times New Roman" pitchFamily="18" charset="0"/>
                <a:cs typeface="Times New Roman" pitchFamily="18" charset="0"/>
              </a:rPr>
              <a:t>communication</a:t>
            </a:r>
            <a:r>
              <a:rPr sz="2200" spc="-55" dirty="0">
                <a:latin typeface="Times New Roman" pitchFamily="18" charset="0"/>
                <a:cs typeface="Times New Roman" pitchFamily="18" charset="0"/>
              </a:rPr>
              <a:t> </a:t>
            </a:r>
            <a:r>
              <a:rPr sz="2200" spc="-10" dirty="0">
                <a:latin typeface="Times New Roman" pitchFamily="18" charset="0"/>
                <a:cs typeface="Times New Roman" pitchFamily="18" charset="0"/>
              </a:rPr>
              <a:t>tools</a:t>
            </a:r>
            <a:endParaRPr sz="2200">
              <a:latin typeface="Times New Roman" pitchFamily="18" charset="0"/>
              <a:cs typeface="Times New Roman" pitchFamily="18" charset="0"/>
            </a:endParaRPr>
          </a:p>
          <a:p>
            <a:pPr marL="241300" indent="-228600">
              <a:lnSpc>
                <a:spcPct val="100000"/>
              </a:lnSpc>
              <a:spcBef>
                <a:spcPts val="5"/>
              </a:spcBef>
              <a:buFont typeface="Arial MT"/>
              <a:buChar char="•"/>
              <a:tabLst>
                <a:tab pos="241300" algn="l"/>
              </a:tabLst>
            </a:pPr>
            <a:r>
              <a:rPr sz="2200" smtClean="0">
                <a:latin typeface="Times New Roman" pitchFamily="18" charset="0"/>
                <a:cs typeface="Times New Roman" pitchFamily="18" charset="0"/>
              </a:rPr>
              <a:t>Power</a:t>
            </a:r>
            <a:r>
              <a:rPr sz="2200" spc="-15" smtClean="0">
                <a:latin typeface="Times New Roman" pitchFamily="18" charset="0"/>
                <a:cs typeface="Times New Roman" pitchFamily="18" charset="0"/>
              </a:rPr>
              <a:t> </a:t>
            </a:r>
            <a:r>
              <a:rPr sz="2200" dirty="0">
                <a:latin typeface="Times New Roman" pitchFamily="18" charset="0"/>
                <a:cs typeface="Times New Roman" pitchFamily="18" charset="0"/>
              </a:rPr>
              <a:t>BI</a:t>
            </a:r>
            <a:r>
              <a:rPr sz="2200" spc="2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Tableau</a:t>
            </a:r>
            <a:r>
              <a:rPr sz="2200" spc="15" dirty="0">
                <a:latin typeface="Times New Roman" pitchFamily="18" charset="0"/>
                <a:cs typeface="Times New Roman" pitchFamily="18" charset="0"/>
              </a:rPr>
              <a:t> </a:t>
            </a:r>
            <a:r>
              <a:rPr sz="2200">
                <a:latin typeface="Times New Roman" pitchFamily="18" charset="0"/>
                <a:cs typeface="Times New Roman" pitchFamily="18" charset="0"/>
              </a:rPr>
              <a:t>API</a:t>
            </a:r>
            <a:r>
              <a:rPr sz="2200" spc="25">
                <a:latin typeface="Times New Roman" pitchFamily="18" charset="0"/>
                <a:cs typeface="Times New Roman" pitchFamily="18" charset="0"/>
              </a:rPr>
              <a:t> </a:t>
            </a:r>
            <a:r>
              <a:rPr sz="2200" spc="-10" smtClean="0">
                <a:latin typeface="Times New Roman" pitchFamily="18" charset="0"/>
                <a:cs typeface="Times New Roman" pitchFamily="18" charset="0"/>
              </a:rPr>
              <a:t>connectivity</a:t>
            </a:r>
            <a:r>
              <a:rPr lang="en-US" sz="2200" spc="-10" dirty="0" smtClean="0">
                <a:latin typeface="Times New Roman" pitchFamily="18" charset="0"/>
                <a:cs typeface="Times New Roman" pitchFamily="18" charset="0"/>
              </a:rPr>
              <a:t>\</a:t>
            </a:r>
          </a:p>
          <a:p>
            <a:pPr marL="697865" lvl="1" indent="-227965">
              <a:lnSpc>
                <a:spcPts val="2755"/>
              </a:lnSpc>
              <a:spcBef>
                <a:spcPts val="280"/>
              </a:spcBef>
              <a:buFont typeface="Arial MT"/>
              <a:buChar char="•"/>
              <a:tabLst>
                <a:tab pos="697865" algn="l"/>
              </a:tabLst>
            </a:pPr>
            <a:r>
              <a:rPr lang="en-US" sz="2200" dirty="0" smtClean="0">
                <a:latin typeface="Times New Roman" pitchFamily="18" charset="0"/>
                <a:cs typeface="Times New Roman" pitchFamily="18" charset="0"/>
              </a:rPr>
              <a:t>Support</a:t>
            </a:r>
            <a:r>
              <a:rPr lang="en-US" sz="2200" spc="-4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for</a:t>
            </a:r>
            <a:r>
              <a:rPr lang="en-US" sz="2200" spc="-65"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Advanced</a:t>
            </a:r>
            <a:r>
              <a:rPr lang="en-US" sz="2200" spc="-45"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Analytics</a:t>
            </a:r>
            <a:r>
              <a:rPr lang="en-US" sz="2200" spc="-9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via</a:t>
            </a:r>
            <a:r>
              <a:rPr lang="en-US" sz="2200" spc="-15"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REST</a:t>
            </a:r>
            <a:r>
              <a:rPr lang="en-US" sz="2200" spc="-1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APIs</a:t>
            </a:r>
            <a:r>
              <a:rPr lang="en-US" sz="2200" spc="-3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enabling</a:t>
            </a:r>
            <a:r>
              <a:rPr lang="en-US" sz="2200" spc="-6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real</a:t>
            </a:r>
            <a:r>
              <a:rPr lang="en-US" sz="2200" spc="-8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time</a:t>
            </a:r>
            <a:r>
              <a:rPr lang="en-US" sz="2200" spc="-50" dirty="0" smtClean="0">
                <a:latin typeface="Times New Roman" pitchFamily="18" charset="0"/>
                <a:cs typeface="Times New Roman" pitchFamily="18" charset="0"/>
              </a:rPr>
              <a:t> </a:t>
            </a:r>
            <a:r>
              <a:rPr lang="en-US" sz="2200" spc="-20" dirty="0" smtClean="0">
                <a:latin typeface="Times New Roman" pitchFamily="18" charset="0"/>
                <a:cs typeface="Times New Roman" pitchFamily="18" charset="0"/>
              </a:rPr>
              <a:t>data </a:t>
            </a:r>
            <a:r>
              <a:rPr lang="en-US" sz="2200" spc="-10" dirty="0" smtClean="0">
                <a:latin typeface="Times New Roman" pitchFamily="18" charset="0"/>
                <a:cs typeface="Times New Roman" pitchFamily="18" charset="0"/>
              </a:rPr>
              <a:t>synchronization.</a:t>
            </a:r>
          </a:p>
          <a:p>
            <a:pPr marL="241300" indent="-228600">
              <a:lnSpc>
                <a:spcPct val="100000"/>
              </a:lnSpc>
              <a:spcBef>
                <a:spcPts val="439"/>
              </a:spcBef>
              <a:buFont typeface="Arial MT"/>
              <a:buChar char="•"/>
              <a:tabLst>
                <a:tab pos="241300" algn="l"/>
              </a:tabLst>
            </a:pPr>
            <a:r>
              <a:rPr lang="en-US" sz="2200" dirty="0" smtClean="0">
                <a:latin typeface="Times New Roman" pitchFamily="18" charset="0"/>
                <a:cs typeface="Times New Roman" pitchFamily="18" charset="0"/>
              </a:rPr>
              <a:t>Security</a:t>
            </a:r>
            <a:r>
              <a:rPr lang="en-US" sz="2200" spc="135"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aspects:</a:t>
            </a:r>
            <a:endParaRPr lang="en-US" sz="2200" dirty="0" smtClean="0">
              <a:latin typeface="Times New Roman" pitchFamily="18" charset="0"/>
              <a:cs typeface="Times New Roman" pitchFamily="18" charset="0"/>
            </a:endParaRPr>
          </a:p>
          <a:p>
            <a:pPr marL="697230" lvl="1" indent="-227329">
              <a:lnSpc>
                <a:spcPct val="100000"/>
              </a:lnSpc>
              <a:spcBef>
                <a:spcPts val="275"/>
              </a:spcBef>
              <a:buFont typeface="Arial MT"/>
              <a:buChar char="•"/>
              <a:tabLst>
                <a:tab pos="697230" algn="l"/>
              </a:tabLst>
            </a:pPr>
            <a:r>
              <a:rPr lang="en-US" sz="2200" dirty="0" smtClean="0">
                <a:latin typeface="Times New Roman" pitchFamily="18" charset="0"/>
                <a:cs typeface="Times New Roman" pitchFamily="18" charset="0"/>
              </a:rPr>
              <a:t>Role</a:t>
            </a:r>
            <a:r>
              <a:rPr lang="en-US" sz="2200" spc="-75"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based</a:t>
            </a:r>
            <a:r>
              <a:rPr lang="en-US" sz="2200" spc="-7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data</a:t>
            </a:r>
            <a:r>
              <a:rPr lang="en-US" sz="2200" spc="-105"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Access</a:t>
            </a:r>
            <a:r>
              <a:rPr lang="en-US" sz="2200" spc="-50"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(RBAC)</a:t>
            </a:r>
            <a:endParaRPr lang="en-US" sz="2200" dirty="0" smtClean="0">
              <a:latin typeface="Times New Roman" pitchFamily="18" charset="0"/>
              <a:cs typeface="Times New Roman" pitchFamily="18" charset="0"/>
            </a:endParaRPr>
          </a:p>
          <a:p>
            <a:pPr marL="697865" lvl="1" indent="-227965">
              <a:lnSpc>
                <a:spcPct val="100000"/>
              </a:lnSpc>
              <a:spcBef>
                <a:spcPts val="200"/>
              </a:spcBef>
              <a:buFont typeface="Arial MT"/>
              <a:buChar char="•"/>
              <a:tabLst>
                <a:tab pos="697865" algn="l"/>
              </a:tabLst>
            </a:pPr>
            <a:r>
              <a:rPr lang="en-US" sz="2200" dirty="0" smtClean="0">
                <a:latin typeface="Times New Roman" pitchFamily="18" charset="0"/>
                <a:cs typeface="Times New Roman" pitchFamily="18" charset="0"/>
              </a:rPr>
              <a:t>Securing</a:t>
            </a:r>
            <a:r>
              <a:rPr lang="en-US" sz="2200" spc="-25"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data</a:t>
            </a:r>
            <a:r>
              <a:rPr lang="en-US" sz="2200" spc="-1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Sharing</a:t>
            </a:r>
            <a:r>
              <a:rPr lang="en-US" sz="2200" spc="-85"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across</a:t>
            </a:r>
            <a:r>
              <a:rPr lang="en-US" sz="2200" spc="-50" dirty="0" smtClean="0">
                <a:latin typeface="Times New Roman" pitchFamily="18" charset="0"/>
                <a:cs typeface="Times New Roman" pitchFamily="18" charset="0"/>
              </a:rPr>
              <a:t> </a:t>
            </a:r>
            <a:r>
              <a:rPr lang="en-US" sz="2200" spc="-20" dirty="0" smtClean="0">
                <a:latin typeface="Times New Roman" pitchFamily="18" charset="0"/>
                <a:cs typeface="Times New Roman" pitchFamily="18" charset="0"/>
              </a:rPr>
              <a:t>different</a:t>
            </a:r>
            <a:r>
              <a:rPr lang="en-US" sz="2200" spc="-60"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clients.</a:t>
            </a:r>
            <a:endParaRPr lang="en-US" sz="2200" dirty="0" smtClean="0">
              <a:latin typeface="Times New Roman" pitchFamily="18" charset="0"/>
              <a:cs typeface="Times New Roman" pitchFamily="18" charset="0"/>
            </a:endParaRPr>
          </a:p>
          <a:p>
            <a:pPr marL="241300" indent="-228600">
              <a:lnSpc>
                <a:spcPct val="100000"/>
              </a:lnSpc>
              <a:spcBef>
                <a:spcPts val="5"/>
              </a:spcBef>
              <a:buFont typeface="Arial MT"/>
              <a:buChar char="•"/>
              <a:tabLst>
                <a:tab pos="241300" algn="l"/>
              </a:tabLst>
            </a:pPr>
            <a:endParaRPr sz="2200">
              <a:latin typeface="Times New Roman" pitchFamily="18" charset="0"/>
              <a:cs typeface="Times New Roman" pitchFamily="18" charset="0"/>
            </a:endParaRPr>
          </a:p>
          <a:p>
            <a:pPr marL="699135">
              <a:lnSpc>
                <a:spcPts val="2755"/>
              </a:lnSpc>
            </a:pPr>
            <a:endParaRPr lang="en-US" sz="2200" spc="-10" dirty="0">
              <a:latin typeface="Times New Roman" pitchFamily="18" charset="0"/>
              <a:cs typeface="Times New Roman" pitchFamily="18" charset="0"/>
            </a:endParaRPr>
          </a:p>
          <a:p>
            <a:pPr marL="699135">
              <a:lnSpc>
                <a:spcPts val="2755"/>
              </a:lnSpc>
            </a:pPr>
            <a:endParaRPr lang="en-US" sz="2200" spc="-10" dirty="0" smtClean="0">
              <a:latin typeface="Times New Roman" pitchFamily="18" charset="0"/>
              <a:cs typeface="Times New Roman" pitchFamily="18" charset="0"/>
            </a:endParaRPr>
          </a:p>
          <a:p>
            <a:pPr marL="699135">
              <a:lnSpc>
                <a:spcPts val="2755"/>
              </a:lnSpc>
            </a:pPr>
            <a:endParaRPr sz="220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6AFC79C-A3F8-33A1-2D03-D161DD440782}"/>
              </a:ext>
            </a:extLst>
          </p:cNvPr>
          <p:cNvSpPr>
            <a:spLocks noGrp="1"/>
          </p:cNvSpPr>
          <p:nvPr>
            <p:ph type="dt" sz="half" idx="4294967295"/>
          </p:nvPr>
        </p:nvSpPr>
        <p:spPr>
          <a:xfrm>
            <a:off x="838200" y="6356350"/>
            <a:ext cx="2743200" cy="365125"/>
          </a:xfrm>
          <a:prstGeom prst="rect">
            <a:avLst/>
          </a:prstGeom>
        </p:spPr>
        <p:txBody>
          <a:bodyPr/>
          <a:lstStyle/>
          <a:p>
            <a:fld id="{D2BE2297-DC8B-48E6-B6D6-34773F9A5984}" type="datetime1">
              <a:rPr lang="en-IN" sz="1200" smtClean="0">
                <a:solidFill>
                  <a:schemeClr val="bg1"/>
                </a:solidFill>
              </a:rPr>
              <a:pPr/>
              <a:t>13-03-2026</a:t>
            </a:fld>
            <a:endParaRPr lang="en-IN" sz="1200" dirty="0">
              <a:solidFill>
                <a:schemeClr val="bg1"/>
              </a:solidFill>
            </a:endParaRPr>
          </a:p>
        </p:txBody>
      </p:sp>
      <p:sp>
        <p:nvSpPr>
          <p:cNvPr id="3" name="Slide Number Placeholder 2">
            <a:extLst>
              <a:ext uri="{FF2B5EF4-FFF2-40B4-BE49-F238E27FC236}">
                <a16:creationId xmlns:a16="http://schemas.microsoft.com/office/drawing/2014/main" xmlns="" id="{0922EF17-FFCB-3AA2-1D62-B0B9AFD79971}"/>
              </a:ext>
            </a:extLst>
          </p:cNvPr>
          <p:cNvSpPr>
            <a:spLocks noGrp="1"/>
          </p:cNvSpPr>
          <p:nvPr>
            <p:ph type="sldNum" sz="quarter" idx="4294967295"/>
          </p:nvPr>
        </p:nvSpPr>
        <p:spPr>
          <a:xfrm>
            <a:off x="10591800" y="6356350"/>
            <a:ext cx="762000" cy="365125"/>
          </a:xfrm>
          <a:prstGeom prst="rect">
            <a:avLst/>
          </a:prstGeom>
        </p:spPr>
        <p:txBody>
          <a:bodyPr/>
          <a:lstStyle/>
          <a:p>
            <a:fld id="{F32F6845-8F47-4AB8-B9CE-96D88E741707}" type="slidenum">
              <a:rPr lang="en-IN" sz="1200" smtClean="0">
                <a:solidFill>
                  <a:schemeClr val="bg1"/>
                </a:solidFill>
              </a:rPr>
              <a:pPr/>
              <a:t>12</a:t>
            </a:fld>
            <a:endParaRPr lang="en-IN" sz="1200" dirty="0">
              <a:solidFill>
                <a:schemeClr val="bg1"/>
              </a:solidFill>
            </a:endParaRPr>
          </a:p>
        </p:txBody>
      </p:sp>
      <p:sp>
        <p:nvSpPr>
          <p:cNvPr id="6" name="AutoShape 4" descr="Generated image">
            <a:extLst>
              <a:ext uri="{FF2B5EF4-FFF2-40B4-BE49-F238E27FC236}">
                <a16:creationId xmlns:a16="http://schemas.microsoft.com/office/drawing/2014/main" xmlns="" id="{F63F632D-C9B3-4A65-D746-DE41F93305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xmlns="" id="{9D7D98D4-A66B-754D-4898-3F2BFD55DE6A}"/>
              </a:ext>
            </a:extLst>
          </p:cNvPr>
          <p:cNvPicPr>
            <a:picLocks noChangeAspect="1"/>
          </p:cNvPicPr>
          <p:nvPr/>
        </p:nvPicPr>
        <p:blipFill>
          <a:blip r:embed="rId2"/>
          <a:stretch>
            <a:fillRect/>
          </a:stretch>
        </p:blipFill>
        <p:spPr>
          <a:xfrm>
            <a:off x="1681316" y="136526"/>
            <a:ext cx="8603226" cy="5644842"/>
          </a:xfrm>
          <a:prstGeom prst="rect">
            <a:avLst/>
          </a:prstGeom>
        </p:spPr>
      </p:pic>
    </p:spTree>
    <p:extLst>
      <p:ext uri="{BB962C8B-B14F-4D97-AF65-F5344CB8AC3E}">
        <p14:creationId xmlns:p14="http://schemas.microsoft.com/office/powerpoint/2010/main" xmlns="" val="2909661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29018" rIns="0" bIns="0" rtlCol="0">
            <a:spAutoFit/>
          </a:bodyPr>
          <a:lstStyle/>
          <a:p>
            <a:pPr marL="380365">
              <a:lnSpc>
                <a:spcPct val="100000"/>
              </a:lnSpc>
              <a:spcBef>
                <a:spcPts val="130"/>
              </a:spcBef>
            </a:pPr>
            <a:r>
              <a:rPr spc="-55" dirty="0"/>
              <a:t>Advantages</a:t>
            </a:r>
            <a:r>
              <a:rPr spc="-185" dirty="0"/>
              <a:t> </a:t>
            </a:r>
            <a:r>
              <a:rPr dirty="0"/>
              <a:t>of</a:t>
            </a:r>
            <a:r>
              <a:rPr spc="-155" dirty="0"/>
              <a:t> </a:t>
            </a:r>
            <a:r>
              <a:rPr spc="-45" dirty="0"/>
              <a:t>proposed</a:t>
            </a:r>
            <a:r>
              <a:rPr spc="-160" dirty="0"/>
              <a:t> </a:t>
            </a:r>
            <a:r>
              <a:rPr spc="-45" dirty="0"/>
              <a:t>System/Work</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27-02-</a:t>
            </a:r>
            <a:r>
              <a:rPr spc="-20" dirty="0"/>
              <a:t>2026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13</a:t>
            </a:fld>
            <a:endParaRPr spc="-25" dirty="0"/>
          </a:p>
        </p:txBody>
      </p:sp>
      <p:sp>
        <p:nvSpPr>
          <p:cNvPr id="3" name="object 3"/>
          <p:cNvSpPr txBox="1"/>
          <p:nvPr/>
        </p:nvSpPr>
        <p:spPr>
          <a:xfrm>
            <a:off x="914400" y="1600200"/>
            <a:ext cx="5656580" cy="4426852"/>
          </a:xfrm>
          <a:prstGeom prst="rect">
            <a:avLst/>
          </a:prstGeom>
        </p:spPr>
        <p:txBody>
          <a:bodyPr vert="horz" wrap="square" lIns="0" tIns="55879" rIns="0" bIns="0" rtlCol="0">
            <a:spAutoFit/>
          </a:bodyPr>
          <a:lstStyle/>
          <a:p>
            <a:pPr marL="241300" indent="-228600">
              <a:lnSpc>
                <a:spcPct val="100000"/>
              </a:lnSpc>
              <a:spcBef>
                <a:spcPts val="439"/>
              </a:spcBef>
              <a:buFont typeface="Arial MT"/>
              <a:buChar char="•"/>
              <a:tabLst>
                <a:tab pos="241300" algn="l"/>
              </a:tabLst>
            </a:pPr>
            <a:r>
              <a:rPr sz="2200" dirty="0">
                <a:latin typeface="Times New Roman" pitchFamily="18" charset="0"/>
                <a:cs typeface="Times New Roman" pitchFamily="18" charset="0"/>
              </a:rPr>
              <a:t>Reduces</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manual</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effort</a:t>
            </a:r>
            <a:r>
              <a:rPr sz="2200" spc="55" dirty="0">
                <a:latin typeface="Times New Roman" pitchFamily="18" charset="0"/>
                <a:cs typeface="Times New Roman" pitchFamily="18" charset="0"/>
              </a:rPr>
              <a:t> </a:t>
            </a:r>
            <a:r>
              <a:rPr sz="2200" dirty="0">
                <a:latin typeface="Times New Roman" pitchFamily="18" charset="0"/>
                <a:cs typeface="Times New Roman" pitchFamily="18" charset="0"/>
              </a:rPr>
              <a:t>in</a:t>
            </a:r>
            <a:r>
              <a:rPr sz="2200" spc="50" dirty="0">
                <a:latin typeface="Times New Roman" pitchFamily="18" charset="0"/>
                <a:cs typeface="Times New Roman" pitchFamily="18" charset="0"/>
              </a:rPr>
              <a:t> </a:t>
            </a:r>
            <a:r>
              <a:rPr sz="2200" spc="-10" dirty="0">
                <a:latin typeface="Times New Roman" pitchFamily="18" charset="0"/>
                <a:cs typeface="Times New Roman" pitchFamily="18" charset="0"/>
              </a:rPr>
              <a:t>recruitment</a:t>
            </a:r>
            <a:endParaRPr sz="2200">
              <a:latin typeface="Times New Roman" pitchFamily="18" charset="0"/>
              <a:cs typeface="Times New Roman" pitchFamily="18" charset="0"/>
            </a:endParaRPr>
          </a:p>
          <a:p>
            <a:pPr marL="697230" lvl="1" indent="-227329">
              <a:lnSpc>
                <a:spcPct val="100000"/>
              </a:lnSpc>
              <a:spcBef>
                <a:spcPts val="275"/>
              </a:spcBef>
              <a:buFont typeface="Arial MT"/>
              <a:buChar char="•"/>
              <a:tabLst>
                <a:tab pos="697230" algn="l"/>
              </a:tabLst>
            </a:pPr>
            <a:r>
              <a:rPr sz="2200" dirty="0">
                <a:latin typeface="Times New Roman" pitchFamily="18" charset="0"/>
                <a:cs typeface="Times New Roman" pitchFamily="18" charset="0"/>
              </a:rPr>
              <a:t>Improves</a:t>
            </a:r>
            <a:r>
              <a:rPr sz="2200" spc="-40" dirty="0">
                <a:latin typeface="Times New Roman" pitchFamily="18" charset="0"/>
                <a:cs typeface="Times New Roman" pitchFamily="18" charset="0"/>
              </a:rPr>
              <a:t> </a:t>
            </a:r>
            <a:r>
              <a:rPr sz="2200" dirty="0">
                <a:latin typeface="Times New Roman" pitchFamily="18" charset="0"/>
                <a:cs typeface="Times New Roman" pitchFamily="18" charset="0"/>
              </a:rPr>
              <a:t>hiring</a:t>
            </a:r>
            <a:r>
              <a:rPr sz="2200" spc="-75" dirty="0">
                <a:latin typeface="Times New Roman" pitchFamily="18" charset="0"/>
                <a:cs typeface="Times New Roman" pitchFamily="18" charset="0"/>
              </a:rPr>
              <a:t> </a:t>
            </a:r>
            <a:r>
              <a:rPr sz="2200" dirty="0">
                <a:latin typeface="Times New Roman" pitchFamily="18" charset="0"/>
                <a:cs typeface="Times New Roman" pitchFamily="18" charset="0"/>
              </a:rPr>
              <a:t>accuracy</a:t>
            </a:r>
            <a:r>
              <a:rPr sz="2200" spc="-110"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60" dirty="0">
                <a:latin typeface="Times New Roman" pitchFamily="18" charset="0"/>
                <a:cs typeface="Times New Roman" pitchFamily="18" charset="0"/>
              </a:rPr>
              <a:t> </a:t>
            </a:r>
            <a:r>
              <a:rPr sz="2200" spc="-10" dirty="0">
                <a:latin typeface="Times New Roman" pitchFamily="18" charset="0"/>
                <a:cs typeface="Times New Roman" pitchFamily="18" charset="0"/>
              </a:rPr>
              <a:t>speed</a:t>
            </a:r>
            <a:endParaRPr sz="2200">
              <a:latin typeface="Times New Roman" pitchFamily="18" charset="0"/>
              <a:cs typeface="Times New Roman" pitchFamily="18" charset="0"/>
            </a:endParaRPr>
          </a:p>
          <a:p>
            <a:pPr marL="697865" lvl="1" indent="-227965">
              <a:lnSpc>
                <a:spcPct val="100000"/>
              </a:lnSpc>
              <a:spcBef>
                <a:spcPts val="200"/>
              </a:spcBef>
              <a:buFont typeface="Arial MT"/>
              <a:buChar char="•"/>
              <a:tabLst>
                <a:tab pos="697865" algn="l"/>
              </a:tabLst>
            </a:pPr>
            <a:r>
              <a:rPr sz="2200" dirty="0">
                <a:latin typeface="Times New Roman" pitchFamily="18" charset="0"/>
                <a:cs typeface="Times New Roman" pitchFamily="18" charset="0"/>
              </a:rPr>
              <a:t>Enhances</a:t>
            </a:r>
            <a:r>
              <a:rPr sz="2200" spc="-95" dirty="0">
                <a:latin typeface="Times New Roman" pitchFamily="18" charset="0"/>
                <a:cs typeface="Times New Roman" pitchFamily="18" charset="0"/>
              </a:rPr>
              <a:t> </a:t>
            </a:r>
            <a:r>
              <a:rPr sz="2200" spc="-10" dirty="0">
                <a:latin typeface="Times New Roman" pitchFamily="18" charset="0"/>
                <a:cs typeface="Times New Roman" pitchFamily="18" charset="0"/>
              </a:rPr>
              <a:t>candidate</a:t>
            </a:r>
            <a:r>
              <a:rPr sz="2200" spc="-65" dirty="0">
                <a:latin typeface="Times New Roman" pitchFamily="18" charset="0"/>
                <a:cs typeface="Times New Roman" pitchFamily="18" charset="0"/>
              </a:rPr>
              <a:t> </a:t>
            </a:r>
            <a:r>
              <a:rPr sz="2200" spc="-10" dirty="0">
                <a:latin typeface="Times New Roman" pitchFamily="18" charset="0"/>
                <a:cs typeface="Times New Roman" pitchFamily="18" charset="0"/>
              </a:rPr>
              <a:t>experience</a:t>
            </a:r>
            <a:endParaRPr sz="2200">
              <a:latin typeface="Times New Roman" pitchFamily="18" charset="0"/>
              <a:cs typeface="Times New Roman" pitchFamily="18" charset="0"/>
            </a:endParaRPr>
          </a:p>
          <a:p>
            <a:pPr marL="697865" lvl="1" indent="-227965">
              <a:lnSpc>
                <a:spcPct val="100000"/>
              </a:lnSpc>
              <a:spcBef>
                <a:spcPts val="280"/>
              </a:spcBef>
              <a:buFont typeface="Arial MT"/>
              <a:buChar char="•"/>
              <a:tabLst>
                <a:tab pos="697865" algn="l"/>
              </a:tabLst>
            </a:pPr>
            <a:r>
              <a:rPr sz="2200" dirty="0">
                <a:latin typeface="Times New Roman" pitchFamily="18" charset="0"/>
                <a:cs typeface="Times New Roman" pitchFamily="18" charset="0"/>
              </a:rPr>
              <a:t>Supports</a:t>
            </a:r>
            <a:r>
              <a:rPr sz="2200" spc="-55" dirty="0">
                <a:latin typeface="Times New Roman" pitchFamily="18" charset="0"/>
                <a:cs typeface="Times New Roman" pitchFamily="18" charset="0"/>
              </a:rPr>
              <a:t> </a:t>
            </a:r>
            <a:r>
              <a:rPr sz="2200" spc="-20" dirty="0">
                <a:latin typeface="Times New Roman" pitchFamily="18" charset="0"/>
                <a:cs typeface="Times New Roman" pitchFamily="18" charset="0"/>
              </a:rPr>
              <a:t>data-</a:t>
            </a:r>
            <a:r>
              <a:rPr sz="2200" dirty="0">
                <a:latin typeface="Times New Roman" pitchFamily="18" charset="0"/>
                <a:cs typeface="Times New Roman" pitchFamily="18" charset="0"/>
              </a:rPr>
              <a:t>driven</a:t>
            </a:r>
            <a:r>
              <a:rPr sz="2200" spc="-70" dirty="0">
                <a:latin typeface="Times New Roman" pitchFamily="18" charset="0"/>
                <a:cs typeface="Times New Roman" pitchFamily="18" charset="0"/>
              </a:rPr>
              <a:t> </a:t>
            </a:r>
            <a:r>
              <a:rPr sz="2200" dirty="0">
                <a:latin typeface="Times New Roman" pitchFamily="18" charset="0"/>
                <a:cs typeface="Times New Roman" pitchFamily="18" charset="0"/>
              </a:rPr>
              <a:t>hiring</a:t>
            </a:r>
            <a:r>
              <a:rPr sz="2200" spc="-90" dirty="0">
                <a:latin typeface="Times New Roman" pitchFamily="18" charset="0"/>
                <a:cs typeface="Times New Roman" pitchFamily="18" charset="0"/>
              </a:rPr>
              <a:t> </a:t>
            </a:r>
            <a:r>
              <a:rPr sz="2200" spc="-10" dirty="0">
                <a:latin typeface="Times New Roman" pitchFamily="18" charset="0"/>
                <a:cs typeface="Times New Roman" pitchFamily="18" charset="0"/>
              </a:rPr>
              <a:t>decisions</a:t>
            </a:r>
            <a:endParaRPr sz="2200">
              <a:latin typeface="Times New Roman" pitchFamily="18" charset="0"/>
              <a:cs typeface="Times New Roman" pitchFamily="18" charset="0"/>
            </a:endParaRPr>
          </a:p>
          <a:p>
            <a:pPr marL="241300" indent="-228600">
              <a:lnSpc>
                <a:spcPct val="100000"/>
              </a:lnSpc>
              <a:spcBef>
                <a:spcPts val="5"/>
              </a:spcBef>
              <a:buFont typeface="Arial MT"/>
              <a:buChar char="•"/>
              <a:tabLst>
                <a:tab pos="241300" algn="l"/>
              </a:tabLst>
            </a:pPr>
            <a:r>
              <a:rPr sz="2200" smtClean="0">
                <a:latin typeface="Times New Roman" pitchFamily="18" charset="0"/>
                <a:cs typeface="Times New Roman" pitchFamily="18" charset="0"/>
              </a:rPr>
              <a:t>Data</a:t>
            </a:r>
            <a:r>
              <a:rPr sz="2200" spc="25" smtClean="0">
                <a:latin typeface="Times New Roman" pitchFamily="18" charset="0"/>
                <a:cs typeface="Times New Roman" pitchFamily="18" charset="0"/>
              </a:rPr>
              <a:t> </a:t>
            </a:r>
            <a:r>
              <a:rPr sz="2200" dirty="0">
                <a:latin typeface="Times New Roman" pitchFamily="18" charset="0"/>
                <a:cs typeface="Times New Roman" pitchFamily="18" charset="0"/>
              </a:rPr>
              <a:t>Driven</a:t>
            </a:r>
            <a:r>
              <a:rPr sz="2200" spc="125" dirty="0">
                <a:latin typeface="Times New Roman" pitchFamily="18" charset="0"/>
                <a:cs typeface="Times New Roman" pitchFamily="18" charset="0"/>
              </a:rPr>
              <a:t> </a:t>
            </a:r>
            <a:r>
              <a:rPr sz="2200">
                <a:latin typeface="Times New Roman" pitchFamily="18" charset="0"/>
                <a:cs typeface="Times New Roman" pitchFamily="18" charset="0"/>
              </a:rPr>
              <a:t>Decision</a:t>
            </a:r>
            <a:r>
              <a:rPr sz="2200" spc="55">
                <a:latin typeface="Times New Roman" pitchFamily="18" charset="0"/>
                <a:cs typeface="Times New Roman" pitchFamily="18" charset="0"/>
              </a:rPr>
              <a:t> </a:t>
            </a:r>
            <a:r>
              <a:rPr sz="2200" spc="-10" smtClean="0">
                <a:latin typeface="Times New Roman" pitchFamily="18" charset="0"/>
                <a:cs typeface="Times New Roman" pitchFamily="18" charset="0"/>
              </a:rPr>
              <a:t>Making</a:t>
            </a:r>
            <a:endParaRPr lang="en-US" sz="2200" spc="-10" dirty="0" smtClean="0">
              <a:latin typeface="Times New Roman" pitchFamily="18" charset="0"/>
              <a:cs typeface="Times New Roman" pitchFamily="18" charset="0"/>
            </a:endParaRPr>
          </a:p>
          <a:p>
            <a:pPr marL="697865" lvl="1" indent="-227965">
              <a:lnSpc>
                <a:spcPct val="100000"/>
              </a:lnSpc>
              <a:spcBef>
                <a:spcPts val="280"/>
              </a:spcBef>
              <a:buFont typeface="Arial MT"/>
              <a:buChar char="•"/>
              <a:tabLst>
                <a:tab pos="697865" algn="l"/>
              </a:tabLst>
            </a:pPr>
            <a:r>
              <a:rPr lang="en-US" sz="2200" dirty="0" smtClean="0">
                <a:latin typeface="Times New Roman" pitchFamily="18" charset="0"/>
                <a:cs typeface="Times New Roman" pitchFamily="18" charset="0"/>
              </a:rPr>
              <a:t>Actionable</a:t>
            </a:r>
            <a:r>
              <a:rPr lang="en-US" sz="2200" spc="-120"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Insights</a:t>
            </a:r>
            <a:endParaRPr lang="en-US" sz="2200" dirty="0" smtClean="0">
              <a:latin typeface="Times New Roman" pitchFamily="18" charset="0"/>
              <a:cs typeface="Times New Roman" pitchFamily="18" charset="0"/>
            </a:endParaRPr>
          </a:p>
          <a:p>
            <a:pPr marL="697230" lvl="1" indent="-227329">
              <a:lnSpc>
                <a:spcPct val="100000"/>
              </a:lnSpc>
              <a:spcBef>
                <a:spcPts val="195"/>
              </a:spcBef>
              <a:buFont typeface="Arial MT"/>
              <a:buChar char="•"/>
              <a:tabLst>
                <a:tab pos="697230" algn="l"/>
              </a:tabLst>
            </a:pPr>
            <a:r>
              <a:rPr lang="en-US" sz="2200" spc="-10" dirty="0" smtClean="0">
                <a:latin typeface="Times New Roman" pitchFamily="18" charset="0"/>
                <a:cs typeface="Times New Roman" pitchFamily="18" charset="0"/>
              </a:rPr>
              <a:t>Predictive</a:t>
            </a:r>
            <a:r>
              <a:rPr lang="en-US" sz="2200" spc="-80"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Modeling</a:t>
            </a:r>
          </a:p>
          <a:p>
            <a:pPr marL="241300" indent="-228600">
              <a:lnSpc>
                <a:spcPct val="100000"/>
              </a:lnSpc>
              <a:spcBef>
                <a:spcPts val="439"/>
              </a:spcBef>
              <a:buFont typeface="Arial MT"/>
              <a:buChar char="•"/>
              <a:tabLst>
                <a:tab pos="241300" algn="l"/>
              </a:tabLst>
            </a:pPr>
            <a:r>
              <a:rPr lang="en-US" sz="2200" dirty="0" smtClean="0">
                <a:latin typeface="Times New Roman" pitchFamily="18" charset="0"/>
                <a:cs typeface="Times New Roman" pitchFamily="18" charset="0"/>
              </a:rPr>
              <a:t>Improved</a:t>
            </a:r>
            <a:r>
              <a:rPr lang="en-US" sz="2200" spc="4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Client</a:t>
            </a:r>
            <a:r>
              <a:rPr lang="en-US" sz="2200" spc="55"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and</a:t>
            </a:r>
            <a:r>
              <a:rPr lang="en-US" sz="2200" spc="5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Stakeholder</a:t>
            </a:r>
            <a:r>
              <a:rPr lang="en-US" sz="2200" spc="20"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Satisfaction</a:t>
            </a:r>
            <a:endParaRPr lang="en-US" sz="2200" dirty="0" smtClean="0">
              <a:latin typeface="Times New Roman" pitchFamily="18" charset="0"/>
              <a:cs typeface="Times New Roman" pitchFamily="18" charset="0"/>
            </a:endParaRPr>
          </a:p>
          <a:p>
            <a:pPr marL="697230" lvl="1" indent="-227329">
              <a:lnSpc>
                <a:spcPct val="100000"/>
              </a:lnSpc>
              <a:spcBef>
                <a:spcPts val="275"/>
              </a:spcBef>
              <a:buFont typeface="Arial MT"/>
              <a:buChar char="•"/>
              <a:tabLst>
                <a:tab pos="697230" algn="l"/>
              </a:tabLst>
            </a:pPr>
            <a:r>
              <a:rPr lang="en-US" sz="2200" dirty="0" smtClean="0">
                <a:latin typeface="Times New Roman" pitchFamily="18" charset="0"/>
                <a:cs typeface="Times New Roman" pitchFamily="18" charset="0"/>
              </a:rPr>
              <a:t>High</a:t>
            </a:r>
            <a:r>
              <a:rPr lang="en-US" sz="2200" spc="-3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Fidelity</a:t>
            </a:r>
            <a:r>
              <a:rPr lang="en-US" sz="2200" spc="-80"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Visuals.</a:t>
            </a:r>
            <a:endParaRPr lang="en-US" sz="2200" dirty="0" smtClean="0">
              <a:latin typeface="Times New Roman" pitchFamily="18" charset="0"/>
              <a:cs typeface="Times New Roman" pitchFamily="18" charset="0"/>
            </a:endParaRPr>
          </a:p>
          <a:p>
            <a:pPr marL="697865" lvl="1" indent="-227965">
              <a:lnSpc>
                <a:spcPct val="100000"/>
              </a:lnSpc>
              <a:spcBef>
                <a:spcPts val="200"/>
              </a:spcBef>
              <a:buFont typeface="Arial MT"/>
              <a:buChar char="•"/>
              <a:tabLst>
                <a:tab pos="697865" algn="l"/>
              </a:tabLst>
            </a:pPr>
            <a:r>
              <a:rPr lang="en-US" sz="2200" spc="-10" dirty="0" smtClean="0">
                <a:latin typeface="Times New Roman" pitchFamily="18" charset="0"/>
                <a:cs typeface="Times New Roman" pitchFamily="18" charset="0"/>
              </a:rPr>
              <a:t>Bespoke</a:t>
            </a:r>
            <a:r>
              <a:rPr lang="en-US" sz="2200" spc="-1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Client</a:t>
            </a:r>
            <a:r>
              <a:rPr lang="en-US" sz="2200" spc="-85" dirty="0" smtClean="0">
                <a:latin typeface="Times New Roman" pitchFamily="18" charset="0"/>
                <a:cs typeface="Times New Roman" pitchFamily="18" charset="0"/>
              </a:rPr>
              <a:t> </a:t>
            </a:r>
            <a:r>
              <a:rPr lang="en-US" sz="2200" spc="-10" dirty="0" smtClean="0">
                <a:latin typeface="Times New Roman" pitchFamily="18" charset="0"/>
                <a:cs typeface="Times New Roman" pitchFamily="18" charset="0"/>
              </a:rPr>
              <a:t>Reporting</a:t>
            </a:r>
            <a:endParaRPr lang="en-US" sz="2200" dirty="0" smtClean="0">
              <a:latin typeface="Times New Roman" pitchFamily="18" charset="0"/>
              <a:cs typeface="Times New Roman" pitchFamily="18" charset="0"/>
            </a:endParaRPr>
          </a:p>
          <a:p>
            <a:pPr marL="241300" indent="-228600">
              <a:lnSpc>
                <a:spcPct val="100000"/>
              </a:lnSpc>
              <a:spcBef>
                <a:spcPts val="5"/>
              </a:spcBef>
              <a:buFont typeface="Arial MT"/>
              <a:buChar char="•"/>
              <a:tabLst>
                <a:tab pos="241300" algn="l"/>
              </a:tabLst>
            </a:pPr>
            <a:endParaRPr sz="2200" smtClean="0">
              <a:latin typeface="Times New Roman" pitchFamily="18" charset="0"/>
              <a:cs typeface="Times New Roman" pitchFamily="18" charset="0"/>
            </a:endParaRPr>
          </a:p>
          <a:p>
            <a:pPr marL="697230" lvl="1" indent="-227329">
              <a:lnSpc>
                <a:spcPct val="100000"/>
              </a:lnSpc>
              <a:spcBef>
                <a:spcPts val="195"/>
              </a:spcBef>
              <a:buFont typeface="Arial MT"/>
              <a:buChar char="•"/>
              <a:tabLst>
                <a:tab pos="697230" algn="l"/>
              </a:tabLst>
            </a:pPr>
            <a:endParaRPr lang="en-US" sz="2200" spc="-10" dirty="0" smtClean="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4400" y="304800"/>
            <a:ext cx="3198495" cy="701040"/>
          </a:xfrm>
          <a:prstGeom prst="rect">
            <a:avLst/>
          </a:prstGeom>
        </p:spPr>
        <p:txBody>
          <a:bodyPr vert="horz" wrap="square" lIns="0" tIns="16510" rIns="0" bIns="0" rtlCol="0">
            <a:spAutoFit/>
          </a:bodyPr>
          <a:lstStyle/>
          <a:p>
            <a:pPr marL="12700">
              <a:lnSpc>
                <a:spcPct val="100000"/>
              </a:lnSpc>
              <a:spcBef>
                <a:spcPts val="130"/>
              </a:spcBef>
            </a:pPr>
            <a:r>
              <a:rPr spc="-65" dirty="0"/>
              <a:t>System</a:t>
            </a:r>
            <a:r>
              <a:rPr spc="-145" dirty="0"/>
              <a:t> </a:t>
            </a:r>
            <a:r>
              <a:rPr spc="-10" dirty="0"/>
              <a:t>Design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27-02-</a:t>
            </a:r>
            <a:r>
              <a:rPr spc="-20" dirty="0"/>
              <a:t>2026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14</a:t>
            </a:fld>
            <a:endParaRPr spc="-25" dirty="0"/>
          </a:p>
        </p:txBody>
      </p:sp>
      <p:pic>
        <p:nvPicPr>
          <p:cNvPr id="3" name="Picture 2"/>
          <p:cNvPicPr>
            <a:picLocks noChangeAspect="1" noChangeArrowheads="1"/>
          </p:cNvPicPr>
          <p:nvPr/>
        </p:nvPicPr>
        <p:blipFill>
          <a:blip r:embed="rId2"/>
          <a:srcRect/>
          <a:stretch>
            <a:fillRect/>
          </a:stretch>
        </p:blipFill>
        <p:spPr bwMode="auto">
          <a:xfrm>
            <a:off x="1447800" y="990600"/>
            <a:ext cx="9355626" cy="4858179"/>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838200" y="304800"/>
            <a:ext cx="10359069" cy="5363929"/>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800" y="228600"/>
            <a:ext cx="4762500" cy="632460"/>
          </a:xfrm>
          <a:prstGeom prst="rect">
            <a:avLst/>
          </a:prstGeom>
        </p:spPr>
        <p:txBody>
          <a:bodyPr vert="horz" wrap="square" lIns="0" tIns="16510" rIns="0" bIns="0" rtlCol="0">
            <a:spAutoFit/>
          </a:bodyPr>
          <a:lstStyle/>
          <a:p>
            <a:pPr marL="12700">
              <a:lnSpc>
                <a:spcPct val="100000"/>
              </a:lnSpc>
              <a:spcBef>
                <a:spcPts val="130"/>
              </a:spcBef>
            </a:pPr>
            <a:r>
              <a:rPr sz="3950" spc="-30" dirty="0"/>
              <a:t>System</a:t>
            </a:r>
            <a:r>
              <a:rPr sz="3950" spc="-190" dirty="0"/>
              <a:t> </a:t>
            </a:r>
            <a:r>
              <a:rPr sz="3950" spc="-10" dirty="0"/>
              <a:t>Implementation</a:t>
            </a:r>
            <a:endParaRPr sz="395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27-02-</a:t>
            </a:r>
            <a:r>
              <a:rPr spc="-20" dirty="0"/>
              <a:t>2026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16</a:t>
            </a:fld>
            <a:endParaRPr spc="-25" dirty="0"/>
          </a:p>
        </p:txBody>
      </p:sp>
      <p:sp>
        <p:nvSpPr>
          <p:cNvPr id="6" name="TextBox 5"/>
          <p:cNvSpPr txBox="1"/>
          <p:nvPr/>
        </p:nvSpPr>
        <p:spPr>
          <a:xfrm>
            <a:off x="609600" y="990600"/>
            <a:ext cx="11506200" cy="5078313"/>
          </a:xfrm>
          <a:prstGeom prst="rect">
            <a:avLst/>
          </a:prstGeom>
          <a:noFill/>
        </p:spPr>
        <p:txBody>
          <a:bodyPr wrap="square" rtlCol="0">
            <a:spAutoFit/>
          </a:bodyPr>
          <a:lstStyle/>
          <a:p>
            <a:r>
              <a:rPr lang="en-US" dirty="0" smtClean="0">
                <a:latin typeface="Times New Roman" pitchFamily="18" charset="0"/>
                <a:cs typeface="Times New Roman" pitchFamily="18" charset="0"/>
              </a:rPr>
              <a:t>The system implementation focuses on deploying a centralized recruitment workflow that automates and manages the end-to-end hiring lifecycle through an Applicant Tracking System (ATS).</a:t>
            </a:r>
          </a:p>
          <a:p>
            <a:r>
              <a:rPr lang="en-US" dirty="0" smtClean="0">
                <a:latin typeface="Times New Roman" pitchFamily="18" charset="0"/>
                <a:cs typeface="Times New Roman" pitchFamily="18" charset="0"/>
              </a:rPr>
              <a:t>The implementation includes the following key stages:</a:t>
            </a:r>
          </a:p>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Job Creation and Configuration</a:t>
            </a:r>
            <a:r>
              <a:rPr lang="en-US" dirty="0" smtClean="0">
                <a:latin typeface="Times New Roman" pitchFamily="18" charset="0"/>
                <a:cs typeface="Times New Roman" pitchFamily="18" charset="0"/>
              </a:rPr>
              <a:t> – Recruiters create job roles by defining job descriptions, required skills, and hiring criteria.</a:t>
            </a:r>
          </a:p>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Candidate Sourcing</a:t>
            </a:r>
            <a:r>
              <a:rPr lang="en-US" dirty="0" smtClean="0">
                <a:latin typeface="Times New Roman" pitchFamily="18" charset="0"/>
                <a:cs typeface="Times New Roman" pitchFamily="18" charset="0"/>
              </a:rPr>
              <a:t> – Candidates enter the system through multiple sources such as career portals, employee referrals, internal job postings, and recruiter database searches.</a:t>
            </a:r>
          </a:p>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Candidate Screening</a:t>
            </a:r>
            <a:r>
              <a:rPr lang="en-US" dirty="0" smtClean="0">
                <a:latin typeface="Times New Roman" pitchFamily="18" charset="0"/>
                <a:cs typeface="Times New Roman" pitchFamily="18" charset="0"/>
              </a:rPr>
              <a:t> – Applications are reviewed based on job requirements, and shortlisted candidates move to further evaluation stages.</a:t>
            </a:r>
          </a:p>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Interview Management</a:t>
            </a:r>
            <a:r>
              <a:rPr lang="en-US" dirty="0" smtClean="0">
                <a:latin typeface="Times New Roman" pitchFamily="18" charset="0"/>
                <a:cs typeface="Times New Roman" pitchFamily="18" charset="0"/>
              </a:rPr>
              <a:t> – The system facilitates interview scheduling, interviewer feedback collection, and candidate evaluation tracking.</a:t>
            </a:r>
          </a:p>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Offer Management</a:t>
            </a:r>
            <a:r>
              <a:rPr lang="en-US" dirty="0" smtClean="0">
                <a:latin typeface="Times New Roman" pitchFamily="18" charset="0"/>
                <a:cs typeface="Times New Roman" pitchFamily="18" charset="0"/>
              </a:rPr>
              <a:t> – Selected candidates receive offer letters through the system with approval workflows and acceptance tracking.</a:t>
            </a:r>
          </a:p>
          <a:p>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Onboarding</a:t>
            </a:r>
            <a:r>
              <a:rPr lang="en-US" dirty="0" smtClean="0">
                <a:latin typeface="Times New Roman" pitchFamily="18" charset="0"/>
                <a:cs typeface="Times New Roman" pitchFamily="18" charset="0"/>
              </a:rPr>
              <a:t> – Once the offer is accepted, the candidate progresses to </a:t>
            </a:r>
            <a:r>
              <a:rPr lang="en-US" dirty="0" err="1" smtClean="0">
                <a:latin typeface="Times New Roman" pitchFamily="18" charset="0"/>
                <a:cs typeface="Times New Roman" pitchFamily="18" charset="0"/>
              </a:rPr>
              <a:t>onboarding</a:t>
            </a:r>
            <a:r>
              <a:rPr lang="en-US" dirty="0" smtClean="0">
                <a:latin typeface="Times New Roman" pitchFamily="18" charset="0"/>
                <a:cs typeface="Times New Roman" pitchFamily="18" charset="0"/>
              </a:rPr>
              <a:t> activities where required documents and joining formalities are completed.</a:t>
            </a:r>
          </a:p>
          <a:p>
            <a:r>
              <a:rPr lang="en-US" dirty="0" smtClean="0">
                <a:latin typeface="Times New Roman" pitchFamily="18" charset="0"/>
                <a:cs typeface="Times New Roman" pitchFamily="18" charset="0"/>
              </a:rPr>
              <a:t>This structured workflow allows organizations to manage recruitment processes efficiently while maintaining visibility and control across all hiring stages.</a:t>
            </a:r>
          </a:p>
          <a:p>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a:extLst>
              <a:ext uri="{FF2B5EF4-FFF2-40B4-BE49-F238E27FC236}">
                <a16:creationId xmlns:a16="http://schemas.microsoft.com/office/drawing/2014/main" xmlns="" id="{443FA441-F95B-191D-50C0-D93629F034A1}"/>
              </a:ext>
            </a:extLst>
          </p:cNvPr>
          <p:cNvPicPr>
            <a:picLocks noChangeAspect="1"/>
          </p:cNvPicPr>
          <p:nvPr/>
        </p:nvPicPr>
        <p:blipFill>
          <a:blip r:embed="rId2"/>
          <a:srcRect t="1857" b="17890"/>
          <a:stretch>
            <a:fillRect/>
          </a:stretch>
        </p:blipFill>
        <p:spPr>
          <a:xfrm>
            <a:off x="381000" y="0"/>
            <a:ext cx="11280716" cy="5867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009001" y="1208150"/>
            <a:ext cx="1289050" cy="4070350"/>
            <a:chOff x="8009001" y="1208150"/>
            <a:chExt cx="1289050" cy="4070350"/>
          </a:xfrm>
        </p:grpSpPr>
        <p:sp>
          <p:nvSpPr>
            <p:cNvPr id="3" name="object 3"/>
            <p:cNvSpPr/>
            <p:nvPr/>
          </p:nvSpPr>
          <p:spPr>
            <a:xfrm>
              <a:off x="8015351" y="2024379"/>
              <a:ext cx="1276350" cy="3247390"/>
            </a:xfrm>
            <a:custGeom>
              <a:avLst/>
              <a:gdLst/>
              <a:ahLst/>
              <a:cxnLst/>
              <a:rect l="l" t="t" r="r" b="b"/>
              <a:pathLst>
                <a:path w="1276350" h="3247390">
                  <a:moveTo>
                    <a:pt x="1276350" y="0"/>
                  </a:moveTo>
                  <a:lnTo>
                    <a:pt x="0" y="0"/>
                  </a:lnTo>
                  <a:lnTo>
                    <a:pt x="0" y="1352550"/>
                  </a:lnTo>
                  <a:lnTo>
                    <a:pt x="0" y="1624330"/>
                  </a:lnTo>
                  <a:lnTo>
                    <a:pt x="0" y="3247390"/>
                  </a:lnTo>
                  <a:lnTo>
                    <a:pt x="1276350" y="3247390"/>
                  </a:lnTo>
                  <a:lnTo>
                    <a:pt x="1276350" y="1624330"/>
                  </a:lnTo>
                  <a:lnTo>
                    <a:pt x="1276350" y="1352550"/>
                  </a:lnTo>
                  <a:lnTo>
                    <a:pt x="1276350" y="0"/>
                  </a:lnTo>
                  <a:close/>
                </a:path>
              </a:pathLst>
            </a:custGeom>
            <a:solidFill>
              <a:srgbClr val="C0C8E3"/>
            </a:solidFill>
          </p:spPr>
          <p:txBody>
            <a:bodyPr wrap="square" lIns="0" tIns="0" rIns="0" bIns="0" rtlCol="0"/>
            <a:lstStyle/>
            <a:p>
              <a:endParaRPr/>
            </a:p>
          </p:txBody>
        </p:sp>
        <p:sp>
          <p:nvSpPr>
            <p:cNvPr id="4" name="object 4"/>
            <p:cNvSpPr/>
            <p:nvPr/>
          </p:nvSpPr>
          <p:spPr>
            <a:xfrm>
              <a:off x="8015351" y="2024125"/>
              <a:ext cx="1276350" cy="3248025"/>
            </a:xfrm>
            <a:custGeom>
              <a:avLst/>
              <a:gdLst/>
              <a:ahLst/>
              <a:cxnLst/>
              <a:rect l="l" t="t" r="r" b="b"/>
              <a:pathLst>
                <a:path w="1276350" h="3248025">
                  <a:moveTo>
                    <a:pt x="0" y="0"/>
                  </a:moveTo>
                  <a:lnTo>
                    <a:pt x="212598" y="0"/>
                  </a:lnTo>
                  <a:lnTo>
                    <a:pt x="531749" y="0"/>
                  </a:lnTo>
                  <a:lnTo>
                    <a:pt x="1276350" y="0"/>
                  </a:lnTo>
                  <a:lnTo>
                    <a:pt x="1276350" y="541274"/>
                  </a:lnTo>
                  <a:lnTo>
                    <a:pt x="1276350" y="1353312"/>
                  </a:lnTo>
                  <a:lnTo>
                    <a:pt x="1276350" y="3248025"/>
                  </a:lnTo>
                  <a:lnTo>
                    <a:pt x="531749" y="3248025"/>
                  </a:lnTo>
                  <a:lnTo>
                    <a:pt x="212598" y="3248025"/>
                  </a:lnTo>
                  <a:lnTo>
                    <a:pt x="0" y="3248025"/>
                  </a:lnTo>
                  <a:lnTo>
                    <a:pt x="0" y="1353312"/>
                  </a:lnTo>
                  <a:lnTo>
                    <a:pt x="0" y="1623949"/>
                  </a:lnTo>
                  <a:lnTo>
                    <a:pt x="0" y="541274"/>
                  </a:lnTo>
                  <a:lnTo>
                    <a:pt x="0" y="0"/>
                  </a:lnTo>
                  <a:close/>
                </a:path>
              </a:pathLst>
            </a:custGeom>
            <a:ln w="12700">
              <a:solidFill>
                <a:srgbClr val="FFFFFF"/>
              </a:solidFill>
            </a:ln>
          </p:spPr>
          <p:txBody>
            <a:bodyPr wrap="square" lIns="0" tIns="0" rIns="0" bIns="0" rtlCol="0"/>
            <a:lstStyle/>
            <a:p>
              <a:endParaRPr/>
            </a:p>
          </p:txBody>
        </p:sp>
        <p:sp>
          <p:nvSpPr>
            <p:cNvPr id="5" name="object 5"/>
            <p:cNvSpPr/>
            <p:nvPr/>
          </p:nvSpPr>
          <p:spPr>
            <a:xfrm>
              <a:off x="8015351" y="1214500"/>
              <a:ext cx="1276350" cy="809625"/>
            </a:xfrm>
            <a:custGeom>
              <a:avLst/>
              <a:gdLst/>
              <a:ahLst/>
              <a:cxnLst/>
              <a:rect l="l" t="t" r="r" b="b"/>
              <a:pathLst>
                <a:path w="1276350" h="809625">
                  <a:moveTo>
                    <a:pt x="1276350" y="0"/>
                  </a:moveTo>
                  <a:lnTo>
                    <a:pt x="0" y="0"/>
                  </a:lnTo>
                  <a:lnTo>
                    <a:pt x="0" y="809625"/>
                  </a:lnTo>
                  <a:lnTo>
                    <a:pt x="1276350" y="809625"/>
                  </a:lnTo>
                  <a:lnTo>
                    <a:pt x="1276350" y="0"/>
                  </a:lnTo>
                  <a:close/>
                </a:path>
              </a:pathLst>
            </a:custGeom>
            <a:solidFill>
              <a:srgbClr val="EC7C30"/>
            </a:solidFill>
          </p:spPr>
          <p:txBody>
            <a:bodyPr wrap="square" lIns="0" tIns="0" rIns="0" bIns="0" rtlCol="0"/>
            <a:lstStyle/>
            <a:p>
              <a:endParaRPr/>
            </a:p>
          </p:txBody>
        </p:sp>
        <p:sp>
          <p:nvSpPr>
            <p:cNvPr id="6" name="object 6"/>
            <p:cNvSpPr/>
            <p:nvPr/>
          </p:nvSpPr>
          <p:spPr>
            <a:xfrm>
              <a:off x="8015351" y="1214500"/>
              <a:ext cx="1276350" cy="809625"/>
            </a:xfrm>
            <a:custGeom>
              <a:avLst/>
              <a:gdLst/>
              <a:ahLst/>
              <a:cxnLst/>
              <a:rect l="l" t="t" r="r" b="b"/>
              <a:pathLst>
                <a:path w="1276350" h="809625">
                  <a:moveTo>
                    <a:pt x="0" y="809625"/>
                  </a:moveTo>
                  <a:lnTo>
                    <a:pt x="1276350" y="809625"/>
                  </a:lnTo>
                  <a:lnTo>
                    <a:pt x="1276350" y="0"/>
                  </a:lnTo>
                  <a:lnTo>
                    <a:pt x="0" y="0"/>
                  </a:lnTo>
                  <a:lnTo>
                    <a:pt x="0" y="809625"/>
                  </a:lnTo>
                  <a:close/>
                </a:path>
              </a:pathLst>
            </a:custGeom>
            <a:ln w="12700">
              <a:solidFill>
                <a:srgbClr val="FFFFFF"/>
              </a:solidFill>
            </a:ln>
          </p:spPr>
          <p:txBody>
            <a:bodyPr wrap="square" lIns="0" tIns="0" rIns="0" bIns="0" rtlCol="0"/>
            <a:lstStyle/>
            <a:p>
              <a:endParaRPr/>
            </a:p>
          </p:txBody>
        </p:sp>
      </p:grpSp>
      <p:sp>
        <p:nvSpPr>
          <p:cNvPr id="7" name="object 7"/>
          <p:cNvSpPr txBox="1"/>
          <p:nvPr/>
        </p:nvSpPr>
        <p:spPr>
          <a:xfrm>
            <a:off x="8256905" y="1295082"/>
            <a:ext cx="802005" cy="591820"/>
          </a:xfrm>
          <a:prstGeom prst="rect">
            <a:avLst/>
          </a:prstGeom>
        </p:spPr>
        <p:txBody>
          <a:bodyPr vert="horz" wrap="square" lIns="0" tIns="63500" rIns="0" bIns="0" rtlCol="0">
            <a:spAutoFit/>
          </a:bodyPr>
          <a:lstStyle/>
          <a:p>
            <a:pPr marL="12700" marR="5080" indent="127000">
              <a:lnSpc>
                <a:spcPts val="2030"/>
              </a:lnSpc>
              <a:spcBef>
                <a:spcPts val="500"/>
              </a:spcBef>
            </a:pPr>
            <a:r>
              <a:rPr sz="2000" spc="-10" dirty="0">
                <a:solidFill>
                  <a:srgbClr val="FFFFFF"/>
                </a:solidFill>
                <a:latin typeface="Times New Roman"/>
                <a:cs typeface="Times New Roman"/>
              </a:rPr>
              <a:t>Final Review</a:t>
            </a:r>
            <a:endParaRPr sz="2000">
              <a:latin typeface="Times New Roman"/>
              <a:cs typeface="Times New Roman"/>
            </a:endParaRPr>
          </a:p>
        </p:txBody>
      </p:sp>
      <p:grpSp>
        <p:nvGrpSpPr>
          <p:cNvPr id="8" name="object 8"/>
          <p:cNvGrpSpPr/>
          <p:nvPr/>
        </p:nvGrpSpPr>
        <p:grpSpPr>
          <a:xfrm>
            <a:off x="6732651" y="1312925"/>
            <a:ext cx="1449070" cy="3765550"/>
            <a:chOff x="6732651" y="1312925"/>
            <a:chExt cx="1449070" cy="3765550"/>
          </a:xfrm>
        </p:grpSpPr>
        <p:sp>
          <p:nvSpPr>
            <p:cNvPr id="9" name="object 9"/>
            <p:cNvSpPr/>
            <p:nvPr/>
          </p:nvSpPr>
          <p:spPr>
            <a:xfrm>
              <a:off x="6739001" y="2024125"/>
              <a:ext cx="1436370" cy="3048000"/>
            </a:xfrm>
            <a:custGeom>
              <a:avLst/>
              <a:gdLst/>
              <a:ahLst/>
              <a:cxnLst/>
              <a:rect l="l" t="t" r="r" b="b"/>
              <a:pathLst>
                <a:path w="1436370" h="3048000">
                  <a:moveTo>
                    <a:pt x="1276350" y="0"/>
                  </a:moveTo>
                  <a:lnTo>
                    <a:pt x="0" y="0"/>
                  </a:lnTo>
                  <a:lnTo>
                    <a:pt x="0" y="3047873"/>
                  </a:lnTo>
                  <a:lnTo>
                    <a:pt x="1276350" y="3047873"/>
                  </a:lnTo>
                  <a:lnTo>
                    <a:pt x="1276350" y="2539873"/>
                  </a:lnTo>
                  <a:lnTo>
                    <a:pt x="1435862" y="2158873"/>
                  </a:lnTo>
                  <a:lnTo>
                    <a:pt x="1276350" y="1777873"/>
                  </a:lnTo>
                  <a:lnTo>
                    <a:pt x="1276350" y="0"/>
                  </a:lnTo>
                  <a:close/>
                </a:path>
              </a:pathLst>
            </a:custGeom>
            <a:solidFill>
              <a:srgbClr val="C7EBE7"/>
            </a:solidFill>
          </p:spPr>
          <p:txBody>
            <a:bodyPr wrap="square" lIns="0" tIns="0" rIns="0" bIns="0" rtlCol="0"/>
            <a:lstStyle/>
            <a:p>
              <a:endParaRPr/>
            </a:p>
          </p:txBody>
        </p:sp>
        <p:sp>
          <p:nvSpPr>
            <p:cNvPr id="10" name="object 10"/>
            <p:cNvSpPr/>
            <p:nvPr/>
          </p:nvSpPr>
          <p:spPr>
            <a:xfrm>
              <a:off x="6739001" y="2024125"/>
              <a:ext cx="1436370" cy="3048000"/>
            </a:xfrm>
            <a:custGeom>
              <a:avLst/>
              <a:gdLst/>
              <a:ahLst/>
              <a:cxnLst/>
              <a:rect l="l" t="t" r="r" b="b"/>
              <a:pathLst>
                <a:path w="1436370" h="3048000">
                  <a:moveTo>
                    <a:pt x="0" y="0"/>
                  </a:moveTo>
                  <a:lnTo>
                    <a:pt x="744474" y="0"/>
                  </a:lnTo>
                  <a:lnTo>
                    <a:pt x="1063625" y="0"/>
                  </a:lnTo>
                  <a:lnTo>
                    <a:pt x="1276350" y="0"/>
                  </a:lnTo>
                  <a:lnTo>
                    <a:pt x="1276350" y="1777873"/>
                  </a:lnTo>
                  <a:lnTo>
                    <a:pt x="1435862" y="2158873"/>
                  </a:lnTo>
                  <a:lnTo>
                    <a:pt x="1276350" y="2539873"/>
                  </a:lnTo>
                  <a:lnTo>
                    <a:pt x="1276350" y="3047873"/>
                  </a:lnTo>
                  <a:lnTo>
                    <a:pt x="1063625" y="3047873"/>
                  </a:lnTo>
                  <a:lnTo>
                    <a:pt x="744474" y="3047873"/>
                  </a:lnTo>
                  <a:lnTo>
                    <a:pt x="0" y="3047873"/>
                  </a:lnTo>
                  <a:lnTo>
                    <a:pt x="0" y="2539873"/>
                  </a:lnTo>
                  <a:lnTo>
                    <a:pt x="0" y="1777873"/>
                  </a:lnTo>
                  <a:lnTo>
                    <a:pt x="0" y="0"/>
                  </a:lnTo>
                  <a:close/>
                </a:path>
              </a:pathLst>
            </a:custGeom>
            <a:ln w="12700">
              <a:solidFill>
                <a:srgbClr val="FFFFFF"/>
              </a:solidFill>
            </a:ln>
          </p:spPr>
          <p:txBody>
            <a:bodyPr wrap="square" lIns="0" tIns="0" rIns="0" bIns="0" rtlCol="0"/>
            <a:lstStyle/>
            <a:p>
              <a:endParaRPr/>
            </a:p>
          </p:txBody>
        </p:sp>
        <p:sp>
          <p:nvSpPr>
            <p:cNvPr id="11" name="object 11"/>
            <p:cNvSpPr/>
            <p:nvPr/>
          </p:nvSpPr>
          <p:spPr>
            <a:xfrm>
              <a:off x="6739001" y="1319275"/>
              <a:ext cx="1276350" cy="704850"/>
            </a:xfrm>
            <a:custGeom>
              <a:avLst/>
              <a:gdLst/>
              <a:ahLst/>
              <a:cxnLst/>
              <a:rect l="l" t="t" r="r" b="b"/>
              <a:pathLst>
                <a:path w="1276350" h="704850">
                  <a:moveTo>
                    <a:pt x="1276350" y="0"/>
                  </a:moveTo>
                  <a:lnTo>
                    <a:pt x="0" y="0"/>
                  </a:lnTo>
                  <a:lnTo>
                    <a:pt x="0" y="704850"/>
                  </a:lnTo>
                  <a:lnTo>
                    <a:pt x="1276350" y="704850"/>
                  </a:lnTo>
                  <a:lnTo>
                    <a:pt x="1276350" y="0"/>
                  </a:lnTo>
                  <a:close/>
                </a:path>
              </a:pathLst>
            </a:custGeom>
            <a:solidFill>
              <a:srgbClr val="A4A4A4"/>
            </a:solidFill>
          </p:spPr>
          <p:txBody>
            <a:bodyPr wrap="square" lIns="0" tIns="0" rIns="0" bIns="0" rtlCol="0"/>
            <a:lstStyle/>
            <a:p>
              <a:endParaRPr/>
            </a:p>
          </p:txBody>
        </p:sp>
        <p:sp>
          <p:nvSpPr>
            <p:cNvPr id="12" name="object 12"/>
            <p:cNvSpPr/>
            <p:nvPr/>
          </p:nvSpPr>
          <p:spPr>
            <a:xfrm>
              <a:off x="6739001" y="1319275"/>
              <a:ext cx="1276350" cy="704850"/>
            </a:xfrm>
            <a:custGeom>
              <a:avLst/>
              <a:gdLst/>
              <a:ahLst/>
              <a:cxnLst/>
              <a:rect l="l" t="t" r="r" b="b"/>
              <a:pathLst>
                <a:path w="1276350" h="704850">
                  <a:moveTo>
                    <a:pt x="0" y="704850"/>
                  </a:moveTo>
                  <a:lnTo>
                    <a:pt x="1276350" y="704850"/>
                  </a:lnTo>
                  <a:lnTo>
                    <a:pt x="1276350" y="0"/>
                  </a:lnTo>
                  <a:lnTo>
                    <a:pt x="0" y="0"/>
                  </a:lnTo>
                  <a:lnTo>
                    <a:pt x="0" y="704850"/>
                  </a:lnTo>
                  <a:close/>
                </a:path>
              </a:pathLst>
            </a:custGeom>
            <a:ln w="12700">
              <a:solidFill>
                <a:srgbClr val="FFFFFF"/>
              </a:solidFill>
            </a:ln>
          </p:spPr>
          <p:txBody>
            <a:bodyPr wrap="square" lIns="0" tIns="0" rIns="0" bIns="0" rtlCol="0"/>
            <a:lstStyle/>
            <a:p>
              <a:endParaRPr/>
            </a:p>
          </p:txBody>
        </p:sp>
      </p:grpSp>
      <p:sp>
        <p:nvSpPr>
          <p:cNvPr id="13" name="object 13"/>
          <p:cNvSpPr txBox="1"/>
          <p:nvPr/>
        </p:nvSpPr>
        <p:spPr>
          <a:xfrm>
            <a:off x="6885305" y="1477327"/>
            <a:ext cx="993140" cy="334645"/>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FFFFFF"/>
                </a:solidFill>
                <a:latin typeface="Times New Roman"/>
                <a:cs typeface="Times New Roman"/>
              </a:rPr>
              <a:t>Review</a:t>
            </a:r>
            <a:r>
              <a:rPr sz="2000" spc="-35" dirty="0">
                <a:solidFill>
                  <a:srgbClr val="FFFFFF"/>
                </a:solidFill>
                <a:latin typeface="Times New Roman"/>
                <a:cs typeface="Times New Roman"/>
              </a:rPr>
              <a:t> </a:t>
            </a:r>
            <a:r>
              <a:rPr sz="2000" spc="-50" dirty="0">
                <a:solidFill>
                  <a:srgbClr val="FFFFFF"/>
                </a:solidFill>
                <a:latin typeface="Times New Roman"/>
                <a:cs typeface="Times New Roman"/>
              </a:rPr>
              <a:t>4</a:t>
            </a:r>
            <a:endParaRPr sz="2000">
              <a:latin typeface="Times New Roman"/>
              <a:cs typeface="Times New Roman"/>
            </a:endParaRPr>
          </a:p>
        </p:txBody>
      </p:sp>
      <p:grpSp>
        <p:nvGrpSpPr>
          <p:cNvPr id="14" name="object 14"/>
          <p:cNvGrpSpPr/>
          <p:nvPr/>
        </p:nvGrpSpPr>
        <p:grpSpPr>
          <a:xfrm>
            <a:off x="5456301" y="2017776"/>
            <a:ext cx="1449070" cy="2860675"/>
            <a:chOff x="5456301" y="2017776"/>
            <a:chExt cx="1449070" cy="2860675"/>
          </a:xfrm>
        </p:grpSpPr>
        <p:sp>
          <p:nvSpPr>
            <p:cNvPr id="15" name="object 15"/>
            <p:cNvSpPr/>
            <p:nvPr/>
          </p:nvSpPr>
          <p:spPr>
            <a:xfrm>
              <a:off x="5462651" y="2024126"/>
              <a:ext cx="1436370" cy="2847975"/>
            </a:xfrm>
            <a:custGeom>
              <a:avLst/>
              <a:gdLst/>
              <a:ahLst/>
              <a:cxnLst/>
              <a:rect l="l" t="t" r="r" b="b"/>
              <a:pathLst>
                <a:path w="1436370" h="2847975">
                  <a:moveTo>
                    <a:pt x="1276350" y="0"/>
                  </a:moveTo>
                  <a:lnTo>
                    <a:pt x="0" y="0"/>
                  </a:lnTo>
                  <a:lnTo>
                    <a:pt x="0" y="2847848"/>
                  </a:lnTo>
                  <a:lnTo>
                    <a:pt x="1276350" y="2847848"/>
                  </a:lnTo>
                  <a:lnTo>
                    <a:pt x="1276350" y="2373249"/>
                  </a:lnTo>
                  <a:lnTo>
                    <a:pt x="1435862" y="2017141"/>
                  </a:lnTo>
                  <a:lnTo>
                    <a:pt x="1276350" y="1661287"/>
                  </a:lnTo>
                  <a:lnTo>
                    <a:pt x="1276350" y="0"/>
                  </a:lnTo>
                  <a:close/>
                </a:path>
              </a:pathLst>
            </a:custGeom>
            <a:solidFill>
              <a:srgbClr val="D2F1D1"/>
            </a:solidFill>
          </p:spPr>
          <p:txBody>
            <a:bodyPr wrap="square" lIns="0" tIns="0" rIns="0" bIns="0" rtlCol="0"/>
            <a:lstStyle/>
            <a:p>
              <a:endParaRPr/>
            </a:p>
          </p:txBody>
        </p:sp>
        <p:sp>
          <p:nvSpPr>
            <p:cNvPr id="16" name="object 16"/>
            <p:cNvSpPr/>
            <p:nvPr/>
          </p:nvSpPr>
          <p:spPr>
            <a:xfrm>
              <a:off x="5462651" y="2024126"/>
              <a:ext cx="1436370" cy="2847975"/>
            </a:xfrm>
            <a:custGeom>
              <a:avLst/>
              <a:gdLst/>
              <a:ahLst/>
              <a:cxnLst/>
              <a:rect l="l" t="t" r="r" b="b"/>
              <a:pathLst>
                <a:path w="1436370" h="2847975">
                  <a:moveTo>
                    <a:pt x="0" y="0"/>
                  </a:moveTo>
                  <a:lnTo>
                    <a:pt x="744474" y="0"/>
                  </a:lnTo>
                  <a:lnTo>
                    <a:pt x="1063498" y="0"/>
                  </a:lnTo>
                  <a:lnTo>
                    <a:pt x="1276350" y="0"/>
                  </a:lnTo>
                  <a:lnTo>
                    <a:pt x="1276350" y="1661287"/>
                  </a:lnTo>
                  <a:lnTo>
                    <a:pt x="1435862" y="2017141"/>
                  </a:lnTo>
                  <a:lnTo>
                    <a:pt x="1276350" y="2373249"/>
                  </a:lnTo>
                  <a:lnTo>
                    <a:pt x="1276350" y="2847848"/>
                  </a:lnTo>
                  <a:lnTo>
                    <a:pt x="1063498" y="2847848"/>
                  </a:lnTo>
                  <a:lnTo>
                    <a:pt x="744474" y="2847848"/>
                  </a:lnTo>
                  <a:lnTo>
                    <a:pt x="0" y="2847848"/>
                  </a:lnTo>
                  <a:lnTo>
                    <a:pt x="0" y="2373249"/>
                  </a:lnTo>
                  <a:lnTo>
                    <a:pt x="0" y="1661287"/>
                  </a:lnTo>
                  <a:lnTo>
                    <a:pt x="0" y="0"/>
                  </a:lnTo>
                  <a:close/>
                </a:path>
              </a:pathLst>
            </a:custGeom>
            <a:ln w="12700">
              <a:solidFill>
                <a:srgbClr val="FFFFFF"/>
              </a:solidFill>
            </a:ln>
          </p:spPr>
          <p:txBody>
            <a:bodyPr wrap="square" lIns="0" tIns="0" rIns="0" bIns="0" rtlCol="0"/>
            <a:lstStyle/>
            <a:p>
              <a:endParaRPr/>
            </a:p>
          </p:txBody>
        </p:sp>
      </p:grpSp>
      <p:sp>
        <p:nvSpPr>
          <p:cNvPr id="17" name="object 17"/>
          <p:cNvSpPr txBox="1"/>
          <p:nvPr/>
        </p:nvSpPr>
        <p:spPr>
          <a:xfrm>
            <a:off x="5638800" y="2057400"/>
            <a:ext cx="1035050" cy="1695336"/>
          </a:xfrm>
          <a:prstGeom prst="rect">
            <a:avLst/>
          </a:prstGeom>
        </p:spPr>
        <p:txBody>
          <a:bodyPr vert="horz" wrap="square" lIns="0" tIns="33020" rIns="0" bIns="0" rtlCol="0">
            <a:spAutoFit/>
          </a:bodyPr>
          <a:lstStyle/>
          <a:p>
            <a:pPr lvl="0" algn="r"/>
            <a:r>
              <a:rPr lang="en-US" dirty="0" smtClean="0">
                <a:latin typeface="Times New Roman" panose="02020603050405020304" pitchFamily="18" charset="0"/>
                <a:cs typeface="Times New Roman" panose="02020603050405020304" pitchFamily="18" charset="0"/>
              </a:rPr>
              <a:t>Progress on the working domain and technology</a:t>
            </a:r>
            <a:endParaRPr lang="en-US" dirty="0">
              <a:latin typeface="Times New Roman" panose="02020603050405020304" pitchFamily="18" charset="0"/>
              <a:cs typeface="Times New Roman" panose="02020603050405020304" pitchFamily="18" charset="0"/>
            </a:endParaRPr>
          </a:p>
        </p:txBody>
      </p:sp>
      <p:grpSp>
        <p:nvGrpSpPr>
          <p:cNvPr id="18" name="object 18"/>
          <p:cNvGrpSpPr/>
          <p:nvPr/>
        </p:nvGrpSpPr>
        <p:grpSpPr>
          <a:xfrm>
            <a:off x="5456301" y="1417700"/>
            <a:ext cx="1289050" cy="622300"/>
            <a:chOff x="5456301" y="1417700"/>
            <a:chExt cx="1289050" cy="622300"/>
          </a:xfrm>
        </p:grpSpPr>
        <p:sp>
          <p:nvSpPr>
            <p:cNvPr id="19" name="object 19"/>
            <p:cNvSpPr/>
            <p:nvPr/>
          </p:nvSpPr>
          <p:spPr>
            <a:xfrm>
              <a:off x="5462651" y="1424050"/>
              <a:ext cx="1276350" cy="609600"/>
            </a:xfrm>
            <a:custGeom>
              <a:avLst/>
              <a:gdLst/>
              <a:ahLst/>
              <a:cxnLst/>
              <a:rect l="l" t="t" r="r" b="b"/>
              <a:pathLst>
                <a:path w="1276350" h="609600">
                  <a:moveTo>
                    <a:pt x="1276350" y="0"/>
                  </a:moveTo>
                  <a:lnTo>
                    <a:pt x="0" y="0"/>
                  </a:lnTo>
                  <a:lnTo>
                    <a:pt x="0" y="609600"/>
                  </a:lnTo>
                  <a:lnTo>
                    <a:pt x="1276350" y="609600"/>
                  </a:lnTo>
                  <a:lnTo>
                    <a:pt x="1276350" y="0"/>
                  </a:lnTo>
                  <a:close/>
                </a:path>
              </a:pathLst>
            </a:custGeom>
            <a:solidFill>
              <a:srgbClr val="FFC000"/>
            </a:solidFill>
          </p:spPr>
          <p:txBody>
            <a:bodyPr wrap="square" lIns="0" tIns="0" rIns="0" bIns="0" rtlCol="0"/>
            <a:lstStyle/>
            <a:p>
              <a:endParaRPr/>
            </a:p>
          </p:txBody>
        </p:sp>
        <p:sp>
          <p:nvSpPr>
            <p:cNvPr id="20" name="object 20"/>
            <p:cNvSpPr/>
            <p:nvPr/>
          </p:nvSpPr>
          <p:spPr>
            <a:xfrm>
              <a:off x="5462651" y="1424050"/>
              <a:ext cx="1276350" cy="609600"/>
            </a:xfrm>
            <a:custGeom>
              <a:avLst/>
              <a:gdLst/>
              <a:ahLst/>
              <a:cxnLst/>
              <a:rect l="l" t="t" r="r" b="b"/>
              <a:pathLst>
                <a:path w="1276350" h="609600">
                  <a:moveTo>
                    <a:pt x="0" y="609600"/>
                  </a:moveTo>
                  <a:lnTo>
                    <a:pt x="1276350" y="609600"/>
                  </a:lnTo>
                  <a:lnTo>
                    <a:pt x="1276350" y="0"/>
                  </a:lnTo>
                  <a:lnTo>
                    <a:pt x="0" y="0"/>
                  </a:lnTo>
                  <a:lnTo>
                    <a:pt x="0" y="609600"/>
                  </a:lnTo>
                  <a:close/>
                </a:path>
              </a:pathLst>
            </a:custGeom>
            <a:ln w="12700">
              <a:solidFill>
                <a:srgbClr val="FFFFFF"/>
              </a:solidFill>
            </a:ln>
          </p:spPr>
          <p:txBody>
            <a:bodyPr wrap="square" lIns="0" tIns="0" rIns="0" bIns="0" rtlCol="0"/>
            <a:lstStyle/>
            <a:p>
              <a:endParaRPr/>
            </a:p>
          </p:txBody>
        </p:sp>
      </p:grpSp>
      <p:sp>
        <p:nvSpPr>
          <p:cNvPr id="21" name="object 21"/>
          <p:cNvSpPr txBox="1"/>
          <p:nvPr/>
        </p:nvSpPr>
        <p:spPr>
          <a:xfrm>
            <a:off x="5606034" y="1530985"/>
            <a:ext cx="992505" cy="335280"/>
          </a:xfrm>
          <a:prstGeom prst="rect">
            <a:avLst/>
          </a:prstGeom>
        </p:spPr>
        <p:txBody>
          <a:bodyPr vert="horz" wrap="square" lIns="0" tIns="16510" rIns="0" bIns="0" rtlCol="0">
            <a:spAutoFit/>
          </a:bodyPr>
          <a:lstStyle/>
          <a:p>
            <a:pPr marL="12700">
              <a:lnSpc>
                <a:spcPct val="100000"/>
              </a:lnSpc>
              <a:spcBef>
                <a:spcPts val="130"/>
              </a:spcBef>
            </a:pPr>
            <a:r>
              <a:rPr sz="2000" dirty="0">
                <a:solidFill>
                  <a:srgbClr val="FFFFFF"/>
                </a:solidFill>
                <a:latin typeface="Times New Roman"/>
                <a:cs typeface="Times New Roman"/>
              </a:rPr>
              <a:t>Review</a:t>
            </a:r>
            <a:r>
              <a:rPr sz="2000" spc="-45" dirty="0">
                <a:solidFill>
                  <a:srgbClr val="FFFFFF"/>
                </a:solidFill>
                <a:latin typeface="Times New Roman"/>
                <a:cs typeface="Times New Roman"/>
              </a:rPr>
              <a:t> </a:t>
            </a:r>
            <a:r>
              <a:rPr sz="2000" spc="-50" dirty="0">
                <a:solidFill>
                  <a:srgbClr val="FFFFFF"/>
                </a:solidFill>
                <a:latin typeface="Times New Roman"/>
                <a:cs typeface="Times New Roman"/>
              </a:rPr>
              <a:t>3</a:t>
            </a:r>
            <a:endParaRPr sz="2000">
              <a:latin typeface="Times New Roman"/>
              <a:cs typeface="Times New Roman"/>
            </a:endParaRPr>
          </a:p>
        </p:txBody>
      </p:sp>
      <p:grpSp>
        <p:nvGrpSpPr>
          <p:cNvPr id="22" name="object 22"/>
          <p:cNvGrpSpPr/>
          <p:nvPr/>
        </p:nvGrpSpPr>
        <p:grpSpPr>
          <a:xfrm>
            <a:off x="4179951" y="2017776"/>
            <a:ext cx="1449070" cy="2651125"/>
            <a:chOff x="4179951" y="2017776"/>
            <a:chExt cx="1449070" cy="2651125"/>
          </a:xfrm>
        </p:grpSpPr>
        <p:sp>
          <p:nvSpPr>
            <p:cNvPr id="23" name="object 23"/>
            <p:cNvSpPr/>
            <p:nvPr/>
          </p:nvSpPr>
          <p:spPr>
            <a:xfrm>
              <a:off x="4186301" y="2024126"/>
              <a:ext cx="1436370" cy="2638425"/>
            </a:xfrm>
            <a:custGeom>
              <a:avLst/>
              <a:gdLst/>
              <a:ahLst/>
              <a:cxnLst/>
              <a:rect l="l" t="t" r="r" b="b"/>
              <a:pathLst>
                <a:path w="1436370" h="2638425">
                  <a:moveTo>
                    <a:pt x="1276350" y="0"/>
                  </a:moveTo>
                  <a:lnTo>
                    <a:pt x="0" y="0"/>
                  </a:lnTo>
                  <a:lnTo>
                    <a:pt x="0" y="2638298"/>
                  </a:lnTo>
                  <a:lnTo>
                    <a:pt x="1276350" y="2638298"/>
                  </a:lnTo>
                  <a:lnTo>
                    <a:pt x="1276350" y="2198624"/>
                  </a:lnTo>
                  <a:lnTo>
                    <a:pt x="1435862" y="1868678"/>
                  </a:lnTo>
                  <a:lnTo>
                    <a:pt x="1276350" y="1538986"/>
                  </a:lnTo>
                  <a:lnTo>
                    <a:pt x="1276350" y="0"/>
                  </a:lnTo>
                  <a:close/>
                </a:path>
              </a:pathLst>
            </a:custGeom>
            <a:solidFill>
              <a:srgbClr val="F5F8DC"/>
            </a:solidFill>
          </p:spPr>
          <p:txBody>
            <a:bodyPr wrap="square" lIns="0" tIns="0" rIns="0" bIns="0" rtlCol="0"/>
            <a:lstStyle/>
            <a:p>
              <a:endParaRPr/>
            </a:p>
          </p:txBody>
        </p:sp>
        <p:sp>
          <p:nvSpPr>
            <p:cNvPr id="24" name="object 24"/>
            <p:cNvSpPr/>
            <p:nvPr/>
          </p:nvSpPr>
          <p:spPr>
            <a:xfrm>
              <a:off x="4186301" y="2024126"/>
              <a:ext cx="1436370" cy="2638425"/>
            </a:xfrm>
            <a:custGeom>
              <a:avLst/>
              <a:gdLst/>
              <a:ahLst/>
              <a:cxnLst/>
              <a:rect l="l" t="t" r="r" b="b"/>
              <a:pathLst>
                <a:path w="1436370" h="2638425">
                  <a:moveTo>
                    <a:pt x="0" y="0"/>
                  </a:moveTo>
                  <a:lnTo>
                    <a:pt x="744474" y="0"/>
                  </a:lnTo>
                  <a:lnTo>
                    <a:pt x="1063625" y="0"/>
                  </a:lnTo>
                  <a:lnTo>
                    <a:pt x="1276350" y="0"/>
                  </a:lnTo>
                  <a:lnTo>
                    <a:pt x="1276350" y="1538986"/>
                  </a:lnTo>
                  <a:lnTo>
                    <a:pt x="1435862" y="1868678"/>
                  </a:lnTo>
                  <a:lnTo>
                    <a:pt x="1276350" y="2198624"/>
                  </a:lnTo>
                  <a:lnTo>
                    <a:pt x="1276350" y="2638298"/>
                  </a:lnTo>
                  <a:lnTo>
                    <a:pt x="1063625" y="2638298"/>
                  </a:lnTo>
                  <a:lnTo>
                    <a:pt x="744474" y="2638298"/>
                  </a:lnTo>
                  <a:lnTo>
                    <a:pt x="0" y="2638298"/>
                  </a:lnTo>
                  <a:lnTo>
                    <a:pt x="0" y="2198624"/>
                  </a:lnTo>
                  <a:lnTo>
                    <a:pt x="0" y="1538986"/>
                  </a:lnTo>
                  <a:lnTo>
                    <a:pt x="0" y="0"/>
                  </a:lnTo>
                  <a:close/>
                </a:path>
              </a:pathLst>
            </a:custGeom>
            <a:ln w="12700">
              <a:solidFill>
                <a:srgbClr val="FFFFFF"/>
              </a:solidFill>
            </a:ln>
          </p:spPr>
          <p:txBody>
            <a:bodyPr wrap="square" lIns="0" tIns="0" rIns="0" bIns="0" rtlCol="0"/>
            <a:lstStyle/>
            <a:p>
              <a:endParaRPr/>
            </a:p>
          </p:txBody>
        </p:sp>
      </p:grpSp>
      <p:sp>
        <p:nvSpPr>
          <p:cNvPr id="25" name="object 25"/>
          <p:cNvSpPr txBox="1"/>
          <p:nvPr/>
        </p:nvSpPr>
        <p:spPr>
          <a:xfrm>
            <a:off x="4421759" y="2019046"/>
            <a:ext cx="1012825" cy="1705595"/>
          </a:xfrm>
          <a:prstGeom prst="rect">
            <a:avLst/>
          </a:prstGeom>
        </p:spPr>
        <p:txBody>
          <a:bodyPr vert="horz" wrap="square" lIns="0" tIns="43180" rIns="0" bIns="0" rtlCol="0">
            <a:spAutoFit/>
          </a:bodyPr>
          <a:lstStyle/>
          <a:p>
            <a:pPr lvl="0" algn="r"/>
            <a:r>
              <a:rPr lang="en-IN" dirty="0" smtClean="0">
                <a:latin typeface="Times New Roman" pitchFamily="18" charset="0"/>
                <a:cs typeface="Times New Roman" pitchFamily="18" charset="0"/>
              </a:rPr>
              <a:t>Understanding AI modules and system integration</a:t>
            </a:r>
            <a:endParaRPr lang="en-US" dirty="0">
              <a:latin typeface="Times New Roman" pitchFamily="18" charset="0"/>
              <a:cs typeface="Times New Roman" pitchFamily="18" charset="0"/>
            </a:endParaRPr>
          </a:p>
        </p:txBody>
      </p:sp>
      <p:grpSp>
        <p:nvGrpSpPr>
          <p:cNvPr id="26" name="object 26"/>
          <p:cNvGrpSpPr/>
          <p:nvPr/>
        </p:nvGrpSpPr>
        <p:grpSpPr>
          <a:xfrm>
            <a:off x="4179951" y="1512950"/>
            <a:ext cx="1289050" cy="517525"/>
            <a:chOff x="4179951" y="1512950"/>
            <a:chExt cx="1289050" cy="517525"/>
          </a:xfrm>
        </p:grpSpPr>
        <p:sp>
          <p:nvSpPr>
            <p:cNvPr id="27" name="object 27"/>
            <p:cNvSpPr/>
            <p:nvPr/>
          </p:nvSpPr>
          <p:spPr>
            <a:xfrm>
              <a:off x="4186301" y="1519300"/>
              <a:ext cx="1276350" cy="504825"/>
            </a:xfrm>
            <a:custGeom>
              <a:avLst/>
              <a:gdLst/>
              <a:ahLst/>
              <a:cxnLst/>
              <a:rect l="l" t="t" r="r" b="b"/>
              <a:pathLst>
                <a:path w="1276350" h="504825">
                  <a:moveTo>
                    <a:pt x="1276350" y="0"/>
                  </a:moveTo>
                  <a:lnTo>
                    <a:pt x="0" y="0"/>
                  </a:lnTo>
                  <a:lnTo>
                    <a:pt x="0" y="504825"/>
                  </a:lnTo>
                  <a:lnTo>
                    <a:pt x="1276350" y="504825"/>
                  </a:lnTo>
                  <a:lnTo>
                    <a:pt x="1276350" y="0"/>
                  </a:lnTo>
                  <a:close/>
                </a:path>
              </a:pathLst>
            </a:custGeom>
            <a:solidFill>
              <a:srgbClr val="5B9BD4"/>
            </a:solidFill>
          </p:spPr>
          <p:txBody>
            <a:bodyPr wrap="square" lIns="0" tIns="0" rIns="0" bIns="0" rtlCol="0"/>
            <a:lstStyle/>
            <a:p>
              <a:endParaRPr/>
            </a:p>
          </p:txBody>
        </p:sp>
        <p:sp>
          <p:nvSpPr>
            <p:cNvPr id="28" name="object 28"/>
            <p:cNvSpPr/>
            <p:nvPr/>
          </p:nvSpPr>
          <p:spPr>
            <a:xfrm>
              <a:off x="4186301" y="1519300"/>
              <a:ext cx="1276350" cy="504825"/>
            </a:xfrm>
            <a:custGeom>
              <a:avLst/>
              <a:gdLst/>
              <a:ahLst/>
              <a:cxnLst/>
              <a:rect l="l" t="t" r="r" b="b"/>
              <a:pathLst>
                <a:path w="1276350" h="504825">
                  <a:moveTo>
                    <a:pt x="0" y="504825"/>
                  </a:moveTo>
                  <a:lnTo>
                    <a:pt x="1276350" y="504825"/>
                  </a:lnTo>
                  <a:lnTo>
                    <a:pt x="1276350" y="0"/>
                  </a:lnTo>
                  <a:lnTo>
                    <a:pt x="0" y="0"/>
                  </a:lnTo>
                  <a:lnTo>
                    <a:pt x="0" y="504825"/>
                  </a:lnTo>
                  <a:close/>
                </a:path>
              </a:pathLst>
            </a:custGeom>
            <a:ln w="12700">
              <a:solidFill>
                <a:srgbClr val="FFFFFF"/>
              </a:solidFill>
            </a:ln>
          </p:spPr>
          <p:txBody>
            <a:bodyPr wrap="square" lIns="0" tIns="0" rIns="0" bIns="0" rtlCol="0"/>
            <a:lstStyle/>
            <a:p>
              <a:endParaRPr/>
            </a:p>
          </p:txBody>
        </p:sp>
      </p:grpSp>
      <p:sp>
        <p:nvSpPr>
          <p:cNvPr id="29" name="object 29"/>
          <p:cNvSpPr txBox="1"/>
          <p:nvPr/>
        </p:nvSpPr>
        <p:spPr>
          <a:xfrm>
            <a:off x="4326890" y="1578927"/>
            <a:ext cx="992505" cy="334645"/>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FFFFFF"/>
                </a:solidFill>
                <a:latin typeface="Times New Roman"/>
                <a:cs typeface="Times New Roman"/>
              </a:rPr>
              <a:t>Review</a:t>
            </a:r>
            <a:r>
              <a:rPr sz="2000" spc="-45" dirty="0">
                <a:solidFill>
                  <a:srgbClr val="FFFFFF"/>
                </a:solidFill>
                <a:latin typeface="Times New Roman"/>
                <a:cs typeface="Times New Roman"/>
              </a:rPr>
              <a:t> </a:t>
            </a:r>
            <a:r>
              <a:rPr sz="2000" spc="-50" dirty="0">
                <a:solidFill>
                  <a:srgbClr val="FFFFFF"/>
                </a:solidFill>
                <a:latin typeface="Times New Roman"/>
                <a:cs typeface="Times New Roman"/>
              </a:rPr>
              <a:t>2</a:t>
            </a:r>
            <a:endParaRPr sz="2000">
              <a:latin typeface="Times New Roman"/>
              <a:cs typeface="Times New Roman"/>
            </a:endParaRPr>
          </a:p>
        </p:txBody>
      </p:sp>
      <p:grpSp>
        <p:nvGrpSpPr>
          <p:cNvPr id="30" name="object 30"/>
          <p:cNvGrpSpPr/>
          <p:nvPr/>
        </p:nvGrpSpPr>
        <p:grpSpPr>
          <a:xfrm>
            <a:off x="2903601" y="2017776"/>
            <a:ext cx="1449070" cy="2451100"/>
            <a:chOff x="2903601" y="2017776"/>
            <a:chExt cx="1449070" cy="2451100"/>
          </a:xfrm>
        </p:grpSpPr>
        <p:sp>
          <p:nvSpPr>
            <p:cNvPr id="31" name="object 31"/>
            <p:cNvSpPr/>
            <p:nvPr/>
          </p:nvSpPr>
          <p:spPr>
            <a:xfrm>
              <a:off x="2909951" y="2024126"/>
              <a:ext cx="1436370" cy="2438400"/>
            </a:xfrm>
            <a:custGeom>
              <a:avLst/>
              <a:gdLst/>
              <a:ahLst/>
              <a:cxnLst/>
              <a:rect l="l" t="t" r="r" b="b"/>
              <a:pathLst>
                <a:path w="1436370" h="2438400">
                  <a:moveTo>
                    <a:pt x="1276350" y="0"/>
                  </a:moveTo>
                  <a:lnTo>
                    <a:pt x="0" y="0"/>
                  </a:lnTo>
                  <a:lnTo>
                    <a:pt x="0" y="2438273"/>
                  </a:lnTo>
                  <a:lnTo>
                    <a:pt x="1276350" y="2438273"/>
                  </a:lnTo>
                  <a:lnTo>
                    <a:pt x="1276350" y="2031873"/>
                  </a:lnTo>
                  <a:lnTo>
                    <a:pt x="1435862" y="1727073"/>
                  </a:lnTo>
                  <a:lnTo>
                    <a:pt x="1276350" y="1422400"/>
                  </a:lnTo>
                  <a:lnTo>
                    <a:pt x="1276350" y="0"/>
                  </a:lnTo>
                  <a:close/>
                </a:path>
              </a:pathLst>
            </a:custGeom>
            <a:solidFill>
              <a:srgbClr val="FBEBE8"/>
            </a:solidFill>
          </p:spPr>
          <p:txBody>
            <a:bodyPr wrap="square" lIns="0" tIns="0" rIns="0" bIns="0" rtlCol="0"/>
            <a:lstStyle/>
            <a:p>
              <a:endParaRPr/>
            </a:p>
          </p:txBody>
        </p:sp>
        <p:sp>
          <p:nvSpPr>
            <p:cNvPr id="32" name="object 32"/>
            <p:cNvSpPr/>
            <p:nvPr/>
          </p:nvSpPr>
          <p:spPr>
            <a:xfrm>
              <a:off x="2909951" y="2024126"/>
              <a:ext cx="1436370" cy="2438400"/>
            </a:xfrm>
            <a:custGeom>
              <a:avLst/>
              <a:gdLst/>
              <a:ahLst/>
              <a:cxnLst/>
              <a:rect l="l" t="t" r="r" b="b"/>
              <a:pathLst>
                <a:path w="1436370" h="2438400">
                  <a:moveTo>
                    <a:pt x="0" y="0"/>
                  </a:moveTo>
                  <a:lnTo>
                    <a:pt x="744474" y="0"/>
                  </a:lnTo>
                  <a:lnTo>
                    <a:pt x="1063625" y="0"/>
                  </a:lnTo>
                  <a:lnTo>
                    <a:pt x="1276350" y="0"/>
                  </a:lnTo>
                  <a:lnTo>
                    <a:pt x="1276350" y="1422400"/>
                  </a:lnTo>
                  <a:lnTo>
                    <a:pt x="1435862" y="1727073"/>
                  </a:lnTo>
                  <a:lnTo>
                    <a:pt x="1276350" y="2031873"/>
                  </a:lnTo>
                  <a:lnTo>
                    <a:pt x="1276350" y="2438273"/>
                  </a:lnTo>
                  <a:lnTo>
                    <a:pt x="1063625" y="2438273"/>
                  </a:lnTo>
                  <a:lnTo>
                    <a:pt x="744474" y="2438273"/>
                  </a:lnTo>
                  <a:lnTo>
                    <a:pt x="0" y="2438273"/>
                  </a:lnTo>
                  <a:lnTo>
                    <a:pt x="0" y="2031873"/>
                  </a:lnTo>
                  <a:lnTo>
                    <a:pt x="0" y="1422400"/>
                  </a:lnTo>
                  <a:lnTo>
                    <a:pt x="0" y="0"/>
                  </a:lnTo>
                  <a:close/>
                </a:path>
              </a:pathLst>
            </a:custGeom>
            <a:ln w="12700">
              <a:solidFill>
                <a:srgbClr val="FFFFFF"/>
              </a:solidFill>
            </a:ln>
          </p:spPr>
          <p:txBody>
            <a:bodyPr wrap="square" lIns="0" tIns="0" rIns="0" bIns="0" rtlCol="0"/>
            <a:lstStyle/>
            <a:p>
              <a:endParaRPr/>
            </a:p>
          </p:txBody>
        </p:sp>
      </p:grpSp>
      <p:sp>
        <p:nvSpPr>
          <p:cNvPr id="33" name="object 33"/>
          <p:cNvSpPr txBox="1"/>
          <p:nvPr/>
        </p:nvSpPr>
        <p:spPr>
          <a:xfrm>
            <a:off x="2971800" y="2031301"/>
            <a:ext cx="1164970" cy="1435649"/>
          </a:xfrm>
          <a:prstGeom prst="rect">
            <a:avLst/>
          </a:prstGeom>
        </p:spPr>
        <p:txBody>
          <a:bodyPr vert="horz" wrap="square" lIns="0" tIns="50165" rIns="0" bIns="0" rtlCol="0">
            <a:spAutoFit/>
          </a:bodyPr>
          <a:lstStyle/>
          <a:p>
            <a:pPr lvl="0" algn="r"/>
            <a:r>
              <a:rPr lang="en-US" dirty="0" smtClean="0">
                <a:latin typeface="Times New Roman" panose="02020603050405020304" pitchFamily="18" charset="0"/>
                <a:cs typeface="Times New Roman" panose="02020603050405020304" pitchFamily="18" charset="0"/>
              </a:rPr>
              <a:t>Product training and understanding the mechanisms</a:t>
            </a:r>
            <a:endParaRPr lang="en-US" dirty="0">
              <a:latin typeface="Times New Roman" panose="02020603050405020304" pitchFamily="18" charset="0"/>
              <a:cs typeface="Times New Roman" panose="02020603050405020304" pitchFamily="18" charset="0"/>
            </a:endParaRPr>
          </a:p>
        </p:txBody>
      </p:sp>
      <p:grpSp>
        <p:nvGrpSpPr>
          <p:cNvPr id="34" name="object 34"/>
          <p:cNvGrpSpPr/>
          <p:nvPr/>
        </p:nvGrpSpPr>
        <p:grpSpPr>
          <a:xfrm>
            <a:off x="2903601" y="1617725"/>
            <a:ext cx="1289050" cy="412750"/>
            <a:chOff x="2903601" y="1617725"/>
            <a:chExt cx="1289050" cy="412750"/>
          </a:xfrm>
        </p:grpSpPr>
        <p:sp>
          <p:nvSpPr>
            <p:cNvPr id="35" name="object 35"/>
            <p:cNvSpPr/>
            <p:nvPr/>
          </p:nvSpPr>
          <p:spPr>
            <a:xfrm>
              <a:off x="2909951" y="1624075"/>
              <a:ext cx="1276350" cy="400050"/>
            </a:xfrm>
            <a:custGeom>
              <a:avLst/>
              <a:gdLst/>
              <a:ahLst/>
              <a:cxnLst/>
              <a:rect l="l" t="t" r="r" b="b"/>
              <a:pathLst>
                <a:path w="1276350" h="400050">
                  <a:moveTo>
                    <a:pt x="1276350" y="0"/>
                  </a:moveTo>
                  <a:lnTo>
                    <a:pt x="0" y="0"/>
                  </a:lnTo>
                  <a:lnTo>
                    <a:pt x="0" y="400050"/>
                  </a:lnTo>
                  <a:lnTo>
                    <a:pt x="1276350" y="400050"/>
                  </a:lnTo>
                  <a:lnTo>
                    <a:pt x="1276350" y="0"/>
                  </a:lnTo>
                  <a:close/>
                </a:path>
              </a:pathLst>
            </a:custGeom>
            <a:solidFill>
              <a:srgbClr val="6FAC46"/>
            </a:solidFill>
          </p:spPr>
          <p:txBody>
            <a:bodyPr wrap="square" lIns="0" tIns="0" rIns="0" bIns="0" rtlCol="0"/>
            <a:lstStyle/>
            <a:p>
              <a:endParaRPr/>
            </a:p>
          </p:txBody>
        </p:sp>
        <p:sp>
          <p:nvSpPr>
            <p:cNvPr id="36" name="object 36"/>
            <p:cNvSpPr/>
            <p:nvPr/>
          </p:nvSpPr>
          <p:spPr>
            <a:xfrm>
              <a:off x="2909951" y="1624075"/>
              <a:ext cx="1276350" cy="400050"/>
            </a:xfrm>
            <a:custGeom>
              <a:avLst/>
              <a:gdLst/>
              <a:ahLst/>
              <a:cxnLst/>
              <a:rect l="l" t="t" r="r" b="b"/>
              <a:pathLst>
                <a:path w="1276350" h="400050">
                  <a:moveTo>
                    <a:pt x="0" y="400050"/>
                  </a:moveTo>
                  <a:lnTo>
                    <a:pt x="1276350" y="400050"/>
                  </a:lnTo>
                  <a:lnTo>
                    <a:pt x="1276350" y="0"/>
                  </a:lnTo>
                  <a:lnTo>
                    <a:pt x="0" y="0"/>
                  </a:lnTo>
                  <a:lnTo>
                    <a:pt x="0" y="400050"/>
                  </a:lnTo>
                  <a:close/>
                </a:path>
              </a:pathLst>
            </a:custGeom>
            <a:ln w="12700">
              <a:solidFill>
                <a:srgbClr val="FFFFFF"/>
              </a:solidFill>
            </a:ln>
          </p:spPr>
          <p:txBody>
            <a:bodyPr wrap="square" lIns="0" tIns="0" rIns="0" bIns="0" rtlCol="0"/>
            <a:lstStyle/>
            <a:p>
              <a:endParaRPr/>
            </a:p>
          </p:txBody>
        </p:sp>
      </p:grpSp>
      <p:sp>
        <p:nvSpPr>
          <p:cNvPr id="37" name="object 37"/>
          <p:cNvSpPr txBox="1"/>
          <p:nvPr/>
        </p:nvSpPr>
        <p:spPr>
          <a:xfrm>
            <a:off x="3047364" y="1629727"/>
            <a:ext cx="993140" cy="334645"/>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FFFFFF"/>
                </a:solidFill>
                <a:latin typeface="Times New Roman"/>
                <a:cs typeface="Times New Roman"/>
              </a:rPr>
              <a:t>Review</a:t>
            </a:r>
            <a:r>
              <a:rPr sz="2000" spc="-35" dirty="0">
                <a:solidFill>
                  <a:srgbClr val="FFFFFF"/>
                </a:solidFill>
                <a:latin typeface="Times New Roman"/>
                <a:cs typeface="Times New Roman"/>
              </a:rPr>
              <a:t> </a:t>
            </a:r>
            <a:r>
              <a:rPr sz="2000" spc="-50" dirty="0">
                <a:solidFill>
                  <a:srgbClr val="FFFFFF"/>
                </a:solidFill>
                <a:latin typeface="Times New Roman"/>
                <a:cs typeface="Times New Roman"/>
              </a:rPr>
              <a:t>1</a:t>
            </a:r>
            <a:endParaRPr sz="2000">
              <a:latin typeface="Times New Roman"/>
              <a:cs typeface="Times New Roman"/>
            </a:endParaRPr>
          </a:p>
        </p:txBody>
      </p:sp>
      <p:sp>
        <p:nvSpPr>
          <p:cNvPr id="39" name="object 3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18</a:t>
            </a:fld>
            <a:endParaRPr spc="-25" dirty="0"/>
          </a:p>
        </p:txBody>
      </p:sp>
      <p:sp>
        <p:nvSpPr>
          <p:cNvPr id="38" name="object 38" descr="$PPTXTitle"/>
          <p:cNvSpPr txBox="1">
            <a:spLocks noGrp="1"/>
          </p:cNvSpPr>
          <p:nvPr>
            <p:ph type="title"/>
          </p:nvPr>
        </p:nvSpPr>
        <p:spPr>
          <a:xfrm>
            <a:off x="549592" y="257895"/>
            <a:ext cx="6518275" cy="958850"/>
          </a:xfrm>
          <a:prstGeom prst="rect">
            <a:avLst/>
          </a:prstGeom>
        </p:spPr>
        <p:txBody>
          <a:bodyPr vert="horz" wrap="square" lIns="0" tIns="123189" rIns="0" bIns="0" rtlCol="0">
            <a:spAutoFit/>
          </a:bodyPr>
          <a:lstStyle/>
          <a:p>
            <a:pPr marL="380365">
              <a:lnSpc>
                <a:spcPct val="100000"/>
              </a:lnSpc>
              <a:spcBef>
                <a:spcPts val="969"/>
              </a:spcBef>
            </a:pPr>
            <a:r>
              <a:rPr sz="3200" b="1" dirty="0">
                <a:solidFill>
                  <a:srgbClr val="006FC0"/>
                </a:solidFill>
                <a:latin typeface="Times New Roman"/>
                <a:cs typeface="Times New Roman"/>
              </a:rPr>
              <a:t>Internship</a:t>
            </a:r>
            <a:r>
              <a:rPr sz="3200" b="1" spc="-40" dirty="0">
                <a:solidFill>
                  <a:srgbClr val="006FC0"/>
                </a:solidFill>
                <a:latin typeface="Times New Roman"/>
                <a:cs typeface="Times New Roman"/>
              </a:rPr>
              <a:t> </a:t>
            </a:r>
            <a:r>
              <a:rPr sz="3200" b="1" dirty="0">
                <a:solidFill>
                  <a:srgbClr val="006FC0"/>
                </a:solidFill>
                <a:latin typeface="Times New Roman"/>
                <a:cs typeface="Times New Roman"/>
              </a:rPr>
              <a:t>Road</a:t>
            </a:r>
            <a:r>
              <a:rPr sz="3200" b="1" spc="-35" dirty="0">
                <a:solidFill>
                  <a:srgbClr val="006FC0"/>
                </a:solidFill>
                <a:latin typeface="Times New Roman"/>
                <a:cs typeface="Times New Roman"/>
              </a:rPr>
              <a:t> </a:t>
            </a:r>
            <a:r>
              <a:rPr sz="3200" b="1" spc="-25" dirty="0">
                <a:solidFill>
                  <a:srgbClr val="006FC0"/>
                </a:solidFill>
                <a:latin typeface="Times New Roman"/>
                <a:cs typeface="Times New Roman"/>
              </a:rPr>
              <a:t>Map</a:t>
            </a:r>
            <a:endParaRPr sz="3200">
              <a:latin typeface="Times New Roman"/>
              <a:cs typeface="Times New Roman"/>
            </a:endParaRPr>
          </a:p>
          <a:p>
            <a:pPr marL="12700">
              <a:lnSpc>
                <a:spcPct val="100000"/>
              </a:lnSpc>
              <a:spcBef>
                <a:spcPts val="480"/>
              </a:spcBef>
            </a:pPr>
            <a:r>
              <a:rPr sz="1800" dirty="0">
                <a:solidFill>
                  <a:srgbClr val="006FC0"/>
                </a:solidFill>
                <a:latin typeface="Calibri"/>
                <a:cs typeface="Calibri"/>
              </a:rPr>
              <a:t>Note:</a:t>
            </a:r>
            <a:r>
              <a:rPr sz="1800" spc="-25" dirty="0">
                <a:solidFill>
                  <a:srgbClr val="006FC0"/>
                </a:solidFill>
                <a:latin typeface="Calibri"/>
                <a:cs typeface="Calibri"/>
              </a:rPr>
              <a:t> </a:t>
            </a:r>
            <a:r>
              <a:rPr sz="1800" dirty="0">
                <a:solidFill>
                  <a:srgbClr val="006FC0"/>
                </a:solidFill>
                <a:latin typeface="Calibri"/>
                <a:cs typeface="Calibri"/>
              </a:rPr>
              <a:t>Write</a:t>
            </a:r>
            <a:r>
              <a:rPr sz="1800" spc="10" dirty="0">
                <a:solidFill>
                  <a:srgbClr val="006FC0"/>
                </a:solidFill>
                <a:latin typeface="Calibri"/>
                <a:cs typeface="Calibri"/>
              </a:rPr>
              <a:t> </a:t>
            </a:r>
            <a:r>
              <a:rPr sz="1800" dirty="0">
                <a:solidFill>
                  <a:srgbClr val="006FC0"/>
                </a:solidFill>
                <a:latin typeface="Calibri"/>
                <a:cs typeface="Calibri"/>
              </a:rPr>
              <a:t>in</a:t>
            </a:r>
            <a:r>
              <a:rPr sz="1800" spc="-40" dirty="0">
                <a:solidFill>
                  <a:srgbClr val="006FC0"/>
                </a:solidFill>
                <a:latin typeface="Calibri"/>
                <a:cs typeface="Calibri"/>
              </a:rPr>
              <a:t> </a:t>
            </a:r>
            <a:r>
              <a:rPr sz="1800" dirty="0">
                <a:solidFill>
                  <a:srgbClr val="006FC0"/>
                </a:solidFill>
                <a:latin typeface="Calibri"/>
                <a:cs typeface="Calibri"/>
              </a:rPr>
              <a:t>the</a:t>
            </a:r>
            <a:r>
              <a:rPr sz="1800" spc="-55" dirty="0">
                <a:solidFill>
                  <a:srgbClr val="006FC0"/>
                </a:solidFill>
                <a:latin typeface="Calibri"/>
                <a:cs typeface="Calibri"/>
              </a:rPr>
              <a:t> </a:t>
            </a:r>
            <a:r>
              <a:rPr sz="1800" dirty="0">
                <a:solidFill>
                  <a:srgbClr val="006FC0"/>
                </a:solidFill>
                <a:latin typeface="Calibri"/>
                <a:cs typeface="Calibri"/>
              </a:rPr>
              <a:t>below</a:t>
            </a:r>
            <a:r>
              <a:rPr sz="1800" spc="-5" dirty="0">
                <a:solidFill>
                  <a:srgbClr val="006FC0"/>
                </a:solidFill>
                <a:latin typeface="Calibri"/>
                <a:cs typeface="Calibri"/>
              </a:rPr>
              <a:t> </a:t>
            </a:r>
            <a:r>
              <a:rPr sz="1800" dirty="0">
                <a:solidFill>
                  <a:srgbClr val="006FC0"/>
                </a:solidFill>
                <a:latin typeface="Calibri"/>
                <a:cs typeface="Calibri"/>
              </a:rPr>
              <a:t>table</a:t>
            </a:r>
            <a:r>
              <a:rPr sz="1800" spc="10" dirty="0">
                <a:solidFill>
                  <a:srgbClr val="006FC0"/>
                </a:solidFill>
                <a:latin typeface="Calibri"/>
                <a:cs typeface="Calibri"/>
              </a:rPr>
              <a:t> </a:t>
            </a:r>
            <a:r>
              <a:rPr sz="1800" dirty="0">
                <a:solidFill>
                  <a:srgbClr val="006FC0"/>
                </a:solidFill>
                <a:latin typeface="Calibri"/>
                <a:cs typeface="Calibri"/>
              </a:rPr>
              <a:t>what</a:t>
            </a:r>
            <a:r>
              <a:rPr sz="1800" spc="-65" dirty="0">
                <a:solidFill>
                  <a:srgbClr val="006FC0"/>
                </a:solidFill>
                <a:latin typeface="Calibri"/>
                <a:cs typeface="Calibri"/>
              </a:rPr>
              <a:t> </a:t>
            </a:r>
            <a:r>
              <a:rPr sz="1800" dirty="0">
                <a:solidFill>
                  <a:srgbClr val="006FC0"/>
                </a:solidFill>
                <a:latin typeface="Calibri"/>
                <a:cs typeface="Calibri"/>
              </a:rPr>
              <a:t>u</a:t>
            </a:r>
            <a:r>
              <a:rPr sz="1800" spc="30" dirty="0">
                <a:solidFill>
                  <a:srgbClr val="006FC0"/>
                </a:solidFill>
                <a:latin typeface="Calibri"/>
                <a:cs typeface="Calibri"/>
              </a:rPr>
              <a:t> </a:t>
            </a:r>
            <a:r>
              <a:rPr sz="1800" dirty="0">
                <a:solidFill>
                  <a:srgbClr val="006FC0"/>
                </a:solidFill>
                <a:latin typeface="Calibri"/>
                <a:cs typeface="Calibri"/>
              </a:rPr>
              <a:t>will</a:t>
            </a:r>
            <a:r>
              <a:rPr sz="1800" spc="-25" dirty="0">
                <a:solidFill>
                  <a:srgbClr val="006FC0"/>
                </a:solidFill>
                <a:latin typeface="Calibri"/>
                <a:cs typeface="Calibri"/>
              </a:rPr>
              <a:t> </a:t>
            </a:r>
            <a:r>
              <a:rPr sz="1800" dirty="0">
                <a:solidFill>
                  <a:srgbClr val="006FC0"/>
                </a:solidFill>
                <a:latin typeface="Calibri"/>
                <a:cs typeface="Calibri"/>
              </a:rPr>
              <a:t>be</a:t>
            </a:r>
            <a:r>
              <a:rPr sz="1800" spc="10" dirty="0">
                <a:solidFill>
                  <a:srgbClr val="006FC0"/>
                </a:solidFill>
                <a:latin typeface="Calibri"/>
                <a:cs typeface="Calibri"/>
              </a:rPr>
              <a:t> </a:t>
            </a:r>
            <a:r>
              <a:rPr sz="1800" spc="-10" dirty="0">
                <a:solidFill>
                  <a:srgbClr val="006FC0"/>
                </a:solidFill>
                <a:latin typeface="Calibri"/>
                <a:cs typeface="Calibri"/>
              </a:rPr>
              <a:t>achieving</a:t>
            </a:r>
            <a:r>
              <a:rPr sz="1800" spc="-80" dirty="0">
                <a:solidFill>
                  <a:srgbClr val="006FC0"/>
                </a:solidFill>
                <a:latin typeface="Calibri"/>
                <a:cs typeface="Calibri"/>
              </a:rPr>
              <a:t> </a:t>
            </a:r>
            <a:r>
              <a:rPr sz="1800" dirty="0">
                <a:solidFill>
                  <a:srgbClr val="006FC0"/>
                </a:solidFill>
                <a:latin typeface="Calibri"/>
                <a:cs typeface="Calibri"/>
              </a:rPr>
              <a:t>in</a:t>
            </a:r>
            <a:r>
              <a:rPr sz="1800" spc="-40" dirty="0">
                <a:solidFill>
                  <a:srgbClr val="006FC0"/>
                </a:solidFill>
                <a:latin typeface="Calibri"/>
                <a:cs typeface="Calibri"/>
              </a:rPr>
              <a:t> </a:t>
            </a:r>
            <a:r>
              <a:rPr sz="1800" dirty="0">
                <a:solidFill>
                  <a:srgbClr val="006FC0"/>
                </a:solidFill>
                <a:latin typeface="Calibri"/>
                <a:cs typeface="Calibri"/>
              </a:rPr>
              <a:t>each</a:t>
            </a:r>
            <a:r>
              <a:rPr sz="1800" spc="-35" dirty="0">
                <a:solidFill>
                  <a:srgbClr val="006FC0"/>
                </a:solidFill>
                <a:latin typeface="Calibri"/>
                <a:cs typeface="Calibri"/>
              </a:rPr>
              <a:t> </a:t>
            </a:r>
            <a:r>
              <a:rPr sz="1800" spc="-10" dirty="0">
                <a:solidFill>
                  <a:srgbClr val="006FC0"/>
                </a:solidFill>
                <a:latin typeface="Calibri"/>
                <a:cs typeface="Calibri"/>
              </a:rPr>
              <a:t>review</a:t>
            </a:r>
            <a:endParaRPr sz="1800">
              <a:latin typeface="Calibri"/>
              <a:cs typeface="Calibri"/>
            </a:endParaRPr>
          </a:p>
        </p:txBody>
      </p:sp>
      <p:sp>
        <p:nvSpPr>
          <p:cNvPr id="40" name="Rectangle 39"/>
          <p:cNvSpPr/>
          <p:nvPr/>
        </p:nvSpPr>
        <p:spPr>
          <a:xfrm>
            <a:off x="6781800" y="2057400"/>
            <a:ext cx="1219200" cy="1754326"/>
          </a:xfrm>
          <a:prstGeom prst="rect">
            <a:avLst/>
          </a:prstGeom>
        </p:spPr>
        <p:txBody>
          <a:bodyPr wrap="square">
            <a:spAutoFit/>
          </a:bodyPr>
          <a:lstStyle/>
          <a:p>
            <a:pPr lvl="0" algn="r"/>
            <a:r>
              <a:rPr lang="en-US" dirty="0" smtClean="0">
                <a:latin typeface="Times New Roman" panose="02020603050405020304" pitchFamily="18" charset="0"/>
                <a:cs typeface="Times New Roman" panose="02020603050405020304" pitchFamily="18" charset="0"/>
              </a:rPr>
              <a:t>Progress on the working domain and technology</a:t>
            </a:r>
            <a:endParaRPr lang="en-US" dirty="0">
              <a:latin typeface="Times New Roman" panose="02020603050405020304" pitchFamily="18" charset="0"/>
              <a:cs typeface="Times New Roman" panose="02020603050405020304" pitchFamily="18" charset="0"/>
            </a:endParaRPr>
          </a:p>
        </p:txBody>
      </p:sp>
      <p:sp>
        <p:nvSpPr>
          <p:cNvPr id="41" name="Rectangle 40"/>
          <p:cNvSpPr/>
          <p:nvPr/>
        </p:nvSpPr>
        <p:spPr>
          <a:xfrm>
            <a:off x="7924800" y="2057400"/>
            <a:ext cx="1371600" cy="1477328"/>
          </a:xfrm>
          <a:prstGeom prst="rect">
            <a:avLst/>
          </a:prstGeom>
        </p:spPr>
        <p:txBody>
          <a:bodyPr wrap="square">
            <a:spAutoFit/>
          </a:bodyPr>
          <a:lstStyle/>
          <a:p>
            <a:pPr lvl="0" algn="r"/>
            <a:r>
              <a:rPr lang="en-US" dirty="0" smtClean="0">
                <a:latin typeface="Times New Roman" pitchFamily="18" charset="0"/>
                <a:cs typeface="Times New Roman" pitchFamily="18" charset="0"/>
              </a:rPr>
              <a:t>Submission of report </a:t>
            </a:r>
          </a:p>
          <a:p>
            <a:pPr lvl="0" algn="r"/>
            <a:r>
              <a:rPr lang="en-US" dirty="0" smtClean="0">
                <a:latin typeface="Times New Roman" pitchFamily="18" charset="0"/>
                <a:cs typeface="Times New Roman" pitchFamily="18" charset="0"/>
              </a:rPr>
              <a:t>and final presentation</a:t>
            </a:r>
            <a:endParaRPr lang="en-US" dirty="0" smtClean="0"/>
          </a:p>
          <a:p>
            <a:pPr lvl="0" algn="r"/>
            <a:endParaRPr lang="en-US"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7575" y="364743"/>
            <a:ext cx="2207895" cy="518159"/>
          </a:xfrm>
          <a:prstGeom prst="rect">
            <a:avLst/>
          </a:prstGeom>
        </p:spPr>
        <p:txBody>
          <a:bodyPr vert="horz" wrap="square" lIns="0" tIns="16510" rIns="0" bIns="0" rtlCol="0">
            <a:spAutoFit/>
          </a:bodyPr>
          <a:lstStyle/>
          <a:p>
            <a:pPr marL="12700">
              <a:lnSpc>
                <a:spcPct val="100000"/>
              </a:lnSpc>
              <a:spcBef>
                <a:spcPts val="130"/>
              </a:spcBef>
            </a:pPr>
            <a:r>
              <a:rPr sz="3200" b="1" dirty="0">
                <a:solidFill>
                  <a:srgbClr val="006FC0"/>
                </a:solidFill>
                <a:latin typeface="Times New Roman"/>
                <a:cs typeface="Times New Roman"/>
              </a:rPr>
              <a:t>Github</a:t>
            </a:r>
            <a:r>
              <a:rPr sz="3200" b="1" spc="-5" dirty="0">
                <a:solidFill>
                  <a:srgbClr val="006FC0"/>
                </a:solidFill>
                <a:latin typeface="Times New Roman"/>
                <a:cs typeface="Times New Roman"/>
              </a:rPr>
              <a:t> </a:t>
            </a:r>
            <a:r>
              <a:rPr sz="3200" b="1" spc="-20" dirty="0">
                <a:solidFill>
                  <a:srgbClr val="006FC0"/>
                </a:solidFill>
                <a:latin typeface="Times New Roman"/>
                <a:cs typeface="Times New Roman"/>
              </a:rPr>
              <a:t>Link</a:t>
            </a:r>
            <a:endParaRPr sz="32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19</a:t>
            </a:fld>
            <a:endParaRPr spc="-25" dirty="0"/>
          </a:p>
        </p:txBody>
      </p:sp>
      <p:sp>
        <p:nvSpPr>
          <p:cNvPr id="3" name="object 3"/>
          <p:cNvSpPr txBox="1"/>
          <p:nvPr/>
        </p:nvSpPr>
        <p:spPr>
          <a:xfrm>
            <a:off x="525462" y="1019555"/>
            <a:ext cx="11209338" cy="565539"/>
          </a:xfrm>
          <a:prstGeom prst="rect">
            <a:avLst/>
          </a:prstGeom>
        </p:spPr>
        <p:txBody>
          <a:bodyPr vert="horz" wrap="square" lIns="0" tIns="72390" rIns="0" bIns="0" rtlCol="0">
            <a:spAutoFit/>
          </a:bodyPr>
          <a:lstStyle/>
          <a:p>
            <a:r>
              <a:rPr lang="en-US" sz="3200" dirty="0" smtClean="0">
                <a:latin typeface="Times New Roman" pitchFamily="18" charset="0"/>
                <a:cs typeface="Times New Roman" pitchFamily="18" charset="0"/>
                <a:hlinkClick r:id="rId2"/>
              </a:rPr>
              <a:t>https://github.com/shamithavij/Talentrecruit_Intership_2026</a:t>
            </a:r>
            <a:endParaRPr lang="en-US" sz="3200" dirty="0" smtClean="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1F3863"/>
          </a:solidFill>
        </p:spPr>
        <p:txBody>
          <a:bodyPr wrap="square" lIns="0" tIns="0" rIns="0" bIns="0" rtlCol="0"/>
          <a:lstStyle/>
          <a:p>
            <a:endParaRPr/>
          </a:p>
        </p:txBody>
      </p:sp>
      <p:sp>
        <p:nvSpPr>
          <p:cNvPr id="3" name="object 3"/>
          <p:cNvSpPr txBox="1"/>
          <p:nvPr/>
        </p:nvSpPr>
        <p:spPr>
          <a:xfrm>
            <a:off x="5366130" y="939482"/>
            <a:ext cx="1888489" cy="1032510"/>
          </a:xfrm>
          <a:prstGeom prst="rect">
            <a:avLst/>
          </a:prstGeom>
        </p:spPr>
        <p:txBody>
          <a:bodyPr vert="horz" wrap="square" lIns="0" tIns="13335" rIns="0" bIns="0" rtlCol="0">
            <a:spAutoFit/>
          </a:bodyPr>
          <a:lstStyle/>
          <a:p>
            <a:pPr marL="12700">
              <a:lnSpc>
                <a:spcPct val="100000"/>
              </a:lnSpc>
              <a:spcBef>
                <a:spcPts val="105"/>
              </a:spcBef>
            </a:pPr>
            <a:r>
              <a:rPr sz="6600" spc="-25" dirty="0">
                <a:solidFill>
                  <a:srgbClr val="F8CAAC"/>
                </a:solidFill>
                <a:latin typeface="Times New Roman"/>
                <a:cs typeface="Times New Roman"/>
              </a:rPr>
              <a:t>Q&amp;A</a:t>
            </a:r>
            <a:endParaRPr sz="6600">
              <a:latin typeface="Times New Roman"/>
              <a:cs typeface="Times New Roman"/>
            </a:endParaRPr>
          </a:p>
        </p:txBody>
      </p:sp>
      <p:pic>
        <p:nvPicPr>
          <p:cNvPr id="4" name="object 4"/>
          <p:cNvPicPr/>
          <p:nvPr/>
        </p:nvPicPr>
        <p:blipFill>
          <a:blip r:embed="rId2" cstate="print"/>
          <a:stretch>
            <a:fillRect/>
          </a:stretch>
        </p:blipFill>
        <p:spPr>
          <a:xfrm>
            <a:off x="5024432" y="2186820"/>
            <a:ext cx="2788869" cy="376058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98010" y="2450083"/>
            <a:ext cx="4403090" cy="1033144"/>
          </a:xfrm>
          <a:prstGeom prst="rect">
            <a:avLst/>
          </a:prstGeom>
        </p:spPr>
        <p:txBody>
          <a:bodyPr vert="horz" wrap="square" lIns="0" tIns="13970" rIns="0" bIns="0" rtlCol="0">
            <a:spAutoFit/>
          </a:bodyPr>
          <a:lstStyle/>
          <a:p>
            <a:pPr marL="12700">
              <a:lnSpc>
                <a:spcPct val="100000"/>
              </a:lnSpc>
              <a:spcBef>
                <a:spcPts val="110"/>
              </a:spcBef>
            </a:pPr>
            <a:r>
              <a:rPr sz="6600" dirty="0">
                <a:solidFill>
                  <a:srgbClr val="A71180"/>
                </a:solidFill>
                <a:latin typeface="Times New Roman"/>
                <a:cs typeface="Times New Roman"/>
              </a:rPr>
              <a:t>Thank you </a:t>
            </a:r>
            <a:r>
              <a:rPr sz="6600" spc="-25" dirty="0">
                <a:solidFill>
                  <a:srgbClr val="A71180"/>
                </a:solidFill>
                <a:latin typeface="Times New Roman"/>
                <a:cs typeface="Times New Roman"/>
              </a:rPr>
              <a:t>!!</a:t>
            </a:r>
            <a:endParaRPr sz="6600">
              <a:latin typeface="Times New Roman"/>
              <a:cs typeface="Times New Roman"/>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pPr marL="38100">
                <a:lnSpc>
                  <a:spcPts val="1240"/>
                </a:lnSpc>
              </a:pPr>
              <a:t>21</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268</TotalTime>
  <Words>1228</Words>
  <Application>Microsoft Office PowerPoint</Application>
  <PresentationFormat>Custom</PresentationFormat>
  <Paragraphs>184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CSE7302 - INTERNSHIP Review-III Presentation CLIENT SUCCESS INTERN</vt:lpstr>
      <vt:lpstr>Content</vt:lpstr>
      <vt:lpstr>About Company or Organization</vt:lpstr>
      <vt:lpstr>Our Clients</vt:lpstr>
      <vt:lpstr>Working domain or the technology</vt:lpstr>
      <vt:lpstr>About your team and reporting Manager</vt:lpstr>
      <vt:lpstr>Challenges Faced in Internship</vt:lpstr>
      <vt:lpstr>Objectives of the work</vt:lpstr>
      <vt:lpstr>Proposed System/Work</vt:lpstr>
      <vt:lpstr>Problem Statement</vt:lpstr>
      <vt:lpstr>System Requirements</vt:lpstr>
      <vt:lpstr>Slide 12</vt:lpstr>
      <vt:lpstr>Advantages of proposed System/Work</vt:lpstr>
      <vt:lpstr>System Design</vt:lpstr>
      <vt:lpstr>Slide 15</vt:lpstr>
      <vt:lpstr>System Implementation</vt:lpstr>
      <vt:lpstr>Slide 17</vt:lpstr>
      <vt:lpstr>Internship Road Map Note: Write in the below table what u will be achieving in each review</vt:lpstr>
      <vt:lpstr>Github Link</vt:lpstr>
      <vt:lpstr>Slide 20</vt:lpstr>
      <vt:lpstr>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CSE7302 - INTERNSHIP Review-III Presentation CLIENT SUCCESS INTERN</dc:title>
  <dc:creator>Shamitha Vijaykumar</dc:creator>
  <cp:lastModifiedBy>Samitha vijaykumar</cp:lastModifiedBy>
  <cp:revision>22</cp:revision>
  <dcterms:created xsi:type="dcterms:W3CDTF">2026-03-09T04:41:01Z</dcterms:created>
  <dcterms:modified xsi:type="dcterms:W3CDTF">2026-03-13T02:59:06Z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2026-02-27T00:00:00Z</vt:filetime>
  </property>
  <property fmtid="{D5CDD505-2E9C-101B-9397-08002B2CF9AE}" pid="3" name="LastSaved">
    <vt:filetime>2026-03-09T00:00:00Z</vt:filetime>
  </property>
</Properties>
</file>