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9" r:id="rId5"/>
    <p:sldId id="270" r:id="rId6"/>
    <p:sldId id="261" r:id="rId7"/>
    <p:sldId id="276" r:id="rId8"/>
    <p:sldId id="277" r:id="rId9"/>
    <p:sldId id="263" r:id="rId10"/>
    <p:sldId id="264" r:id="rId11"/>
    <p:sldId id="265" r:id="rId12"/>
    <p:sldId id="272" r:id="rId13"/>
    <p:sldId id="273" r:id="rId14"/>
    <p:sldId id="274" r:id="rId15"/>
    <p:sldId id="27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574" autoAdjust="0"/>
    <p:restoredTop sz="94641" autoAdjust="0"/>
  </p:normalViewPr>
  <p:slideViewPr>
    <p:cSldViewPr snapToGrid="0">
      <p:cViewPr varScale="1">
        <p:scale>
          <a:sx n="95" d="100"/>
          <a:sy n="95" d="100"/>
        </p:scale>
        <p:origin x="-317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r>
            <a:rPr lang="en-IN" sz="1600" dirty="0">
              <a:latin typeface="Times New Roman" pitchFamily="18" charset="0"/>
              <a:cs typeface="Times New Roman" pitchFamily="18" charset="0"/>
            </a:rPr>
            <a:t>Understanding AI modules and system integration</a:t>
          </a:r>
          <a:endParaRPr lang="en-US" sz="1600" dirty="0">
            <a:latin typeface="Times New Roman" pitchFamily="18" charset="0"/>
            <a:cs typeface="Times New Roman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Progress on the working domain and technology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134A8C4A-5522-4913-880C-48ABC3043C65}">
      <dgm:prSet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Progress on the working domain and technology</a:t>
          </a:r>
          <a:endParaRPr lang="en-US" dirty="0"/>
        </a:p>
      </dgm:t>
    </dgm:pt>
    <dgm:pt modelId="{95B8AF91-8D14-437C-8173-8EC5265B38CA}" type="parTrans" cxnId="{667E6F75-7A90-45DA-9220-062FEDA90ED8}">
      <dgm:prSet/>
      <dgm:spPr/>
      <dgm:t>
        <a:bodyPr/>
        <a:lstStyle/>
        <a:p>
          <a:endParaRPr lang="en-US"/>
        </a:p>
      </dgm:t>
    </dgm:pt>
    <dgm:pt modelId="{75CF0743-B8C2-4478-BEB8-0A5A6D5737C8}" type="sibTrans" cxnId="{667E6F75-7A90-45DA-9220-062FEDA90ED8}">
      <dgm:prSet/>
      <dgm:spPr/>
      <dgm:t>
        <a:bodyPr/>
        <a:lstStyle/>
        <a:p>
          <a:endParaRPr lang="en-US"/>
        </a:p>
      </dgm:t>
    </dgm:pt>
    <dgm:pt modelId="{481201AE-B779-42CE-8145-6DAF065A3C7F}">
      <dgm:prSet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Submission of report and final presentation</a:t>
          </a:r>
          <a:endParaRPr lang="en-US" dirty="0"/>
        </a:p>
      </dgm:t>
    </dgm:pt>
    <dgm:pt modelId="{1C928517-B576-4706-83F6-306C21FF7038}" type="parTrans" cxnId="{B2CC00AC-3F3F-43B3-A7C7-C7A3FE14163F}">
      <dgm:prSet/>
      <dgm:spPr/>
      <dgm:t>
        <a:bodyPr/>
        <a:lstStyle/>
        <a:p>
          <a:endParaRPr lang="en-US"/>
        </a:p>
      </dgm:t>
    </dgm:pt>
    <dgm:pt modelId="{770827BF-8C55-458F-95BF-ACC93499445E}" type="sibTrans" cxnId="{B2CC00AC-3F3F-43B3-A7C7-C7A3FE14163F}">
      <dgm:prSet/>
      <dgm:spPr/>
      <dgm:t>
        <a:bodyPr/>
        <a:lstStyle/>
        <a:p>
          <a:endParaRPr lang="en-US"/>
        </a:p>
      </dgm:t>
    </dgm:pt>
    <dgm:pt modelId="{FC0C241C-645B-4EA6-A9DE-7433B5D06679}">
      <dgm:prSet/>
      <dgm:spPr/>
      <dgm:t>
        <a:bodyPr/>
        <a:lstStyle/>
        <a:p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9D422EE0-2BBA-43C1-AF2B-BC76F28F4ADC}" type="parTrans" cxnId="{71FEE2CD-F890-4DBC-A9B6-7CC73C3A9814}">
      <dgm:prSet/>
      <dgm:spPr/>
      <dgm:t>
        <a:bodyPr/>
        <a:lstStyle/>
        <a:p>
          <a:endParaRPr lang="en-US"/>
        </a:p>
      </dgm:t>
    </dgm:pt>
    <dgm:pt modelId="{88B2BB8C-7496-4178-8668-A6AD8DC095F7}" type="sibTrans" cxnId="{71FEE2CD-F890-4DBC-A9B6-7CC73C3A9814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  <dgm:t>
        <a:bodyPr/>
        <a:lstStyle/>
        <a:p>
          <a:endParaRPr lang="en-US"/>
        </a:p>
      </dgm:t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BF3D0F1-3934-46BA-88F8-D242436A6BEF}" type="presOf" srcId="{481201AE-B779-42CE-8145-6DAF065A3C7F}" destId="{8CAE5A4D-0C7B-48A6-917B-0B8433D0574B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54EBE0B9-9E03-4393-9152-0CF2AF5E730C}" type="presOf" srcId="{FC0C241C-645B-4EA6-A9DE-7433B5D06679}" destId="{928B615F-0F8D-4140-A638-0FBB8F5BF1E9}" srcOrd="1" destOrd="1" presId="urn:microsoft.com/office/officeart/2011/layout/InterconnectedBlockProcess"/>
    <dgm:cxn modelId="{F24B97AC-76C6-4A61-AC42-3D566A7FC078}" type="presOf" srcId="{134A8C4A-5522-4913-880C-48ABC3043C65}" destId="{FC0F1314-3294-4A8C-8DCE-EB53E236164C}" srcOrd="0" destOrd="0" presId="urn:microsoft.com/office/officeart/2011/layout/InterconnectedBlockProcess"/>
    <dgm:cxn modelId="{71FEE2CD-F890-4DBC-A9B6-7CC73C3A9814}" srcId="{65C051F6-A849-4495-A964-CD4C650B9C06}" destId="{FC0C241C-645B-4EA6-A9DE-7433B5D06679}" srcOrd="1" destOrd="0" parTransId="{9D422EE0-2BBA-43C1-AF2B-BC76F28F4ADC}" sibTransId="{88B2BB8C-7496-4178-8668-A6AD8DC095F7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667E6F75-7A90-45DA-9220-062FEDA90ED8}" srcId="{5E92505A-51E0-4F78-B3C5-704ACF8710DE}" destId="{134A8C4A-5522-4913-880C-48ABC3043C65}" srcOrd="0" destOrd="0" parTransId="{95B8AF91-8D14-437C-8173-8EC5265B38CA}" sibTransId="{75CF0743-B8C2-4478-BEB8-0A5A6D5737C8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B2CC00AC-3F3F-43B3-A7C7-C7A3FE14163F}" srcId="{65C051F6-A849-4495-A964-CD4C650B9C06}" destId="{481201AE-B779-42CE-8145-6DAF065A3C7F}" srcOrd="0" destOrd="0" parTransId="{1C928517-B576-4706-83F6-306C21FF7038}" sibTransId="{770827BF-8C55-458F-95BF-ACC93499445E}"/>
    <dgm:cxn modelId="{34674AC5-5BBA-4FA1-A46B-EC28524CA904}" type="presOf" srcId="{FC0C241C-645B-4EA6-A9DE-7433B5D06679}" destId="{8CAE5A4D-0C7B-48A6-917B-0B8433D0574B}" srcOrd="0" destOrd="1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FE046AE-65FE-43F8-8C2A-1DEA6D767421}" type="presOf" srcId="{134A8C4A-5522-4913-880C-48ABC3043C65}" destId="{98225A61-A0EC-450A-BED8-EF2E47E8FD18}" srcOrd="1" destOrd="0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D344C961-266C-45B6-99D1-6DFB23957891}" type="presOf" srcId="{481201AE-B779-42CE-8145-6DAF065A3C7F}" destId="{928B615F-0F8D-4140-A638-0FBB8F5BF1E9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Understanding AI modules and system integration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09/02/2026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mithavij/Talentrecruit_Intership_2026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4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 smtClean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Taranath</a:t>
            </a: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 L 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Professor,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IN" sz="2000" b="1" dirty="0" smtClean="0">
                <a:solidFill>
                  <a:srgbClr val="0070C0"/>
                </a:solidFill>
              </a:rPr>
              <a:t>Dr. </a:t>
            </a:r>
            <a:r>
              <a:rPr lang="en-IN" sz="2000" b="1" dirty="0" err="1" smtClean="0">
                <a:solidFill>
                  <a:srgbClr val="0070C0"/>
                </a:solidFill>
              </a:rPr>
              <a:t>Asif</a:t>
            </a:r>
            <a:r>
              <a:rPr lang="en-IN" sz="2000" b="1" dirty="0" smtClean="0">
                <a:solidFill>
                  <a:srgbClr val="0070C0"/>
                </a:solidFill>
              </a:rPr>
              <a:t> Mohammed</a:t>
            </a:r>
            <a:endParaRPr lang="en-US" sz="2000" b="1" dirty="0" smtClean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Dr.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endParaRPr lang="en-US" sz="2000" b="1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Md</a:t>
            </a:r>
            <a:r>
              <a:rPr lang="en-US" sz="2000" b="1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Ziaur</a:t>
            </a:r>
            <a:r>
              <a:rPr lang="en-US" sz="2000" b="1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  <a:endParaRPr lang="en-US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CLIENT SUCCESS INTERN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3326897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xmlns="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xmlns="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SHAMITHA</a:t>
                      </a:r>
                      <a:r>
                        <a:rPr lang="en-US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VIJAYAKUMAR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20221CSE0280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8CSE08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911" y="1045030"/>
            <a:ext cx="10515600" cy="4193176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Talent Recruit is an advanced Recruitment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platform designed to simplify, automate, and enhance the entire hiring lifecycle. It leverages cutting-edge technologies such as Machine Learning and Artificial Intelligence to help organizations attract, screen, evaluate, and hire the right talent efficiently and accurately.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One of its key highlights is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ERIKA – the 24×7 Robotic Recruiter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which automates candidate engagement, interview scheduling, follow-ups, and communication, ensuring a seamless and responsive recruitment experience for both recruiters and candidates. ERIKA reduces manual effort, improves turnaround time, and enhances candidate satisfaction through continuous availability and intelligent interaction.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Talent Recruit enables recruiters to manage job postings, track applications, shortlist candidates, conduct assessments, schedule interviews, and complete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processes within a single integrated platform. Its AI-driven analytics and smart recommendations help recruiters make data-driven hiring decisions, minimize bias, and improve overall hiring quality.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A3F0513-9C18-A032-09FC-F87747C2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126834E-B58E-0354-6379-E7D58E68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912C4BF-970B-FEE8-518D-BF1AA67BE887}"/>
              </a:ext>
            </a:extLst>
          </p:cNvPr>
          <p:cNvSpPr txBox="1"/>
          <p:nvPr/>
        </p:nvSpPr>
        <p:spPr>
          <a:xfrm>
            <a:off x="466531" y="354563"/>
            <a:ext cx="6792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0070C0"/>
                </a:solidFill>
              </a:rPr>
              <a:t>Our Clients</a:t>
            </a:r>
            <a:endParaRPr lang="en-IN" sz="4800" dirty="0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xmlns="" id="{D21B53EA-D4C0-1590-335A-1BF9B4DC1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93" y="1253331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7875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8A5106B-15AA-4668-A9F0-B8AA1C52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09-02-2026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6980746-87B3-5E60-D79A-919F8743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6303385-3998-95F0-6A7B-835A861C251C}"/>
              </a:ext>
            </a:extLst>
          </p:cNvPr>
          <p:cNvSpPr txBox="1"/>
          <p:nvPr/>
        </p:nvSpPr>
        <p:spPr>
          <a:xfrm>
            <a:off x="466531" y="307910"/>
            <a:ext cx="10114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A5DC99-4892-EA75-2096-14B7AE48E633}"/>
              </a:ext>
            </a:extLst>
          </p:cNvPr>
          <p:cNvSpPr txBox="1"/>
          <p:nvPr/>
        </p:nvSpPr>
        <p:spPr>
          <a:xfrm>
            <a:off x="466531" y="1073019"/>
            <a:ext cx="867980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Artificial Intelligence (AI) for intelligent recruitment automation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Machine Learning (ML) for resume screening and candidate ranking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Natural Language Processing (NLP) for </a:t>
            </a:r>
            <a:r>
              <a:rPr lang="en-US" alt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 and candidate interaction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Applicant Tracking System (ATS) architecture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 (Software as a Service) cloud-based platform model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Database Management Systems for candidate and job data storage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REST APIs for integration with job portals and communication tools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 Technology (ERIKA – Robotic Recruiter)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Recruitment Analytics and Reporting Dashboards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Workflow Automation Systems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012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Our team consists of 9 members, guided by our Reporting Manager, </a:t>
            </a: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Mr. </a:t>
            </a:r>
            <a:r>
              <a:rPr lang="en-US" altLang="en-US" b="1" dirty="0" err="1" smtClean="0">
                <a:latin typeface="Times New Roman" pitchFamily="18" charset="0"/>
                <a:cs typeface="Times New Roman" pitchFamily="18" charset="0"/>
              </a:rPr>
              <a:t>Ashish</a:t>
            </a: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b="1" dirty="0" err="1" smtClean="0">
                <a:latin typeface="Times New Roman" pitchFamily="18" charset="0"/>
                <a:cs typeface="Times New Roman" pitchFamily="18" charset="0"/>
              </a:rPr>
              <a:t>Meridatta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Currently, we are in the training phase on the company’s </a:t>
            </a: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ATS (Applicant Tracking System)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product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We are learning how each technology supports the recruitment process.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Technology Understanding: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AI &amp; ML: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Helps in resume screening and candidate ranking.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NLP: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Enables </a:t>
            </a: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communication and candidate interaction.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ATS Workflow: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Helps track candidates across hiring stages.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Databases: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Store and manage candidate and job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APIs: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Integrate job portals and communication tools.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Dashboards &amp; Analytics: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Provide recruitment performance insights.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This training helps us understand how technology solves real recruitment challenges.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After training, we will be assigned to live projects for practical client exposure.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During the initial days of my internship at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Software Private Limited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adapting to a new work environment and getting comfortable with new teammates was slightly challenging. Understanding the various concepts, workflows, and features of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product also took some time, as it is a comprehensive recruitment platform.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Another initial challenge was managing daily travel through heavy traffic, which was tiring in the beginning. However, with time, support from the team, and regular exposure, I have adjusted well to both the work culture and the product.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Overall,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a good organization with a strong and growing product. I am now comfortable with the environment and looking forward to learning more and gaining valuable experience in the coming days.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To understand ATS system architecture and recruitment workflows.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To support AI-based resume parsing and candidate </a:t>
            </a:r>
            <a:r>
              <a:rPr lang="en-US" altLang="en-US" sz="2000" dirty="0" err="1" smtClean="0">
                <a:latin typeface="Times New Roman" pitchFamily="18" charset="0"/>
                <a:cs typeface="Times New Roman" pitchFamily="18" charset="0"/>
              </a:rPr>
              <a:t>shortlisting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 processes.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To assist in database validation and candidate data management.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To ensure accurate workflow automation across hiring stages.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To support API-based integrations with job portals and communication tools.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To analyze recruitment dashboards and system reports.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To help in identifying and resolving basic system-level issues.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To improve overall system efficiency and data consistency.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AI-powered Applicant Tracking System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Automated resume screening and candidate ranking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Chatbot-based candidate engagement (ERIKA)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Centralized recruitment workflow management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sync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of Talent Recruit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Web-based ATS platform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Cloud infrastructure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Database for candidate and job data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API integrations with job portals and communication tools</a:t>
            </a:r>
          </a:p>
          <a:p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Reduces manual effort in recruitment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Improves hiring accuracy and speed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Enhances candidate experience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Supports data-driven hiring decisions</a:t>
            </a:r>
          </a:p>
          <a:p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544046035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xmlns="" val="349710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https://github.com/shamithavij/Talentrecruit_Intership_2026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562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975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df51cb-0e6e-4a76-ada5-86f38b004840" xsi:nil="true"/>
    <lcf76f155ced4ddcb4097134ff3c332f xmlns="7313f609-82c0-4c11-91b9-f1599af905d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F7FDB646AF7E4A9AF564A66AA93CEA" ma:contentTypeVersion="11" ma:contentTypeDescription="Create a new document." ma:contentTypeScope="" ma:versionID="7d990ce308215aedc121eef5082344a9">
  <xsd:schema xmlns:xsd="http://www.w3.org/2001/XMLSchema" xmlns:xs="http://www.w3.org/2001/XMLSchema" xmlns:p="http://schemas.microsoft.com/office/2006/metadata/properties" xmlns:ns2="7313f609-82c0-4c11-91b9-f1599af905dc" xmlns:ns3="84df51cb-0e6e-4a76-ada5-86f38b004840" targetNamespace="http://schemas.microsoft.com/office/2006/metadata/properties" ma:root="true" ma:fieldsID="2d5e0f600591247dd511b960ca44dc08" ns2:_="" ns3:_="">
    <xsd:import namespace="7313f609-82c0-4c11-91b9-f1599af905dc"/>
    <xsd:import namespace="84df51cb-0e6e-4a76-ada5-86f38b00484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3f609-82c0-4c11-91b9-f1599af905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df51cb-0e6e-4a76-ada5-86f38b00484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b7ebfaa-f4df-4b9f-8209-5d53b352e21f}" ma:internalName="TaxCatchAll" ma:showField="CatchAllData" ma:web="84df51cb-0e6e-4a76-ada5-86f38b0048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91C1CE-0D21-489F-9986-BFEB1CC48F19}">
  <ds:schemaRefs>
    <ds:schemaRef ds:uri="http://schemas.microsoft.com/office/2006/metadata/properties"/>
    <ds:schemaRef ds:uri="http://schemas.microsoft.com/office/infopath/2007/PartnerControls"/>
    <ds:schemaRef ds:uri="84df51cb-0e6e-4a76-ada5-86f38b004840"/>
    <ds:schemaRef ds:uri="7313f609-82c0-4c11-91b9-f1599af905dc"/>
  </ds:schemaRefs>
</ds:datastoreItem>
</file>

<file path=customXml/itemProps2.xml><?xml version="1.0" encoding="utf-8"?>
<ds:datastoreItem xmlns:ds="http://schemas.openxmlformats.org/officeDocument/2006/customXml" ds:itemID="{F0A14481-4B1F-4638-B6DD-DBE2D7CE9B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13f609-82c0-4c11-91b9-f1599af905dc"/>
    <ds:schemaRef ds:uri="84df51cb-0e6e-4a76-ada5-86f38b0048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0D1C32-24DF-4FFC-916E-9FFA3FC092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7458</TotalTime>
  <Words>893</Words>
  <Application>Microsoft Office PowerPoint</Application>
  <PresentationFormat>Custom</PresentationFormat>
  <Paragraphs>125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Content</vt:lpstr>
      <vt:lpstr>About Company or Organization</vt:lpstr>
      <vt:lpstr>Slide 4</vt:lpstr>
      <vt:lpstr>Slide 5</vt:lpstr>
      <vt:lpstr>About your team and reporting Manager</vt:lpstr>
      <vt:lpstr>Challenges Faced in Internship</vt:lpstr>
      <vt:lpstr>Objectives of the work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Samitha vijaykumar</cp:lastModifiedBy>
  <cp:revision>722</cp:revision>
  <dcterms:created xsi:type="dcterms:W3CDTF">2022-10-14T07:18:17Z</dcterms:created>
  <dcterms:modified xsi:type="dcterms:W3CDTF">2026-02-09T04:14:08Z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0x010100A5F7FDB646AF7E4A9AF564A66AA93CEA</vt:lpwstr>
  </property>
</Properties>
</file>